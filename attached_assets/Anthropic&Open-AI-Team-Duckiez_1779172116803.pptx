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5143500" cy="9144000"/>
  <p:embeddedFontLst>
    <p:embeddedFont>
      <p:font typeface="Cormorant Garamond"/>
      <p:regular r:id="rId17"/>
      <p:bold r:id="rId18"/>
      <p:italic r:id="rId19"/>
      <p:boldItalic r:id="rId20"/>
    </p:embeddedFont>
    <p:embeddedFont>
      <p:font typeface="Inter"/>
      <p:regular r:id="rId21"/>
      <p:bold r:id="rId22"/>
      <p:italic r:id="rId23"/>
      <p:boldItalic r:id="rId24"/>
    </p:embeddedFont>
    <p:embeddedFont>
      <p:font typeface="Lexend"/>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h6rGcnB0nrMVU9tD25Rs099+GT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CormorantGaramond-boldItalic.fntdata"/><Relationship Id="rId22" Type="http://schemas.openxmlformats.org/officeDocument/2006/relationships/font" Target="fonts/Inter-bold.fntdata"/><Relationship Id="rId21" Type="http://schemas.openxmlformats.org/officeDocument/2006/relationships/font" Target="fonts/Inter-regular.fntdata"/><Relationship Id="rId24" Type="http://schemas.openxmlformats.org/officeDocument/2006/relationships/font" Target="fonts/Inter-boldItalic.fntdata"/><Relationship Id="rId23" Type="http://schemas.openxmlformats.org/officeDocument/2006/relationships/font" Target="fonts/Inter-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Lexend-bold.fntdata"/><Relationship Id="rId25" Type="http://schemas.openxmlformats.org/officeDocument/2006/relationships/font" Target="fonts/Lexend-regular.fntdata"/><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CormorantGaramond-regular.fntdata"/><Relationship Id="rId16" Type="http://schemas.openxmlformats.org/officeDocument/2006/relationships/slide" Target="slides/slide12.xml"/><Relationship Id="rId19" Type="http://schemas.openxmlformats.org/officeDocument/2006/relationships/font" Target="fonts/CormorantGaramond-italic.fntdata"/><Relationship Id="rId18" Type="http://schemas.openxmlformats.org/officeDocument/2006/relationships/font" Target="fonts/CormorantGaramon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 name="Google Shape;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 name="Google Shape;6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3af76b078f194a6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g23af76b078f194a6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g23af76b078f194a6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e96ce10bb0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e96ce10bb0_1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g3e96ce10bb0_1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drive.google.com/file/d/1EHEUZf5eUwlrxhkWxVrEwf-yTBsGv7cz/view" TargetMode="External"/><Relationship Id="rId4" Type="http://schemas.openxmlformats.org/officeDocument/2006/relationships/image" Target="../media/image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23.png"/><Relationship Id="rId5"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3.png"/><Relationship Id="rId5"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5.jpg"/><Relationship Id="rId5" Type="http://schemas.openxmlformats.org/officeDocument/2006/relationships/image" Target="../media/image14.png"/><Relationship Id="rId6"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sp>
        <p:nvSpPr>
          <p:cNvPr id="16" name="Google Shape;16;p1"/>
          <p:cNvSpPr/>
          <p:nvPr/>
        </p:nvSpPr>
        <p:spPr>
          <a:xfrm>
            <a:off x="0" y="0"/>
            <a:ext cx="9144000" cy="5143500"/>
          </a:xfrm>
          <a:prstGeom prst="rect">
            <a:avLst/>
          </a:prstGeom>
          <a:solidFill>
            <a:srgbClr val="FAF8F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456307" y="1256593"/>
            <a:ext cx="3348037"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5C5752"/>
              </a:buClr>
              <a:buSzPts val="650"/>
              <a:buFont typeface="Inter"/>
              <a:buNone/>
            </a:pPr>
            <a:r>
              <a:rPr b="0" i="0" lang="en-US" sz="650" u="none" cap="none" strike="noStrike">
                <a:solidFill>
                  <a:srgbClr val="5C5752"/>
                </a:solidFill>
                <a:latin typeface="Inter"/>
                <a:ea typeface="Inter"/>
                <a:cs typeface="Inter"/>
                <a:sym typeface="Inter"/>
              </a:rPr>
              <a:t>A BRIEFING — PENTAGON DEALS, 2026</a:t>
            </a:r>
            <a:endParaRPr b="0" i="0" sz="650" u="none" cap="none" strike="noStrike">
              <a:solidFill>
                <a:schemeClr val="dk1"/>
              </a:solidFill>
              <a:latin typeface="Calibri"/>
              <a:ea typeface="Calibri"/>
              <a:cs typeface="Calibri"/>
              <a:sym typeface="Calibri"/>
            </a:endParaRPr>
          </a:p>
        </p:txBody>
      </p:sp>
      <p:sp>
        <p:nvSpPr>
          <p:cNvPr id="18" name="Google Shape;18;p1"/>
          <p:cNvSpPr/>
          <p:nvPr/>
        </p:nvSpPr>
        <p:spPr>
          <a:xfrm>
            <a:off x="456225" y="1482463"/>
            <a:ext cx="3537300" cy="187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1A1A1A"/>
              </a:buClr>
              <a:buSzPts val="3890"/>
              <a:buFont typeface="Cormorant Garamond"/>
              <a:buNone/>
            </a:pPr>
            <a:r>
              <a:rPr b="0" i="1" lang="en-US" sz="4050" u="none" cap="none" strike="noStrike">
                <a:solidFill>
                  <a:srgbClr val="1A1A1A"/>
                </a:solidFill>
                <a:latin typeface="Cormorant Garamond"/>
                <a:ea typeface="Cormorant Garamond"/>
                <a:cs typeface="Cormorant Garamond"/>
                <a:sym typeface="Cormorant Garamond"/>
              </a:rPr>
              <a:t>On quiet</a:t>
            </a:r>
            <a:endParaRPr b="0" i="0" sz="4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1A1A"/>
              </a:buClr>
              <a:buSzPts val="3890"/>
              <a:buFont typeface="Cormorant Garamond"/>
              <a:buNone/>
            </a:pPr>
            <a:r>
              <a:rPr b="0" i="1" lang="en-US" sz="4050" u="none" cap="none" strike="noStrike">
                <a:solidFill>
                  <a:srgbClr val="1A1A1A"/>
                </a:solidFill>
                <a:latin typeface="Cormorant Garamond"/>
                <a:ea typeface="Cormorant Garamond"/>
                <a:cs typeface="Cormorant Garamond"/>
                <a:sym typeface="Cormorant Garamond"/>
              </a:rPr>
              <a:t>ground,</a:t>
            </a:r>
            <a:endParaRPr b="0" i="0" sz="4050" u="none" cap="none" strike="noStrike">
              <a:solidFill>
                <a:schemeClr val="dk1"/>
              </a:solidFill>
              <a:latin typeface="Calibri"/>
              <a:ea typeface="Calibri"/>
              <a:cs typeface="Calibri"/>
              <a:sym typeface="Calibri"/>
            </a:endParaRPr>
          </a:p>
          <a:p>
            <a:pPr indent="0" lvl="0" marL="0" marR="0" rtl="0" algn="l">
              <a:lnSpc>
                <a:spcPct val="101953"/>
              </a:lnSpc>
              <a:spcBef>
                <a:spcPts val="0"/>
              </a:spcBef>
              <a:spcAft>
                <a:spcPts val="0"/>
              </a:spcAft>
              <a:buClr>
                <a:srgbClr val="1A1A1A"/>
              </a:buClr>
              <a:buSzPts val="3890"/>
              <a:buFont typeface="Cormorant Garamond"/>
              <a:buNone/>
            </a:pPr>
            <a:r>
              <a:rPr b="0" i="1" lang="en-US" sz="4050" u="none" cap="none" strike="noStrike">
                <a:solidFill>
                  <a:srgbClr val="1A1A1A"/>
                </a:solidFill>
                <a:latin typeface="Cormorant Garamond"/>
                <a:ea typeface="Cormorant Garamond"/>
                <a:cs typeface="Cormorant Garamond"/>
                <a:sym typeface="Cormorant Garamond"/>
              </a:rPr>
              <a:t>a fracture.</a:t>
            </a:r>
            <a:endParaRPr b="0" i="0" sz="4050" u="none" cap="none" strike="noStrike">
              <a:solidFill>
                <a:schemeClr val="dk1"/>
              </a:solidFill>
              <a:latin typeface="Calibri"/>
              <a:ea typeface="Calibri"/>
              <a:cs typeface="Calibri"/>
              <a:sym typeface="Calibri"/>
            </a:endParaRPr>
          </a:p>
        </p:txBody>
      </p:sp>
      <p:sp>
        <p:nvSpPr>
          <p:cNvPr id="19" name="Google Shape;19;p1"/>
          <p:cNvSpPr/>
          <p:nvPr/>
        </p:nvSpPr>
        <p:spPr>
          <a:xfrm>
            <a:off x="456233" y="3302571"/>
            <a:ext cx="276225" cy="4763"/>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456233" y="3462189"/>
            <a:ext cx="2562225" cy="423862"/>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Clr>
                <a:srgbClr val="2E2C28"/>
              </a:buClr>
              <a:buSzPts val="1080"/>
              <a:buFont typeface="Cormorant Garamond"/>
              <a:buNone/>
            </a:pPr>
            <a:r>
              <a:rPr b="0" i="1" lang="en-US" sz="1080" u="none" cap="none" strike="noStrike">
                <a:solidFill>
                  <a:srgbClr val="2E2C28"/>
                </a:solidFill>
                <a:latin typeface="Cormorant Garamond"/>
                <a:ea typeface="Cormorant Garamond"/>
                <a:cs typeface="Cormorant Garamond"/>
                <a:sym typeface="Cormorant Garamond"/>
              </a:rPr>
              <a:t>A field, untouched. A policy, undone. The story of the year frontier AI met the United States military.</a:t>
            </a:r>
            <a:endParaRPr b="0" i="0" sz="1080" u="none" cap="none" strike="noStrike">
              <a:solidFill>
                <a:schemeClr val="dk1"/>
              </a:solidFill>
              <a:latin typeface="Calibri"/>
              <a:ea typeface="Calibri"/>
              <a:cs typeface="Calibri"/>
              <a:sym typeface="Calibri"/>
            </a:endParaRPr>
          </a:p>
        </p:txBody>
      </p:sp>
      <p:sp>
        <p:nvSpPr>
          <p:cNvPr id="21" name="Google Shape;21;p1"/>
          <p:cNvSpPr/>
          <p:nvPr/>
        </p:nvSpPr>
        <p:spPr>
          <a:xfrm>
            <a:off x="3993525" y="1138300"/>
            <a:ext cx="4847700" cy="2874600"/>
          </a:xfrm>
          <a:prstGeom prst="rect">
            <a:avLst/>
          </a:prstGeom>
          <a:solidFill>
            <a:srgbClr val="ECE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456865" y="4772918"/>
            <a:ext cx="619125"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PROLOGUE</a:t>
            </a:r>
            <a:endParaRPr b="0" i="0" sz="590" u="none" cap="none" strike="noStrike">
              <a:solidFill>
                <a:schemeClr val="dk1"/>
              </a:solidFill>
              <a:latin typeface="Calibri"/>
              <a:ea typeface="Calibri"/>
              <a:cs typeface="Calibri"/>
              <a:sym typeface="Calibri"/>
            </a:endParaRPr>
          </a:p>
        </p:txBody>
      </p:sp>
      <p:sp>
        <p:nvSpPr>
          <p:cNvPr id="23" name="Google Shape;23;p1"/>
          <p:cNvSpPr/>
          <p:nvPr/>
        </p:nvSpPr>
        <p:spPr>
          <a:xfrm>
            <a:off x="7372313" y="4772918"/>
            <a:ext cx="1314450"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TEAM DUCKIEZ · 2026</a:t>
            </a:r>
            <a:endParaRPr b="0" i="0" sz="590" u="none" cap="none" strike="noStrike">
              <a:solidFill>
                <a:schemeClr val="dk1"/>
              </a:solidFill>
              <a:latin typeface="Calibri"/>
              <a:ea typeface="Calibri"/>
              <a:cs typeface="Calibri"/>
              <a:sym typeface="Calibri"/>
            </a:endParaRPr>
          </a:p>
        </p:txBody>
      </p:sp>
      <p:sp>
        <p:nvSpPr>
          <p:cNvPr id="24" name="Google Shape;24;p1"/>
          <p:cNvSpPr/>
          <p:nvPr/>
        </p:nvSpPr>
        <p:spPr>
          <a:xfrm>
            <a:off x="456270" y="256989"/>
            <a:ext cx="990600"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1A1A1A"/>
              </a:buClr>
              <a:buSzPts val="650"/>
              <a:buFont typeface="Inter"/>
              <a:buNone/>
            </a:pPr>
            <a:r>
              <a:rPr b="0" i="0" lang="en-US" sz="650" u="none" cap="none" strike="noStrike">
                <a:solidFill>
                  <a:srgbClr val="1A1A1A"/>
                </a:solidFill>
                <a:latin typeface="Inter"/>
                <a:ea typeface="Inter"/>
                <a:cs typeface="Inter"/>
                <a:sym typeface="Inter"/>
              </a:rPr>
              <a:t>T</a:t>
            </a:r>
            <a:r>
              <a:rPr lang="en-US" sz="650">
                <a:solidFill>
                  <a:srgbClr val="1A1A1A"/>
                </a:solidFill>
                <a:latin typeface="Inter"/>
                <a:ea typeface="Inter"/>
                <a:cs typeface="Inter"/>
                <a:sym typeface="Inter"/>
              </a:rPr>
              <a:t>he</a:t>
            </a:r>
            <a:r>
              <a:rPr b="0" i="0" lang="en-US" sz="650" u="none" cap="none" strike="noStrike">
                <a:solidFill>
                  <a:srgbClr val="1A1A1A"/>
                </a:solidFill>
                <a:latin typeface="Inter"/>
                <a:ea typeface="Inter"/>
                <a:cs typeface="Inter"/>
                <a:sym typeface="Inter"/>
              </a:rPr>
              <a:t> Civil Rights </a:t>
            </a:r>
            <a:r>
              <a:rPr lang="en-US" sz="650">
                <a:solidFill>
                  <a:srgbClr val="1A1A1A"/>
                </a:solidFill>
                <a:latin typeface="Inter"/>
                <a:ea typeface="Inter"/>
                <a:cs typeface="Inter"/>
                <a:sym typeface="Inter"/>
              </a:rPr>
              <a:t>Schisms </a:t>
            </a:r>
            <a:endParaRPr b="0" i="0" sz="650" u="none" cap="none" strike="noStrike">
              <a:solidFill>
                <a:schemeClr val="dk1"/>
              </a:solidFill>
              <a:latin typeface="Calibri"/>
              <a:ea typeface="Calibri"/>
              <a:cs typeface="Calibri"/>
              <a:sym typeface="Calibri"/>
            </a:endParaRPr>
          </a:p>
        </p:txBody>
      </p:sp>
      <p:sp>
        <p:nvSpPr>
          <p:cNvPr id="25" name="Google Shape;25;p1"/>
          <p:cNvSpPr/>
          <p:nvPr/>
        </p:nvSpPr>
        <p:spPr>
          <a:xfrm>
            <a:off x="8185696" y="256989"/>
            <a:ext cx="500063"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5C5752"/>
              </a:buClr>
              <a:buSzPts val="650"/>
              <a:buFont typeface="Inter"/>
              <a:buNone/>
            </a:pPr>
            <a:r>
              <a:rPr b="0" i="0" lang="en-US" sz="650" u="none" cap="none" strike="noStrike">
                <a:solidFill>
                  <a:srgbClr val="5C5752"/>
                </a:solidFill>
                <a:latin typeface="Inter"/>
                <a:ea typeface="Inter"/>
                <a:cs typeface="Inter"/>
                <a:sym typeface="Inter"/>
              </a:rPr>
              <a:t>01 — 10</a:t>
            </a:r>
            <a:endParaRPr b="0" i="0" sz="650" u="none" cap="none" strike="noStrike">
              <a:solidFill>
                <a:schemeClr val="dk1"/>
              </a:solidFill>
              <a:latin typeface="Calibri"/>
              <a:ea typeface="Calibri"/>
              <a:cs typeface="Calibri"/>
              <a:sym typeface="Calibri"/>
            </a:endParaRPr>
          </a:p>
        </p:txBody>
      </p:sp>
      <p:pic>
        <p:nvPicPr>
          <p:cNvPr id="26" name="Google Shape;26;p1" title="My Movie (1).mp4">
            <a:hlinkClick r:id="rId3"/>
          </p:cNvPr>
          <p:cNvPicPr preferRelativeResize="0"/>
          <p:nvPr/>
        </p:nvPicPr>
        <p:blipFill>
          <a:blip r:embed="rId4">
            <a:alphaModFix/>
          </a:blip>
          <a:stretch>
            <a:fillRect/>
          </a:stretch>
        </p:blipFill>
        <p:spPr>
          <a:xfrm>
            <a:off x="4168200" y="1305775"/>
            <a:ext cx="4519502" cy="2580274"/>
          </a:xfrm>
          <a:prstGeom prst="rect">
            <a:avLst/>
          </a:prstGeom>
          <a:noFill/>
          <a:ln>
            <a:noFill/>
          </a:ln>
        </p:spPr>
      </p:pic>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6"/>
                                        </p:tgtEl>
                                        <p:attrNameLst>
                                          <p:attrName>style.visibility</p:attrName>
                                        </p:attrNameLst>
                                      </p:cBhvr>
                                      <p:to>
                                        <p:strVal val="visible"/>
                                      </p:to>
                                    </p:set>
                                    <p:animEffect filter="fade" transition="in">
                                      <p:cBhvr>
                                        <p:cTn dur="1000"/>
                                        <p:tgtEl>
                                          <p:spTgt spid="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2"/>
          <p:cNvSpPr/>
          <p:nvPr/>
        </p:nvSpPr>
        <p:spPr>
          <a:xfrm>
            <a:off x="2830630" y="4137131"/>
            <a:ext cx="719100" cy="2238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ANALYTICS ENGINEER</a:t>
            </a:r>
            <a:endParaRPr b="0" i="0" sz="590" u="none" cap="none" strike="noStrike">
              <a:solidFill>
                <a:schemeClr val="dk1"/>
              </a:solidFill>
              <a:latin typeface="Calibri"/>
              <a:ea typeface="Calibri"/>
              <a:cs typeface="Calibri"/>
              <a:sym typeface="Calibri"/>
            </a:endParaRPr>
          </a:p>
        </p:txBody>
      </p:sp>
      <p:sp>
        <p:nvSpPr>
          <p:cNvPr id="33" name="Google Shape;33;p2"/>
          <p:cNvSpPr/>
          <p:nvPr/>
        </p:nvSpPr>
        <p:spPr>
          <a:xfrm>
            <a:off x="0" y="0"/>
            <a:ext cx="9144000" cy="5143500"/>
          </a:xfrm>
          <a:prstGeom prst="rect">
            <a:avLst/>
          </a:prstGeom>
          <a:solidFill>
            <a:srgbClr val="FAF8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456567" y="668424"/>
            <a:ext cx="4029075"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5C5752"/>
              </a:buClr>
              <a:buSzPts val="650"/>
              <a:buFont typeface="Inter"/>
              <a:buNone/>
            </a:pPr>
            <a:r>
              <a:rPr b="0" i="0" lang="en-US" sz="650" u="none" cap="none" strike="noStrike">
                <a:solidFill>
                  <a:srgbClr val="5C5752"/>
                </a:solidFill>
                <a:latin typeface="Inter"/>
                <a:ea typeface="Inter"/>
                <a:cs typeface="Inter"/>
                <a:sym typeface="Inter"/>
              </a:rPr>
              <a:t>CHAPTER 01 — ABOUT</a:t>
            </a:r>
            <a:endParaRPr b="0" i="0" sz="650" u="none" cap="none" strike="noStrike">
              <a:solidFill>
                <a:schemeClr val="dk1"/>
              </a:solidFill>
              <a:latin typeface="Calibri"/>
              <a:ea typeface="Calibri"/>
              <a:cs typeface="Calibri"/>
              <a:sym typeface="Calibri"/>
            </a:endParaRPr>
          </a:p>
        </p:txBody>
      </p:sp>
      <p:sp>
        <p:nvSpPr>
          <p:cNvPr id="35" name="Google Shape;35;p2"/>
          <p:cNvSpPr/>
          <p:nvPr/>
        </p:nvSpPr>
        <p:spPr>
          <a:xfrm>
            <a:off x="456567" y="894234"/>
            <a:ext cx="4029000" cy="14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1A1A1A"/>
              </a:buClr>
              <a:buSzPts val="3600"/>
              <a:buFont typeface="Cormorant Garamond"/>
              <a:buNone/>
            </a:pPr>
            <a:r>
              <a:rPr b="0" i="1" lang="en-US" sz="3600" u="none" cap="none" strike="noStrike">
                <a:solidFill>
                  <a:srgbClr val="1A1A1A"/>
                </a:solidFill>
                <a:latin typeface="Cormorant Garamond"/>
                <a:ea typeface="Cormorant Garamond"/>
                <a:cs typeface="Cormorant Garamond"/>
                <a:sym typeface="Cormorant Garamond"/>
              </a:rPr>
              <a:t>Anthropic &amp;</a:t>
            </a:r>
            <a:endParaRPr b="0" i="0" sz="3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1A1A"/>
              </a:buClr>
              <a:buSzPts val="3600"/>
              <a:buFont typeface="Cormorant Garamond"/>
              <a:buNone/>
            </a:pPr>
            <a:r>
              <a:rPr b="0" i="1" lang="en-US" sz="3600" u="none" cap="none" strike="noStrike">
                <a:solidFill>
                  <a:srgbClr val="1A1A1A"/>
                </a:solidFill>
                <a:latin typeface="Cormorant Garamond"/>
                <a:ea typeface="Cormorant Garamond"/>
                <a:cs typeface="Cormorant Garamond"/>
                <a:sym typeface="Cormorant Garamond"/>
              </a:rPr>
              <a:t>OpenAI,</a:t>
            </a:r>
            <a:endParaRPr b="0" i="0" sz="36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1A1A1A"/>
              </a:buClr>
              <a:buSzPts val="3600"/>
              <a:buFont typeface="Cormorant Garamond"/>
              <a:buNone/>
            </a:pPr>
            <a:r>
              <a:rPr b="0" i="1" lang="en-US" sz="3600" u="none" cap="none" strike="noStrike">
                <a:solidFill>
                  <a:srgbClr val="1A1A1A"/>
                </a:solidFill>
                <a:latin typeface="Cormorant Garamond"/>
                <a:ea typeface="Cormorant Garamond"/>
                <a:cs typeface="Cormorant Garamond"/>
                <a:sym typeface="Cormorant Garamond"/>
              </a:rPr>
              <a:t>with the Pentagon.</a:t>
            </a:r>
            <a:endParaRPr b="0" i="0" sz="3600" u="none" cap="none" strike="noStrike">
              <a:solidFill>
                <a:schemeClr val="dk1"/>
              </a:solidFill>
              <a:latin typeface="Calibri"/>
              <a:ea typeface="Calibri"/>
              <a:cs typeface="Calibri"/>
              <a:sym typeface="Calibri"/>
            </a:endParaRPr>
          </a:p>
        </p:txBody>
      </p:sp>
      <p:sp>
        <p:nvSpPr>
          <p:cNvPr id="36" name="Google Shape;36;p2"/>
          <p:cNvSpPr/>
          <p:nvPr/>
        </p:nvSpPr>
        <p:spPr>
          <a:xfrm>
            <a:off x="456233" y="2499420"/>
            <a:ext cx="276225" cy="4763"/>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456233" y="2710160"/>
            <a:ext cx="2562225" cy="4381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2E2C28"/>
              </a:buClr>
              <a:buSzPts val="1080"/>
              <a:buFont typeface="Cormorant Garamond"/>
              <a:buNone/>
            </a:pPr>
            <a:r>
              <a:rPr b="0" i="1" lang="en-US" sz="1080" u="none" cap="none" strike="noStrike">
                <a:solidFill>
                  <a:srgbClr val="2E2C28"/>
                </a:solidFill>
                <a:latin typeface="Cormorant Garamond"/>
                <a:ea typeface="Cormorant Garamond"/>
                <a:cs typeface="Cormorant Garamond"/>
                <a:sym typeface="Cormorant Garamond"/>
              </a:rPr>
              <a:t>A small team, a contested year, and a question of who sets the limits of military artificial intelligence.</a:t>
            </a:r>
            <a:endParaRPr b="0" i="0" sz="1080" u="none" cap="none" strike="noStrike">
              <a:solidFill>
                <a:schemeClr val="dk1"/>
              </a:solidFill>
              <a:latin typeface="Calibri"/>
              <a:ea typeface="Calibri"/>
              <a:cs typeface="Calibri"/>
              <a:sym typeface="Calibri"/>
            </a:endParaRPr>
          </a:p>
        </p:txBody>
      </p:sp>
      <p:sp>
        <p:nvSpPr>
          <p:cNvPr id="38" name="Google Shape;38;p2"/>
          <p:cNvSpPr/>
          <p:nvPr/>
        </p:nvSpPr>
        <p:spPr>
          <a:xfrm>
            <a:off x="456567" y="3386249"/>
            <a:ext cx="4029075"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1A1A1A"/>
              </a:buClr>
              <a:buSzPts val="650"/>
              <a:buFont typeface="Inter"/>
              <a:buNone/>
            </a:pPr>
            <a:r>
              <a:rPr lang="en-US" sz="650">
                <a:solidFill>
                  <a:srgbClr val="1A1A1A"/>
                </a:solidFill>
                <a:latin typeface="Inter"/>
                <a:ea typeface="Inter"/>
                <a:cs typeface="Inter"/>
                <a:sym typeface="Inter"/>
              </a:rPr>
              <a:t>TEAM MEMBERS</a:t>
            </a:r>
            <a:endParaRPr b="0" i="0" sz="650" u="none" cap="none" strike="noStrike">
              <a:solidFill>
                <a:schemeClr val="dk1"/>
              </a:solidFill>
              <a:latin typeface="Calibri"/>
              <a:ea typeface="Calibri"/>
              <a:cs typeface="Calibri"/>
              <a:sym typeface="Calibri"/>
            </a:endParaRPr>
          </a:p>
        </p:txBody>
      </p:sp>
      <p:sp>
        <p:nvSpPr>
          <p:cNvPr id="39" name="Google Shape;39;p2"/>
          <p:cNvSpPr/>
          <p:nvPr/>
        </p:nvSpPr>
        <p:spPr>
          <a:xfrm rot="10800000">
            <a:off x="367977" y="3748025"/>
            <a:ext cx="3102300" cy="938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456530" y="3770933"/>
            <a:ext cx="719137"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01</a:t>
            </a:r>
            <a:endParaRPr b="0" i="0" sz="590" u="none" cap="none" strike="noStrike">
              <a:solidFill>
                <a:schemeClr val="dk1"/>
              </a:solidFill>
              <a:latin typeface="Calibri"/>
              <a:ea typeface="Calibri"/>
              <a:cs typeface="Calibri"/>
              <a:sym typeface="Calibri"/>
            </a:endParaRPr>
          </a:p>
        </p:txBody>
      </p:sp>
      <p:sp>
        <p:nvSpPr>
          <p:cNvPr id="41" name="Google Shape;41;p2"/>
          <p:cNvSpPr/>
          <p:nvPr/>
        </p:nvSpPr>
        <p:spPr>
          <a:xfrm>
            <a:off x="456530" y="3875878"/>
            <a:ext cx="719100" cy="152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1A1A1A"/>
              </a:buClr>
              <a:buSzPts val="1080"/>
              <a:buFont typeface="Cormorant Garamond"/>
              <a:buNone/>
            </a:pPr>
            <a:r>
              <a:rPr b="0" i="1" lang="en-US" sz="1080" u="none" cap="none" strike="noStrike">
                <a:solidFill>
                  <a:srgbClr val="1A1A1A"/>
                </a:solidFill>
                <a:latin typeface="Cormorant Garamond"/>
                <a:ea typeface="Cormorant Garamond"/>
                <a:cs typeface="Cormorant Garamond"/>
                <a:sym typeface="Cormorant Garamond"/>
              </a:rPr>
              <a:t>Tony</a:t>
            </a:r>
            <a:endParaRPr b="0" i="0" sz="1080" u="none" cap="none" strike="noStrike">
              <a:solidFill>
                <a:schemeClr val="dk1"/>
              </a:solidFill>
              <a:latin typeface="Calibri"/>
              <a:ea typeface="Calibri"/>
              <a:cs typeface="Calibri"/>
              <a:sym typeface="Calibri"/>
            </a:endParaRPr>
          </a:p>
        </p:txBody>
      </p:sp>
      <p:sp>
        <p:nvSpPr>
          <p:cNvPr id="42" name="Google Shape;42;p2"/>
          <p:cNvSpPr/>
          <p:nvPr/>
        </p:nvSpPr>
        <p:spPr>
          <a:xfrm>
            <a:off x="456225" y="4049500"/>
            <a:ext cx="875700" cy="2022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lang="en-US" sz="590">
                <a:solidFill>
                  <a:srgbClr val="5C5752"/>
                </a:solidFill>
                <a:latin typeface="Inter"/>
                <a:ea typeface="Inter"/>
                <a:cs typeface="Inter"/>
                <a:sym typeface="Inter"/>
              </a:rPr>
              <a:t>Lead | Context | Design </a:t>
            </a:r>
            <a:endParaRPr b="0" i="0" sz="590" u="none" cap="none" strike="noStrike">
              <a:solidFill>
                <a:schemeClr val="dk1"/>
              </a:solidFill>
              <a:latin typeface="Calibri"/>
              <a:ea typeface="Calibri"/>
              <a:cs typeface="Calibri"/>
              <a:sym typeface="Calibri"/>
            </a:endParaRPr>
          </a:p>
        </p:txBody>
      </p:sp>
      <p:sp>
        <p:nvSpPr>
          <p:cNvPr id="43" name="Google Shape;43;p2"/>
          <p:cNvSpPr/>
          <p:nvPr/>
        </p:nvSpPr>
        <p:spPr>
          <a:xfrm>
            <a:off x="1565535" y="3782983"/>
            <a:ext cx="719100"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02</a:t>
            </a:r>
            <a:endParaRPr b="0" i="0" sz="590" u="none" cap="none" strike="noStrike">
              <a:solidFill>
                <a:schemeClr val="dk1"/>
              </a:solidFill>
              <a:latin typeface="Calibri"/>
              <a:ea typeface="Calibri"/>
              <a:cs typeface="Calibri"/>
              <a:sym typeface="Calibri"/>
            </a:endParaRPr>
          </a:p>
        </p:txBody>
      </p:sp>
      <p:sp>
        <p:nvSpPr>
          <p:cNvPr id="44" name="Google Shape;44;p2"/>
          <p:cNvSpPr/>
          <p:nvPr/>
        </p:nvSpPr>
        <p:spPr>
          <a:xfrm>
            <a:off x="1542192" y="3880762"/>
            <a:ext cx="719100" cy="202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1A1A1A"/>
              </a:buClr>
              <a:buSzPts val="1080"/>
              <a:buFont typeface="Cormorant Garamond"/>
              <a:buNone/>
            </a:pPr>
            <a:r>
              <a:rPr i="1" lang="en-US" sz="1080">
                <a:solidFill>
                  <a:srgbClr val="1A1A1A"/>
                </a:solidFill>
                <a:latin typeface="Cormorant Garamond"/>
                <a:ea typeface="Cormorant Garamond"/>
                <a:cs typeface="Cormorant Garamond"/>
                <a:sym typeface="Cormorant Garamond"/>
              </a:rPr>
              <a:t>Adam</a:t>
            </a:r>
            <a:endParaRPr b="0" i="0" sz="1080" u="none" cap="none" strike="noStrike">
              <a:solidFill>
                <a:schemeClr val="dk1"/>
              </a:solidFill>
              <a:latin typeface="Calibri"/>
              <a:ea typeface="Calibri"/>
              <a:cs typeface="Calibri"/>
              <a:sym typeface="Calibri"/>
            </a:endParaRPr>
          </a:p>
        </p:txBody>
      </p:sp>
      <p:sp>
        <p:nvSpPr>
          <p:cNvPr id="45" name="Google Shape;45;p2"/>
          <p:cNvSpPr/>
          <p:nvPr/>
        </p:nvSpPr>
        <p:spPr>
          <a:xfrm>
            <a:off x="1540089" y="4048026"/>
            <a:ext cx="719100" cy="3381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lang="en-US" sz="590">
                <a:solidFill>
                  <a:srgbClr val="5C5752"/>
                </a:solidFill>
                <a:latin typeface="Inter"/>
                <a:ea typeface="Inter"/>
                <a:cs typeface="Inter"/>
                <a:sym typeface="Inter"/>
              </a:rPr>
              <a:t>Sources, Analysis, Graphic </a:t>
            </a:r>
            <a:endParaRPr b="0" i="0" sz="590" u="none" cap="none" strike="noStrike">
              <a:solidFill>
                <a:schemeClr val="dk1"/>
              </a:solidFill>
              <a:latin typeface="Calibri"/>
              <a:ea typeface="Calibri"/>
              <a:cs typeface="Calibri"/>
              <a:sym typeface="Calibri"/>
            </a:endParaRPr>
          </a:p>
        </p:txBody>
      </p:sp>
      <p:sp>
        <p:nvSpPr>
          <p:cNvPr id="46" name="Google Shape;46;p2"/>
          <p:cNvSpPr/>
          <p:nvPr/>
        </p:nvSpPr>
        <p:spPr>
          <a:xfrm>
            <a:off x="2467372" y="3766458"/>
            <a:ext cx="719100"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03</a:t>
            </a:r>
            <a:endParaRPr b="0" i="0" sz="590" u="none" cap="none" strike="noStrike">
              <a:solidFill>
                <a:schemeClr val="dk1"/>
              </a:solidFill>
              <a:latin typeface="Calibri"/>
              <a:ea typeface="Calibri"/>
              <a:cs typeface="Calibri"/>
              <a:sym typeface="Calibri"/>
            </a:endParaRPr>
          </a:p>
        </p:txBody>
      </p:sp>
      <p:sp>
        <p:nvSpPr>
          <p:cNvPr id="47" name="Google Shape;47;p2"/>
          <p:cNvSpPr/>
          <p:nvPr/>
        </p:nvSpPr>
        <p:spPr>
          <a:xfrm>
            <a:off x="2467371" y="3875878"/>
            <a:ext cx="719100" cy="152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1A1A1A"/>
              </a:buClr>
              <a:buSzPts val="1080"/>
              <a:buFont typeface="Cormorant Garamond"/>
              <a:buNone/>
            </a:pPr>
            <a:r>
              <a:rPr i="1" lang="en-US" sz="1080">
                <a:solidFill>
                  <a:srgbClr val="1A1A1A"/>
                </a:solidFill>
                <a:latin typeface="Cormorant Garamond"/>
                <a:ea typeface="Cormorant Garamond"/>
                <a:cs typeface="Cormorant Garamond"/>
                <a:sym typeface="Cormorant Garamond"/>
              </a:rPr>
              <a:t>Derek</a:t>
            </a:r>
            <a:endParaRPr b="0" i="0" sz="1080" u="none" cap="none" strike="noStrike">
              <a:solidFill>
                <a:schemeClr val="dk1"/>
              </a:solidFill>
              <a:latin typeface="Calibri"/>
              <a:ea typeface="Calibri"/>
              <a:cs typeface="Calibri"/>
              <a:sym typeface="Calibri"/>
            </a:endParaRPr>
          </a:p>
        </p:txBody>
      </p:sp>
      <p:sp>
        <p:nvSpPr>
          <p:cNvPr id="48" name="Google Shape;48;p2"/>
          <p:cNvSpPr/>
          <p:nvPr/>
        </p:nvSpPr>
        <p:spPr>
          <a:xfrm>
            <a:off x="2467369" y="4040553"/>
            <a:ext cx="719100" cy="2238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lang="en-US" sz="590">
                <a:solidFill>
                  <a:srgbClr val="5C5752"/>
                </a:solidFill>
                <a:latin typeface="Inter"/>
                <a:ea typeface="Inter"/>
                <a:cs typeface="Inter"/>
                <a:sym typeface="Inter"/>
              </a:rPr>
              <a:t>Sources Analysis, Presentator</a:t>
            </a:r>
            <a:endParaRPr b="0" i="0" sz="590" u="none" cap="none" strike="noStrike">
              <a:solidFill>
                <a:schemeClr val="dk1"/>
              </a:solidFill>
              <a:latin typeface="Calibri"/>
              <a:ea typeface="Calibri"/>
              <a:cs typeface="Calibri"/>
              <a:sym typeface="Calibri"/>
            </a:endParaRPr>
          </a:p>
        </p:txBody>
      </p:sp>
      <p:sp>
        <p:nvSpPr>
          <p:cNvPr id="49" name="Google Shape;49;p2"/>
          <p:cNvSpPr/>
          <p:nvPr/>
        </p:nvSpPr>
        <p:spPr>
          <a:xfrm>
            <a:off x="4851871" y="668164"/>
            <a:ext cx="3833812" cy="3910012"/>
          </a:xfrm>
          <a:prstGeom prst="rect">
            <a:avLst/>
          </a:prstGeom>
          <a:solidFill>
            <a:srgbClr val="ECE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0" name="Google Shape;50;p2"/>
          <p:cNvPicPr preferRelativeResize="0"/>
          <p:nvPr/>
        </p:nvPicPr>
        <p:blipFill rotWithShape="1">
          <a:blip r:embed="rId3">
            <a:alphaModFix/>
          </a:blip>
          <a:srcRect b="0" l="0" r="0" t="0"/>
          <a:stretch/>
        </p:blipFill>
        <p:spPr>
          <a:xfrm rot="10800000">
            <a:off x="368100" y="2668438"/>
            <a:ext cx="3113976" cy="938200"/>
          </a:xfrm>
          <a:prstGeom prst="rect">
            <a:avLst/>
          </a:prstGeom>
          <a:noFill/>
          <a:ln>
            <a:noFill/>
          </a:ln>
        </p:spPr>
      </p:pic>
      <p:sp>
        <p:nvSpPr>
          <p:cNvPr id="51" name="Google Shape;51;p2"/>
          <p:cNvSpPr/>
          <p:nvPr/>
        </p:nvSpPr>
        <p:spPr>
          <a:xfrm>
            <a:off x="457721" y="256989"/>
            <a:ext cx="652463"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1A1A1A"/>
              </a:buClr>
              <a:buSzPts val="650"/>
              <a:buFont typeface="Inter"/>
              <a:buNone/>
            </a:pPr>
            <a:r>
              <a:rPr b="0" i="0" lang="en-US" sz="650" u="none" cap="none" strike="noStrike">
                <a:solidFill>
                  <a:srgbClr val="1A1A1A"/>
                </a:solidFill>
                <a:latin typeface="Inter"/>
                <a:ea typeface="Inter"/>
                <a:cs typeface="Inter"/>
                <a:sym typeface="Inter"/>
              </a:rPr>
              <a:t>THE TEAM</a:t>
            </a:r>
            <a:endParaRPr b="0" i="0" sz="650" u="none" cap="none" strike="noStrike">
              <a:solidFill>
                <a:schemeClr val="dk1"/>
              </a:solidFill>
              <a:latin typeface="Calibri"/>
              <a:ea typeface="Calibri"/>
              <a:cs typeface="Calibri"/>
              <a:sym typeface="Calibri"/>
            </a:endParaRPr>
          </a:p>
        </p:txBody>
      </p:sp>
      <p:sp>
        <p:nvSpPr>
          <p:cNvPr id="52" name="Google Shape;52;p2"/>
          <p:cNvSpPr/>
          <p:nvPr/>
        </p:nvSpPr>
        <p:spPr>
          <a:xfrm>
            <a:off x="8167836" y="256989"/>
            <a:ext cx="519112"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5C5752"/>
              </a:buClr>
              <a:buSzPts val="650"/>
              <a:buFont typeface="Inter"/>
              <a:buNone/>
            </a:pPr>
            <a:r>
              <a:rPr b="0" i="0" lang="en-US" sz="650" u="none" cap="none" strike="noStrike">
                <a:solidFill>
                  <a:srgbClr val="5C5752"/>
                </a:solidFill>
                <a:latin typeface="Inter"/>
                <a:ea typeface="Inter"/>
                <a:cs typeface="Inter"/>
                <a:sym typeface="Inter"/>
              </a:rPr>
              <a:t>02 — 10</a:t>
            </a:r>
            <a:endParaRPr b="0" i="0" sz="650" u="none" cap="none" strike="noStrike">
              <a:solidFill>
                <a:schemeClr val="dk1"/>
              </a:solidFill>
              <a:latin typeface="Calibri"/>
              <a:ea typeface="Calibri"/>
              <a:cs typeface="Calibri"/>
              <a:sym typeface="Calibri"/>
            </a:endParaRPr>
          </a:p>
        </p:txBody>
      </p:sp>
      <p:sp>
        <p:nvSpPr>
          <p:cNvPr id="53" name="Google Shape;53;p2"/>
          <p:cNvSpPr/>
          <p:nvPr/>
        </p:nvSpPr>
        <p:spPr>
          <a:xfrm>
            <a:off x="7749629" y="4824412"/>
            <a:ext cx="938212"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02 — THE TEAM</a:t>
            </a:r>
            <a:endParaRPr b="0" i="0" sz="590" u="none" cap="none" strike="noStrike">
              <a:solidFill>
                <a:schemeClr val="dk1"/>
              </a:solidFill>
              <a:latin typeface="Calibri"/>
              <a:ea typeface="Calibri"/>
              <a:cs typeface="Calibri"/>
              <a:sym typeface="Calibri"/>
            </a:endParaRPr>
          </a:p>
        </p:txBody>
      </p:sp>
      <p:sp>
        <p:nvSpPr>
          <p:cNvPr id="54" name="Google Shape;54;p2"/>
          <p:cNvSpPr/>
          <p:nvPr/>
        </p:nvSpPr>
        <p:spPr>
          <a:xfrm>
            <a:off x="3208696" y="3868553"/>
            <a:ext cx="719100" cy="1524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A1A1A"/>
              </a:buClr>
              <a:buSzPts val="1080"/>
              <a:buFont typeface="Cormorant Garamond"/>
              <a:buNone/>
            </a:pPr>
            <a:r>
              <a:rPr i="1" lang="en-US" sz="1080">
                <a:solidFill>
                  <a:srgbClr val="1A1A1A"/>
                </a:solidFill>
                <a:latin typeface="Cormorant Garamond"/>
                <a:ea typeface="Cormorant Garamond"/>
                <a:cs typeface="Cormorant Garamond"/>
                <a:sym typeface="Cormorant Garamond"/>
              </a:rPr>
              <a:t>Steve</a:t>
            </a:r>
            <a:endParaRPr b="0" i="0" sz="1080" u="none" cap="none" strike="noStrike">
              <a:solidFill>
                <a:schemeClr val="dk1"/>
              </a:solidFill>
              <a:latin typeface="Calibri"/>
              <a:ea typeface="Calibri"/>
              <a:cs typeface="Calibri"/>
              <a:sym typeface="Calibri"/>
            </a:endParaRPr>
          </a:p>
        </p:txBody>
      </p:sp>
      <p:sp>
        <p:nvSpPr>
          <p:cNvPr id="55" name="Google Shape;55;p2"/>
          <p:cNvSpPr/>
          <p:nvPr/>
        </p:nvSpPr>
        <p:spPr>
          <a:xfrm>
            <a:off x="3195994" y="4038703"/>
            <a:ext cx="719100" cy="223800"/>
          </a:xfrm>
          <a:prstGeom prst="rect">
            <a:avLst/>
          </a:prstGeom>
          <a:noFill/>
          <a:ln>
            <a:noFill/>
          </a:ln>
        </p:spPr>
        <p:txBody>
          <a:bodyPr anchorCtr="0" anchor="t" bIns="0" lIns="0" spcFirstLastPara="1" rIns="0" wrap="square" tIns="0">
            <a:noAutofit/>
          </a:bodyPr>
          <a:lstStyle/>
          <a:p>
            <a:pPr indent="0" lvl="0" marL="0" marR="0" rtl="0" algn="l">
              <a:lnSpc>
                <a:spcPct val="150169"/>
              </a:lnSpc>
              <a:spcBef>
                <a:spcPts val="0"/>
              </a:spcBef>
              <a:spcAft>
                <a:spcPts val="0"/>
              </a:spcAft>
              <a:buClr>
                <a:srgbClr val="5C5752"/>
              </a:buClr>
              <a:buSzPts val="590"/>
              <a:buFont typeface="Inter"/>
              <a:buNone/>
            </a:pPr>
            <a:r>
              <a:rPr lang="en-US" sz="590">
                <a:solidFill>
                  <a:srgbClr val="5C5752"/>
                </a:solidFill>
                <a:latin typeface="Inter"/>
                <a:ea typeface="Inter"/>
                <a:cs typeface="Inter"/>
                <a:sym typeface="Inter"/>
              </a:rPr>
              <a:t>Ideas,</a:t>
            </a:r>
            <a:r>
              <a:rPr lang="en-US" sz="590">
                <a:solidFill>
                  <a:srgbClr val="5C5752"/>
                </a:solidFill>
                <a:latin typeface="Inter"/>
                <a:ea typeface="Inter"/>
                <a:cs typeface="Inter"/>
                <a:sym typeface="Inter"/>
              </a:rPr>
              <a:t> Presentator</a:t>
            </a:r>
            <a:endParaRPr b="0" i="0" sz="590" u="none" cap="none" strike="noStrike">
              <a:solidFill>
                <a:schemeClr val="dk1"/>
              </a:solidFill>
              <a:latin typeface="Calibri"/>
              <a:ea typeface="Calibri"/>
              <a:cs typeface="Calibri"/>
              <a:sym typeface="Calibri"/>
            </a:endParaRPr>
          </a:p>
        </p:txBody>
      </p:sp>
      <p:sp>
        <p:nvSpPr>
          <p:cNvPr id="56" name="Google Shape;56;p2"/>
          <p:cNvSpPr/>
          <p:nvPr/>
        </p:nvSpPr>
        <p:spPr>
          <a:xfrm>
            <a:off x="3208697" y="3765533"/>
            <a:ext cx="719100" cy="114300"/>
          </a:xfrm>
          <a:prstGeom prst="rect">
            <a:avLst/>
          </a:prstGeom>
          <a:noFill/>
          <a:ln>
            <a:noFill/>
          </a:ln>
        </p:spPr>
        <p:txBody>
          <a:bodyPr anchorCtr="0" anchor="t" bIns="0" lIns="0" spcFirstLastPara="1" rIns="0" wrap="square" tIns="0">
            <a:no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0</a:t>
            </a:r>
            <a:r>
              <a:rPr lang="en-US" sz="590">
                <a:solidFill>
                  <a:srgbClr val="5C5752"/>
                </a:solidFill>
                <a:latin typeface="Inter"/>
                <a:ea typeface="Inter"/>
                <a:cs typeface="Inter"/>
                <a:sym typeface="Inter"/>
              </a:rPr>
              <a:t>4</a:t>
            </a:r>
            <a:endParaRPr b="0" i="0" sz="59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3"/>
          <p:cNvSpPr/>
          <p:nvPr/>
        </p:nvSpPr>
        <p:spPr>
          <a:xfrm>
            <a:off x="0" y="0"/>
            <a:ext cx="9144000" cy="5143500"/>
          </a:xfrm>
          <a:prstGeom prst="rect">
            <a:avLst/>
          </a:prstGeom>
          <a:solidFill>
            <a:srgbClr val="FAF8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456828" y="668424"/>
            <a:ext cx="4071938"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5C5752"/>
              </a:buClr>
              <a:buSzPts val="650"/>
              <a:buFont typeface="Inter"/>
              <a:buNone/>
            </a:pPr>
            <a:r>
              <a:rPr b="0" i="0" lang="en-US" sz="650" u="none" cap="none" strike="noStrike">
                <a:solidFill>
                  <a:srgbClr val="5C5752"/>
                </a:solidFill>
                <a:latin typeface="Inter"/>
                <a:ea typeface="Inter"/>
                <a:cs typeface="Inter"/>
                <a:sym typeface="Inter"/>
              </a:rPr>
              <a:t>CHAPTER 02 — JULY 2025 → FEB 2026</a:t>
            </a:r>
            <a:endParaRPr b="0" i="0" sz="650" u="none" cap="none" strike="noStrike">
              <a:solidFill>
                <a:schemeClr val="dk1"/>
              </a:solidFill>
              <a:latin typeface="Calibri"/>
              <a:ea typeface="Calibri"/>
              <a:cs typeface="Calibri"/>
              <a:sym typeface="Calibri"/>
            </a:endParaRPr>
          </a:p>
        </p:txBody>
      </p:sp>
      <p:sp>
        <p:nvSpPr>
          <p:cNvPr id="64" name="Google Shape;64;p3"/>
          <p:cNvSpPr/>
          <p:nvPr/>
        </p:nvSpPr>
        <p:spPr>
          <a:xfrm>
            <a:off x="456828" y="792247"/>
            <a:ext cx="4071900" cy="1614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1A1A1A"/>
              </a:buClr>
              <a:buSzPts val="4320"/>
              <a:buFont typeface="Cormorant Garamond"/>
              <a:buNone/>
            </a:pPr>
            <a:r>
              <a:rPr b="0" i="1" lang="en-US" sz="4320" u="none" cap="none" strike="noStrike">
                <a:solidFill>
                  <a:srgbClr val="1A1A1A"/>
                </a:solidFill>
                <a:latin typeface="Cormorant Garamond"/>
                <a:ea typeface="Cormorant Garamond"/>
                <a:cs typeface="Cormorant Garamond"/>
                <a:sym typeface="Cormorant Garamond"/>
              </a:rPr>
              <a:t>The</a:t>
            </a:r>
            <a:endParaRPr b="0" i="0" sz="432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1A1A"/>
              </a:buClr>
              <a:buSzPts val="4320"/>
              <a:buFont typeface="Cormorant Garamond"/>
              <a:buNone/>
            </a:pPr>
            <a:r>
              <a:rPr b="0" i="1" lang="en-US" sz="4320" u="none" cap="none" strike="noStrike">
                <a:solidFill>
                  <a:srgbClr val="1A1A1A"/>
                </a:solidFill>
                <a:latin typeface="Cormorant Garamond"/>
                <a:ea typeface="Cormorant Garamond"/>
                <a:cs typeface="Cormorant Garamond"/>
                <a:sym typeface="Cormorant Garamond"/>
              </a:rPr>
              <a:t>$200M</a:t>
            </a:r>
            <a:endParaRPr b="0" i="0" sz="4320" u="none" cap="none" strike="noStrike">
              <a:solidFill>
                <a:schemeClr val="dk1"/>
              </a:solidFill>
              <a:latin typeface="Calibri"/>
              <a:ea typeface="Calibri"/>
              <a:cs typeface="Calibri"/>
              <a:sym typeface="Calibri"/>
            </a:endParaRPr>
          </a:p>
          <a:p>
            <a:pPr indent="0" lvl="0" marL="0" marR="0" rtl="0" algn="l">
              <a:lnSpc>
                <a:spcPct val="98009"/>
              </a:lnSpc>
              <a:spcBef>
                <a:spcPts val="0"/>
              </a:spcBef>
              <a:spcAft>
                <a:spcPts val="0"/>
              </a:spcAft>
              <a:buClr>
                <a:srgbClr val="1A1A1A"/>
              </a:buClr>
              <a:buSzPts val="4320"/>
              <a:buFont typeface="Cormorant Garamond"/>
              <a:buNone/>
            </a:pPr>
            <a:r>
              <a:rPr b="0" i="1" lang="en-US" sz="4320" u="none" cap="none" strike="noStrike">
                <a:solidFill>
                  <a:srgbClr val="1A1A1A"/>
                </a:solidFill>
                <a:latin typeface="Cormorant Garamond"/>
                <a:ea typeface="Cormorant Garamond"/>
                <a:cs typeface="Cormorant Garamond"/>
                <a:sym typeface="Cormorant Garamond"/>
              </a:rPr>
              <a:t>Ultimatum.</a:t>
            </a:r>
            <a:endParaRPr b="0" i="0" sz="4320" u="none" cap="none" strike="noStrike">
              <a:solidFill>
                <a:schemeClr val="dk1"/>
              </a:solidFill>
              <a:latin typeface="Calibri"/>
              <a:ea typeface="Calibri"/>
              <a:cs typeface="Calibri"/>
              <a:sym typeface="Calibri"/>
            </a:endParaRPr>
          </a:p>
        </p:txBody>
      </p:sp>
      <p:sp>
        <p:nvSpPr>
          <p:cNvPr id="65" name="Google Shape;65;p3"/>
          <p:cNvSpPr/>
          <p:nvPr/>
        </p:nvSpPr>
        <p:spPr>
          <a:xfrm>
            <a:off x="456233" y="2713509"/>
            <a:ext cx="276225" cy="4763"/>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457200" y="2924621"/>
            <a:ext cx="2743200" cy="423862"/>
          </a:xfrm>
          <a:prstGeom prst="rect">
            <a:avLst/>
          </a:prstGeom>
          <a:noFill/>
          <a:ln>
            <a:noFill/>
          </a:ln>
        </p:spPr>
        <p:txBody>
          <a:bodyPr anchorCtr="0" anchor="t" bIns="0" lIns="0" spcFirstLastPara="1" rIns="0" wrap="square" tIns="0">
            <a:spAutoFit/>
          </a:bodyPr>
          <a:lstStyle/>
          <a:p>
            <a:pPr indent="0" lvl="0" marL="0" marR="0" rtl="0" algn="l">
              <a:lnSpc>
                <a:spcPct val="149464"/>
              </a:lnSpc>
              <a:spcBef>
                <a:spcPts val="0"/>
              </a:spcBef>
              <a:spcAft>
                <a:spcPts val="0"/>
              </a:spcAft>
              <a:buClr>
                <a:srgbClr val="1A1A1A"/>
              </a:buClr>
              <a:buSzPts val="1120"/>
              <a:buFont typeface="Cormorant Garamond"/>
              <a:buNone/>
            </a:pPr>
            <a:r>
              <a:rPr b="0" i="1" lang="en-US" sz="1120" u="none" cap="none" strike="noStrike">
                <a:solidFill>
                  <a:srgbClr val="1A1A1A"/>
                </a:solidFill>
                <a:latin typeface="Cormorant Garamond"/>
                <a:ea typeface="Cormorant Garamond"/>
                <a:cs typeface="Cormorant Garamond"/>
                <a:sym typeface="Cormorant Garamond"/>
              </a:rPr>
              <a:t>A federal frontier-AI contract, repurposed as a coercion lever.</a:t>
            </a:r>
            <a:endParaRPr b="0" i="0" sz="1120" u="none" cap="none" strike="noStrike">
              <a:solidFill>
                <a:schemeClr val="dk1"/>
              </a:solidFill>
              <a:latin typeface="Calibri"/>
              <a:ea typeface="Calibri"/>
              <a:cs typeface="Calibri"/>
              <a:sym typeface="Calibri"/>
            </a:endParaRPr>
          </a:p>
        </p:txBody>
      </p:sp>
      <p:sp>
        <p:nvSpPr>
          <p:cNvPr id="67" name="Google Shape;67;p3"/>
          <p:cNvSpPr/>
          <p:nvPr/>
        </p:nvSpPr>
        <p:spPr>
          <a:xfrm>
            <a:off x="457200" y="3476850"/>
            <a:ext cx="3613500" cy="795300"/>
          </a:xfrm>
          <a:prstGeom prst="rect">
            <a:avLst/>
          </a:prstGeom>
          <a:noFill/>
          <a:ln>
            <a:noFill/>
          </a:ln>
        </p:spPr>
        <p:txBody>
          <a:bodyPr anchorCtr="0" anchor="t" bIns="0" lIns="0" spcFirstLastPara="1" rIns="0" wrap="square" tIns="0">
            <a:spAutoFit/>
          </a:bodyPr>
          <a:lstStyle/>
          <a:p>
            <a:pPr indent="0" lvl="0" marL="0" marR="0" rtl="0" algn="l">
              <a:lnSpc>
                <a:spcPct val="154653"/>
              </a:lnSpc>
              <a:spcBef>
                <a:spcPts val="0"/>
              </a:spcBef>
              <a:spcAft>
                <a:spcPts val="0"/>
              </a:spcAft>
              <a:buClr>
                <a:srgbClr val="2E2C28"/>
              </a:buClr>
              <a:buSzPts val="1010"/>
              <a:buFont typeface="Inter"/>
              <a:buNone/>
            </a:pPr>
            <a:r>
              <a:rPr b="0" i="0" lang="en-US" sz="1010" u="none" cap="none" strike="noStrike">
                <a:solidFill>
                  <a:srgbClr val="2E2C28"/>
                </a:solidFill>
                <a:latin typeface="Inter"/>
                <a:ea typeface="Inter"/>
                <a:cs typeface="Inter"/>
                <a:sym typeface="Inter"/>
              </a:rPr>
              <a:t>Comply with the lift on safety guardrails or be revoked. The first overt test of whether vendor ethics or government authority defines the boundaries of military AI.</a:t>
            </a:r>
            <a:endParaRPr b="0" i="0" sz="1010" u="none" cap="none" strike="noStrike">
              <a:solidFill>
                <a:schemeClr val="dk1"/>
              </a:solidFill>
              <a:latin typeface="Calibri"/>
              <a:ea typeface="Calibri"/>
              <a:cs typeface="Calibri"/>
              <a:sym typeface="Calibri"/>
            </a:endParaRPr>
          </a:p>
        </p:txBody>
      </p:sp>
      <p:sp>
        <p:nvSpPr>
          <p:cNvPr id="68" name="Google Shape;68;p3"/>
          <p:cNvSpPr/>
          <p:nvPr/>
        </p:nvSpPr>
        <p:spPr>
          <a:xfrm>
            <a:off x="456825" y="4271251"/>
            <a:ext cx="4071900" cy="114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456307" y="4429423"/>
            <a:ext cx="1190625"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CONTRACT</a:t>
            </a:r>
            <a:endParaRPr b="0" i="0" sz="590" u="none" cap="none" strike="noStrike">
              <a:solidFill>
                <a:schemeClr val="dk1"/>
              </a:solidFill>
              <a:latin typeface="Calibri"/>
              <a:ea typeface="Calibri"/>
              <a:cs typeface="Calibri"/>
              <a:sym typeface="Calibri"/>
            </a:endParaRPr>
          </a:p>
        </p:txBody>
      </p:sp>
      <p:sp>
        <p:nvSpPr>
          <p:cNvPr id="70" name="Google Shape;70;p3"/>
          <p:cNvSpPr/>
          <p:nvPr/>
        </p:nvSpPr>
        <p:spPr>
          <a:xfrm>
            <a:off x="430107" y="4524400"/>
            <a:ext cx="1190700" cy="300000"/>
          </a:xfrm>
          <a:prstGeom prst="rect">
            <a:avLst/>
          </a:prstGeom>
          <a:noFill/>
          <a:ln>
            <a:noFill/>
          </a:ln>
        </p:spPr>
        <p:txBody>
          <a:bodyPr anchorCtr="0" anchor="t" bIns="0" lIns="0" spcFirstLastPara="1" rIns="0" wrap="square" tIns="0">
            <a:spAutoFit/>
          </a:bodyPr>
          <a:lstStyle/>
          <a:p>
            <a:pPr indent="0" lvl="0" marL="0" marR="0" rtl="0" algn="l">
              <a:lnSpc>
                <a:spcPct val="150379"/>
              </a:lnSpc>
              <a:spcBef>
                <a:spcPts val="0"/>
              </a:spcBef>
              <a:spcAft>
                <a:spcPts val="0"/>
              </a:spcAft>
              <a:buClr>
                <a:srgbClr val="1A1A1A"/>
              </a:buClr>
              <a:buSzPts val="1580"/>
              <a:buFont typeface="Cormorant Garamond"/>
              <a:buNone/>
            </a:pPr>
            <a:r>
              <a:rPr b="1" i="1" lang="en-US" sz="2150" u="none" cap="none" strike="noStrike">
                <a:solidFill>
                  <a:srgbClr val="1A1A1A"/>
                </a:solidFill>
                <a:latin typeface="Cormorant Garamond"/>
                <a:ea typeface="Cormorant Garamond"/>
                <a:cs typeface="Cormorant Garamond"/>
                <a:sym typeface="Cormorant Garamond"/>
              </a:rPr>
              <a:t>$200M</a:t>
            </a:r>
            <a:endParaRPr b="1" i="0" sz="2150" u="none" cap="none" strike="noStrike">
              <a:solidFill>
                <a:schemeClr val="dk1"/>
              </a:solidFill>
              <a:latin typeface="Calibri"/>
              <a:ea typeface="Calibri"/>
              <a:cs typeface="Calibri"/>
              <a:sym typeface="Calibri"/>
            </a:endParaRPr>
          </a:p>
        </p:txBody>
      </p:sp>
      <p:sp>
        <p:nvSpPr>
          <p:cNvPr id="71" name="Google Shape;71;p3"/>
          <p:cNvSpPr/>
          <p:nvPr/>
        </p:nvSpPr>
        <p:spPr>
          <a:xfrm>
            <a:off x="1920776" y="4429423"/>
            <a:ext cx="1090613"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ISSUED</a:t>
            </a:r>
            <a:endParaRPr b="0" i="0" sz="590" u="none" cap="none" strike="noStrike">
              <a:solidFill>
                <a:schemeClr val="dk1"/>
              </a:solidFill>
              <a:latin typeface="Calibri"/>
              <a:ea typeface="Calibri"/>
              <a:cs typeface="Calibri"/>
              <a:sym typeface="Calibri"/>
            </a:endParaRPr>
          </a:p>
        </p:txBody>
      </p:sp>
      <p:sp>
        <p:nvSpPr>
          <p:cNvPr id="72" name="Google Shape;72;p3"/>
          <p:cNvSpPr/>
          <p:nvPr/>
        </p:nvSpPr>
        <p:spPr>
          <a:xfrm>
            <a:off x="1920776" y="4584725"/>
            <a:ext cx="1090613" cy="300038"/>
          </a:xfrm>
          <a:prstGeom prst="rect">
            <a:avLst/>
          </a:prstGeom>
          <a:noFill/>
          <a:ln>
            <a:noFill/>
          </a:ln>
        </p:spPr>
        <p:txBody>
          <a:bodyPr anchorCtr="0" anchor="t" bIns="0" lIns="0" spcFirstLastPara="1" rIns="0" wrap="square" tIns="0">
            <a:spAutoFit/>
          </a:bodyPr>
          <a:lstStyle/>
          <a:p>
            <a:pPr indent="0" lvl="0" marL="0" marR="0" rtl="0" algn="l">
              <a:lnSpc>
                <a:spcPct val="150379"/>
              </a:lnSpc>
              <a:spcBef>
                <a:spcPts val="0"/>
              </a:spcBef>
              <a:spcAft>
                <a:spcPts val="0"/>
              </a:spcAft>
              <a:buClr>
                <a:srgbClr val="1A1A1A"/>
              </a:buClr>
              <a:buSzPts val="1580"/>
              <a:buFont typeface="Cormorant Garamond"/>
              <a:buNone/>
            </a:pPr>
            <a:r>
              <a:rPr b="0" i="1" lang="en-US" sz="1580" u="none" cap="none" strike="noStrike">
                <a:solidFill>
                  <a:srgbClr val="1A1A1A"/>
                </a:solidFill>
                <a:latin typeface="Cormorant Garamond"/>
                <a:ea typeface="Cormorant Garamond"/>
                <a:cs typeface="Cormorant Garamond"/>
                <a:sym typeface="Cormorant Garamond"/>
              </a:rPr>
              <a:t>Jul 2025</a:t>
            </a:r>
            <a:endParaRPr b="0" i="0" sz="1580" u="none" cap="none" strike="noStrike">
              <a:solidFill>
                <a:schemeClr val="dk1"/>
              </a:solidFill>
              <a:latin typeface="Calibri"/>
              <a:ea typeface="Calibri"/>
              <a:cs typeface="Calibri"/>
              <a:sym typeface="Calibri"/>
            </a:endParaRPr>
          </a:p>
        </p:txBody>
      </p:sp>
      <p:sp>
        <p:nvSpPr>
          <p:cNvPr id="73" name="Google Shape;73;p3"/>
          <p:cNvSpPr/>
          <p:nvPr/>
        </p:nvSpPr>
        <p:spPr>
          <a:xfrm>
            <a:off x="3285753" y="4429423"/>
            <a:ext cx="1243013"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ULTIMATUM</a:t>
            </a:r>
            <a:endParaRPr b="0" i="0" sz="590" u="none" cap="none" strike="noStrike">
              <a:solidFill>
                <a:schemeClr val="dk1"/>
              </a:solidFill>
              <a:latin typeface="Calibri"/>
              <a:ea typeface="Calibri"/>
              <a:cs typeface="Calibri"/>
              <a:sym typeface="Calibri"/>
            </a:endParaRPr>
          </a:p>
        </p:txBody>
      </p:sp>
      <p:sp>
        <p:nvSpPr>
          <p:cNvPr id="74" name="Google Shape;74;p3"/>
          <p:cNvSpPr/>
          <p:nvPr/>
        </p:nvSpPr>
        <p:spPr>
          <a:xfrm>
            <a:off x="3285753" y="4584725"/>
            <a:ext cx="1243013" cy="300038"/>
          </a:xfrm>
          <a:prstGeom prst="rect">
            <a:avLst/>
          </a:prstGeom>
          <a:noFill/>
          <a:ln>
            <a:noFill/>
          </a:ln>
        </p:spPr>
        <p:txBody>
          <a:bodyPr anchorCtr="0" anchor="t" bIns="0" lIns="0" spcFirstLastPara="1" rIns="0" wrap="square" tIns="0">
            <a:spAutoFit/>
          </a:bodyPr>
          <a:lstStyle/>
          <a:p>
            <a:pPr indent="0" lvl="0" marL="0" marR="0" rtl="0" algn="l">
              <a:lnSpc>
                <a:spcPct val="150379"/>
              </a:lnSpc>
              <a:spcBef>
                <a:spcPts val="0"/>
              </a:spcBef>
              <a:spcAft>
                <a:spcPts val="0"/>
              </a:spcAft>
              <a:buClr>
                <a:srgbClr val="1A1A1A"/>
              </a:buClr>
              <a:buSzPts val="1580"/>
              <a:buFont typeface="Cormorant Garamond"/>
              <a:buNone/>
            </a:pPr>
            <a:r>
              <a:rPr b="0" i="1" lang="en-US" sz="1580" u="none" cap="none" strike="noStrike">
                <a:solidFill>
                  <a:srgbClr val="1A1A1A"/>
                </a:solidFill>
                <a:latin typeface="Cormorant Garamond"/>
                <a:ea typeface="Cormorant Garamond"/>
                <a:cs typeface="Cormorant Garamond"/>
                <a:sym typeface="Cormorant Garamond"/>
              </a:rPr>
              <a:t>Feb 2026</a:t>
            </a:r>
            <a:endParaRPr b="0" i="0" sz="1580" u="none" cap="none" strike="noStrike">
              <a:solidFill>
                <a:schemeClr val="dk1"/>
              </a:solidFill>
              <a:latin typeface="Calibri"/>
              <a:ea typeface="Calibri"/>
              <a:cs typeface="Calibri"/>
              <a:sym typeface="Calibri"/>
            </a:endParaRPr>
          </a:p>
        </p:txBody>
      </p:sp>
      <p:sp>
        <p:nvSpPr>
          <p:cNvPr id="75" name="Google Shape;75;p3"/>
          <p:cNvSpPr/>
          <p:nvPr/>
        </p:nvSpPr>
        <p:spPr>
          <a:xfrm>
            <a:off x="4985965" y="1013929"/>
            <a:ext cx="3700463"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1A1A1A"/>
              </a:buClr>
              <a:buSzPts val="650"/>
              <a:buFont typeface="Inter"/>
              <a:buNone/>
            </a:pPr>
            <a:r>
              <a:rPr b="0" i="0" lang="en-US" sz="650" u="none" cap="none" strike="noStrike">
                <a:solidFill>
                  <a:srgbClr val="1A1A1A"/>
                </a:solidFill>
                <a:latin typeface="Inter"/>
                <a:ea typeface="Inter"/>
                <a:cs typeface="Inter"/>
                <a:sym typeface="Inter"/>
              </a:rPr>
              <a:t>TIMELINE — FEB – MAY 2026</a:t>
            </a:r>
            <a:endParaRPr b="0" i="0" sz="650" u="none" cap="none" strike="noStrike">
              <a:solidFill>
                <a:schemeClr val="dk1"/>
              </a:solidFill>
              <a:latin typeface="Calibri"/>
              <a:ea typeface="Calibri"/>
              <a:cs typeface="Calibri"/>
              <a:sym typeface="Calibri"/>
            </a:endParaRPr>
          </a:p>
        </p:txBody>
      </p:sp>
      <p:sp>
        <p:nvSpPr>
          <p:cNvPr id="76" name="Google Shape;76;p3"/>
          <p:cNvSpPr/>
          <p:nvPr/>
        </p:nvSpPr>
        <p:spPr>
          <a:xfrm>
            <a:off x="4985965" y="1266416"/>
            <a:ext cx="3700463" cy="328613"/>
          </a:xfrm>
          <a:prstGeom prst="rect">
            <a:avLst/>
          </a:prstGeom>
          <a:noFill/>
          <a:ln>
            <a:noFill/>
          </a:ln>
        </p:spPr>
        <p:txBody>
          <a:bodyPr anchorCtr="0" anchor="t" bIns="0" lIns="0" spcFirstLastPara="1" rIns="0" wrap="square" tIns="0">
            <a:spAutoFit/>
          </a:bodyPr>
          <a:lstStyle/>
          <a:p>
            <a:pPr indent="0" lvl="0" marL="0" marR="0" rtl="0" algn="l">
              <a:lnSpc>
                <a:spcPct val="149913"/>
              </a:lnSpc>
              <a:spcBef>
                <a:spcPts val="0"/>
              </a:spcBef>
              <a:spcAft>
                <a:spcPts val="0"/>
              </a:spcAft>
              <a:buClr>
                <a:srgbClr val="1A1A1A"/>
              </a:buClr>
              <a:buSzPts val="1729"/>
              <a:buFont typeface="Cormorant Garamond"/>
              <a:buNone/>
            </a:pPr>
            <a:r>
              <a:rPr b="0" i="1" lang="en-US" sz="1730" u="none" cap="none" strike="noStrike">
                <a:solidFill>
                  <a:srgbClr val="1A1A1A"/>
                </a:solidFill>
                <a:latin typeface="Cormorant Garamond"/>
                <a:ea typeface="Cormorant Garamond"/>
                <a:cs typeface="Cormorant Garamond"/>
                <a:sym typeface="Cormorant Garamond"/>
              </a:rPr>
              <a:t>The principals.</a:t>
            </a:r>
            <a:endParaRPr b="0" i="0" sz="1730" u="none" cap="none" strike="noStrike">
              <a:solidFill>
                <a:schemeClr val="dk1"/>
              </a:solidFill>
              <a:latin typeface="Calibri"/>
              <a:ea typeface="Calibri"/>
              <a:cs typeface="Calibri"/>
              <a:sym typeface="Calibri"/>
            </a:endParaRPr>
          </a:p>
        </p:txBody>
      </p:sp>
      <p:sp>
        <p:nvSpPr>
          <p:cNvPr id="77" name="Google Shape;77;p3"/>
          <p:cNvSpPr/>
          <p:nvPr/>
        </p:nvSpPr>
        <p:spPr>
          <a:xfrm>
            <a:off x="4986524" y="1723876"/>
            <a:ext cx="180975" cy="4763"/>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4985965" y="1780468"/>
            <a:ext cx="3700463" cy="91916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4984626" y="1893354"/>
            <a:ext cx="276225" cy="219075"/>
          </a:xfrm>
          <a:prstGeom prst="rect">
            <a:avLst/>
          </a:prstGeom>
          <a:noFill/>
          <a:ln>
            <a:noFill/>
          </a:ln>
        </p:spPr>
        <p:txBody>
          <a:bodyPr anchorCtr="0" anchor="t" bIns="0" lIns="0" spcFirstLastPara="1" rIns="0" wrap="square" tIns="0">
            <a:spAutoFit/>
          </a:bodyPr>
          <a:lstStyle/>
          <a:p>
            <a:pPr indent="0" lvl="0" marL="0" marR="0" rtl="0" algn="l">
              <a:lnSpc>
                <a:spcPct val="150260"/>
              </a:lnSpc>
              <a:spcBef>
                <a:spcPts val="0"/>
              </a:spcBef>
              <a:spcAft>
                <a:spcPts val="0"/>
              </a:spcAft>
              <a:buClr>
                <a:srgbClr val="8A5A3B"/>
              </a:buClr>
              <a:buSzPts val="1150"/>
              <a:buFont typeface="Cormorant Garamond"/>
              <a:buNone/>
            </a:pPr>
            <a:r>
              <a:rPr b="0" i="1" lang="en-US" sz="1150" u="none" cap="none" strike="noStrike">
                <a:solidFill>
                  <a:srgbClr val="8A5A3B"/>
                </a:solidFill>
                <a:latin typeface="Cormorant Garamond"/>
                <a:ea typeface="Cormorant Garamond"/>
                <a:cs typeface="Cormorant Garamond"/>
                <a:sym typeface="Cormorant Garamond"/>
              </a:rPr>
              <a:t>I.</a:t>
            </a:r>
            <a:endParaRPr b="0" i="0" sz="1150" u="none" cap="none" strike="noStrike">
              <a:solidFill>
                <a:schemeClr val="dk1"/>
              </a:solidFill>
              <a:latin typeface="Calibri"/>
              <a:ea typeface="Calibri"/>
              <a:cs typeface="Calibri"/>
              <a:sym typeface="Calibri"/>
            </a:endParaRPr>
          </a:p>
        </p:txBody>
      </p:sp>
      <p:sp>
        <p:nvSpPr>
          <p:cNvPr id="80" name="Google Shape;80;p3"/>
          <p:cNvSpPr/>
          <p:nvPr/>
        </p:nvSpPr>
        <p:spPr>
          <a:xfrm>
            <a:off x="5396471" y="1893354"/>
            <a:ext cx="3290887" cy="219075"/>
          </a:xfrm>
          <a:prstGeom prst="rect">
            <a:avLst/>
          </a:prstGeom>
          <a:noFill/>
          <a:ln>
            <a:noFill/>
          </a:ln>
        </p:spPr>
        <p:txBody>
          <a:bodyPr anchorCtr="0" anchor="t" bIns="0" lIns="0" spcFirstLastPara="1" rIns="0" wrap="square" tIns="0">
            <a:spAutoFit/>
          </a:bodyPr>
          <a:lstStyle/>
          <a:p>
            <a:pPr indent="0" lvl="0" marL="0" marR="0" rtl="0" algn="l">
              <a:lnSpc>
                <a:spcPct val="150260"/>
              </a:lnSpc>
              <a:spcBef>
                <a:spcPts val="0"/>
              </a:spcBef>
              <a:spcAft>
                <a:spcPts val="0"/>
              </a:spcAft>
              <a:buClr>
                <a:srgbClr val="1A1A1A"/>
              </a:buClr>
              <a:buSzPts val="1150"/>
              <a:buFont typeface="Cormorant Garamond"/>
              <a:buNone/>
            </a:pPr>
            <a:r>
              <a:rPr i="1" lang="en-US" sz="1150" u="none" cap="none" strike="noStrike">
                <a:solidFill>
                  <a:srgbClr val="1A1A1A"/>
                </a:solidFill>
                <a:latin typeface="Cormorant Garamond"/>
                <a:ea typeface="Cormorant Garamond"/>
                <a:cs typeface="Cormorant Garamond"/>
                <a:sym typeface="Cormorant Garamond"/>
              </a:rPr>
              <a:t>Demand</a:t>
            </a:r>
            <a:endParaRPr i="1" sz="1150" u="none" cap="none" strike="noStrike">
              <a:solidFill>
                <a:schemeClr val="dk1"/>
              </a:solidFill>
              <a:latin typeface="Calibri"/>
              <a:ea typeface="Calibri"/>
              <a:cs typeface="Calibri"/>
              <a:sym typeface="Calibri"/>
            </a:endParaRPr>
          </a:p>
        </p:txBody>
      </p:sp>
      <p:sp>
        <p:nvSpPr>
          <p:cNvPr id="81" name="Google Shape;81;p3"/>
          <p:cNvSpPr/>
          <p:nvPr/>
        </p:nvSpPr>
        <p:spPr>
          <a:xfrm>
            <a:off x="5396471" y="2143720"/>
            <a:ext cx="3290887" cy="4381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2E2C28"/>
              </a:buClr>
              <a:buSzPts val="1080"/>
              <a:buFont typeface="Inter"/>
              <a:buNone/>
            </a:pPr>
            <a:r>
              <a:rPr b="0" i="1" lang="en-US" sz="1080" u="none" cap="none" strike="noStrike">
                <a:solidFill>
                  <a:srgbClr val="2E2C28"/>
                </a:solidFill>
                <a:latin typeface="Inter"/>
                <a:ea typeface="Inter"/>
                <a:cs typeface="Inter"/>
                <a:sym typeface="Inter"/>
              </a:rPr>
              <a:t>Lift </a:t>
            </a:r>
            <a:r>
              <a:rPr i="1" lang="en-US" sz="1080">
                <a:solidFill>
                  <a:srgbClr val="2E2C28"/>
                </a:solidFill>
                <a:latin typeface="Inter"/>
                <a:ea typeface="Inter"/>
                <a:cs typeface="Inter"/>
                <a:sym typeface="Inter"/>
              </a:rPr>
              <a:t>Anthropic’s</a:t>
            </a:r>
            <a:r>
              <a:rPr b="0" i="1" lang="en-US" sz="1080" u="none" cap="none" strike="noStrike">
                <a:solidFill>
                  <a:srgbClr val="2E2C28"/>
                </a:solidFill>
                <a:latin typeface="Inter"/>
                <a:ea typeface="Inter"/>
                <a:cs typeface="Inter"/>
                <a:sym typeface="Inter"/>
              </a:rPr>
              <a:t> hard limits on autonomous lethality and mass surveillance.</a:t>
            </a:r>
            <a:endParaRPr b="0" i="1" sz="1080" u="none" cap="none" strike="noStrike">
              <a:solidFill>
                <a:schemeClr val="dk1"/>
              </a:solidFill>
              <a:latin typeface="Calibri"/>
              <a:ea typeface="Calibri"/>
              <a:cs typeface="Calibri"/>
              <a:sym typeface="Calibri"/>
            </a:endParaRPr>
          </a:p>
        </p:txBody>
      </p:sp>
      <p:sp>
        <p:nvSpPr>
          <p:cNvPr id="82" name="Google Shape;82;p3"/>
          <p:cNvSpPr/>
          <p:nvPr/>
        </p:nvSpPr>
        <p:spPr>
          <a:xfrm>
            <a:off x="4985965" y="2700449"/>
            <a:ext cx="3700463" cy="91916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4984626" y="2813335"/>
            <a:ext cx="276225" cy="219075"/>
          </a:xfrm>
          <a:prstGeom prst="rect">
            <a:avLst/>
          </a:prstGeom>
          <a:noFill/>
          <a:ln>
            <a:noFill/>
          </a:ln>
        </p:spPr>
        <p:txBody>
          <a:bodyPr anchorCtr="0" anchor="t" bIns="0" lIns="0" spcFirstLastPara="1" rIns="0" wrap="square" tIns="0">
            <a:spAutoFit/>
          </a:bodyPr>
          <a:lstStyle/>
          <a:p>
            <a:pPr indent="0" lvl="0" marL="0" marR="0" rtl="0" algn="l">
              <a:lnSpc>
                <a:spcPct val="150260"/>
              </a:lnSpc>
              <a:spcBef>
                <a:spcPts val="0"/>
              </a:spcBef>
              <a:spcAft>
                <a:spcPts val="0"/>
              </a:spcAft>
              <a:buClr>
                <a:srgbClr val="8A5A3B"/>
              </a:buClr>
              <a:buSzPts val="1150"/>
              <a:buFont typeface="Cormorant Garamond"/>
              <a:buNone/>
            </a:pPr>
            <a:r>
              <a:rPr b="0" i="1" lang="en-US" sz="1150" u="none" cap="none" strike="noStrike">
                <a:solidFill>
                  <a:srgbClr val="8A5A3B"/>
                </a:solidFill>
                <a:latin typeface="Cormorant Garamond"/>
                <a:ea typeface="Cormorant Garamond"/>
                <a:cs typeface="Cormorant Garamond"/>
                <a:sym typeface="Cormorant Garamond"/>
              </a:rPr>
              <a:t>II.</a:t>
            </a:r>
            <a:endParaRPr b="0" i="0" sz="1150" u="none" cap="none" strike="noStrike">
              <a:solidFill>
                <a:schemeClr val="dk1"/>
              </a:solidFill>
              <a:latin typeface="Calibri"/>
              <a:ea typeface="Calibri"/>
              <a:cs typeface="Calibri"/>
              <a:sym typeface="Calibri"/>
            </a:endParaRPr>
          </a:p>
        </p:txBody>
      </p:sp>
      <p:sp>
        <p:nvSpPr>
          <p:cNvPr id="84" name="Google Shape;84;p3"/>
          <p:cNvSpPr/>
          <p:nvPr/>
        </p:nvSpPr>
        <p:spPr>
          <a:xfrm>
            <a:off x="5396471" y="2813335"/>
            <a:ext cx="3290887" cy="219075"/>
          </a:xfrm>
          <a:prstGeom prst="rect">
            <a:avLst/>
          </a:prstGeom>
          <a:noFill/>
          <a:ln>
            <a:noFill/>
          </a:ln>
        </p:spPr>
        <p:txBody>
          <a:bodyPr anchorCtr="0" anchor="t" bIns="0" lIns="0" spcFirstLastPara="1" rIns="0" wrap="square" tIns="0">
            <a:spAutoFit/>
          </a:bodyPr>
          <a:lstStyle/>
          <a:p>
            <a:pPr indent="0" lvl="0" marL="0" marR="0" rtl="0" algn="l">
              <a:lnSpc>
                <a:spcPct val="150260"/>
              </a:lnSpc>
              <a:spcBef>
                <a:spcPts val="0"/>
              </a:spcBef>
              <a:spcAft>
                <a:spcPts val="0"/>
              </a:spcAft>
              <a:buClr>
                <a:srgbClr val="1A1A1A"/>
              </a:buClr>
              <a:buSzPts val="1150"/>
              <a:buFont typeface="Cormorant Garamond"/>
              <a:buNone/>
            </a:pPr>
            <a:r>
              <a:rPr b="0" i="1" lang="en-US" sz="1150" u="none" cap="none" strike="noStrike">
                <a:solidFill>
                  <a:srgbClr val="1A1A1A"/>
                </a:solidFill>
                <a:latin typeface="Cormorant Garamond"/>
                <a:ea typeface="Cormorant Garamond"/>
                <a:cs typeface="Cormorant Garamond"/>
                <a:sym typeface="Cormorant Garamond"/>
              </a:rPr>
              <a:t>Leverage</a:t>
            </a:r>
            <a:endParaRPr b="0" i="0" sz="1150" u="none" cap="none" strike="noStrike">
              <a:solidFill>
                <a:schemeClr val="dk1"/>
              </a:solidFill>
              <a:latin typeface="Calibri"/>
              <a:ea typeface="Calibri"/>
              <a:cs typeface="Calibri"/>
              <a:sym typeface="Calibri"/>
            </a:endParaRPr>
          </a:p>
        </p:txBody>
      </p:sp>
      <p:sp>
        <p:nvSpPr>
          <p:cNvPr id="85" name="Google Shape;85;p3"/>
          <p:cNvSpPr/>
          <p:nvPr/>
        </p:nvSpPr>
        <p:spPr>
          <a:xfrm>
            <a:off x="5396471" y="3063701"/>
            <a:ext cx="3290887" cy="4381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2E2C28"/>
              </a:buClr>
              <a:buSzPts val="1080"/>
              <a:buFont typeface="Inter"/>
              <a:buNone/>
            </a:pPr>
            <a:r>
              <a:rPr b="0" i="1" lang="en-US" sz="1080" u="none" cap="none" strike="noStrike">
                <a:solidFill>
                  <a:srgbClr val="2E2C28"/>
                </a:solidFill>
                <a:latin typeface="Inter"/>
                <a:ea typeface="Inter"/>
                <a:cs typeface="Inter"/>
                <a:sym typeface="Inter"/>
              </a:rPr>
              <a:t>$200M federal pipeline conditioned on full compliance.</a:t>
            </a:r>
            <a:endParaRPr b="0" i="1" sz="1080" u="none" cap="none" strike="noStrike">
              <a:solidFill>
                <a:schemeClr val="dk1"/>
              </a:solidFill>
              <a:latin typeface="Calibri"/>
              <a:ea typeface="Calibri"/>
              <a:cs typeface="Calibri"/>
              <a:sym typeface="Calibri"/>
            </a:endParaRPr>
          </a:p>
        </p:txBody>
      </p:sp>
      <p:sp>
        <p:nvSpPr>
          <p:cNvPr id="86" name="Google Shape;86;p3"/>
          <p:cNvSpPr/>
          <p:nvPr/>
        </p:nvSpPr>
        <p:spPr>
          <a:xfrm>
            <a:off x="4985965" y="3620430"/>
            <a:ext cx="3700463" cy="91916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4984626" y="3733316"/>
            <a:ext cx="276225" cy="219075"/>
          </a:xfrm>
          <a:prstGeom prst="rect">
            <a:avLst/>
          </a:prstGeom>
          <a:noFill/>
          <a:ln>
            <a:noFill/>
          </a:ln>
        </p:spPr>
        <p:txBody>
          <a:bodyPr anchorCtr="0" anchor="t" bIns="0" lIns="0" spcFirstLastPara="1" rIns="0" wrap="square" tIns="0">
            <a:spAutoFit/>
          </a:bodyPr>
          <a:lstStyle/>
          <a:p>
            <a:pPr indent="0" lvl="0" marL="0" marR="0" rtl="0" algn="l">
              <a:lnSpc>
                <a:spcPct val="150260"/>
              </a:lnSpc>
              <a:spcBef>
                <a:spcPts val="0"/>
              </a:spcBef>
              <a:spcAft>
                <a:spcPts val="0"/>
              </a:spcAft>
              <a:buClr>
                <a:srgbClr val="8A5A3B"/>
              </a:buClr>
              <a:buSzPts val="1150"/>
              <a:buFont typeface="Cormorant Garamond"/>
              <a:buNone/>
            </a:pPr>
            <a:r>
              <a:rPr b="0" i="1" lang="en-US" sz="1150" u="none" cap="none" strike="noStrike">
                <a:solidFill>
                  <a:srgbClr val="8A5A3B"/>
                </a:solidFill>
                <a:latin typeface="Cormorant Garamond"/>
                <a:ea typeface="Cormorant Garamond"/>
                <a:cs typeface="Cormorant Garamond"/>
                <a:sym typeface="Cormorant Garamond"/>
              </a:rPr>
              <a:t>III.</a:t>
            </a:r>
            <a:endParaRPr b="0" i="0" sz="1150" u="none" cap="none" strike="noStrike">
              <a:solidFill>
                <a:schemeClr val="dk1"/>
              </a:solidFill>
              <a:latin typeface="Calibri"/>
              <a:ea typeface="Calibri"/>
              <a:cs typeface="Calibri"/>
              <a:sym typeface="Calibri"/>
            </a:endParaRPr>
          </a:p>
        </p:txBody>
      </p:sp>
      <p:sp>
        <p:nvSpPr>
          <p:cNvPr id="88" name="Google Shape;88;p3"/>
          <p:cNvSpPr/>
          <p:nvPr/>
        </p:nvSpPr>
        <p:spPr>
          <a:xfrm>
            <a:off x="5396471" y="3733316"/>
            <a:ext cx="3290887" cy="219075"/>
          </a:xfrm>
          <a:prstGeom prst="rect">
            <a:avLst/>
          </a:prstGeom>
          <a:noFill/>
          <a:ln>
            <a:noFill/>
          </a:ln>
        </p:spPr>
        <p:txBody>
          <a:bodyPr anchorCtr="0" anchor="t" bIns="0" lIns="0" spcFirstLastPara="1" rIns="0" wrap="square" tIns="0">
            <a:spAutoFit/>
          </a:bodyPr>
          <a:lstStyle/>
          <a:p>
            <a:pPr indent="0" lvl="0" marL="0" marR="0" rtl="0" algn="l">
              <a:lnSpc>
                <a:spcPct val="150260"/>
              </a:lnSpc>
              <a:spcBef>
                <a:spcPts val="0"/>
              </a:spcBef>
              <a:spcAft>
                <a:spcPts val="0"/>
              </a:spcAft>
              <a:buClr>
                <a:srgbClr val="1A1A1A"/>
              </a:buClr>
              <a:buSzPts val="1150"/>
              <a:buFont typeface="Cormorant Garamond"/>
              <a:buNone/>
            </a:pPr>
            <a:r>
              <a:rPr b="0" i="1" lang="en-US" sz="1150" u="none" cap="none" strike="noStrike">
                <a:solidFill>
                  <a:srgbClr val="1A1A1A"/>
                </a:solidFill>
                <a:latin typeface="Cormorant Garamond"/>
                <a:ea typeface="Cormorant Garamond"/>
                <a:cs typeface="Cormorant Garamond"/>
                <a:sym typeface="Cormorant Garamond"/>
              </a:rPr>
              <a:t>Reprisal</a:t>
            </a:r>
            <a:endParaRPr b="0" i="0" sz="1150" u="none" cap="none" strike="noStrike">
              <a:solidFill>
                <a:schemeClr val="dk1"/>
              </a:solidFill>
              <a:latin typeface="Calibri"/>
              <a:ea typeface="Calibri"/>
              <a:cs typeface="Calibri"/>
              <a:sym typeface="Calibri"/>
            </a:endParaRPr>
          </a:p>
        </p:txBody>
      </p:sp>
      <p:sp>
        <p:nvSpPr>
          <p:cNvPr id="89" name="Google Shape;89;p3"/>
          <p:cNvSpPr/>
          <p:nvPr/>
        </p:nvSpPr>
        <p:spPr>
          <a:xfrm>
            <a:off x="5396471" y="3983682"/>
            <a:ext cx="3290887" cy="4381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2E2C28"/>
              </a:buClr>
              <a:buSzPts val="1080"/>
              <a:buFont typeface="Inter"/>
              <a:buNone/>
            </a:pPr>
            <a:r>
              <a:rPr i="1" lang="en-US" sz="1080" cap="none" strike="noStrike">
                <a:solidFill>
                  <a:srgbClr val="2E2C28"/>
                </a:solidFill>
                <a:latin typeface="Inter"/>
                <a:ea typeface="Inter"/>
                <a:cs typeface="Inter"/>
                <a:sym typeface="Inter"/>
              </a:rPr>
              <a:t>Refusal triggers blacklist designation and contract revocation.</a:t>
            </a:r>
            <a:endParaRPr i="1" sz="1080" cap="none" strike="noStrike">
              <a:solidFill>
                <a:schemeClr val="dk1"/>
              </a:solidFill>
              <a:latin typeface="Calibri"/>
              <a:ea typeface="Calibri"/>
              <a:cs typeface="Calibri"/>
              <a:sym typeface="Calibri"/>
            </a:endParaRPr>
          </a:p>
        </p:txBody>
      </p:sp>
      <p:pic>
        <p:nvPicPr>
          <p:cNvPr descr="preencoded.png" id="90" name="Google Shape;90;p3"/>
          <p:cNvPicPr preferRelativeResize="0"/>
          <p:nvPr/>
        </p:nvPicPr>
        <p:blipFill rotWithShape="1">
          <a:blip r:embed="rId3">
            <a:alphaModFix/>
          </a:blip>
          <a:srcRect b="0" l="0" r="0" t="0"/>
          <a:stretch/>
        </p:blipFill>
        <p:spPr>
          <a:xfrm rot="10800000">
            <a:off x="430100" y="3430836"/>
            <a:ext cx="4071950" cy="867550"/>
          </a:xfrm>
          <a:prstGeom prst="rect">
            <a:avLst/>
          </a:prstGeom>
          <a:noFill/>
          <a:ln>
            <a:noFill/>
          </a:ln>
        </p:spPr>
      </p:pic>
      <p:sp>
        <p:nvSpPr>
          <p:cNvPr id="91" name="Google Shape;91;p3"/>
          <p:cNvSpPr/>
          <p:nvPr/>
        </p:nvSpPr>
        <p:spPr>
          <a:xfrm>
            <a:off x="458316" y="256989"/>
            <a:ext cx="1376363"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1A1A1A"/>
              </a:buClr>
              <a:buSzPts val="650"/>
              <a:buFont typeface="Inter"/>
              <a:buNone/>
            </a:pPr>
            <a:r>
              <a:rPr b="0" i="0" lang="en-US" sz="650" u="none" cap="none" strike="noStrike">
                <a:solidFill>
                  <a:srgbClr val="1A1A1A"/>
                </a:solidFill>
                <a:latin typeface="Inter"/>
                <a:ea typeface="Inter"/>
                <a:cs typeface="Inter"/>
                <a:sym typeface="Inter"/>
              </a:rPr>
              <a:t>ORIGIN — THE OFFER</a:t>
            </a:r>
            <a:endParaRPr b="0" i="0" sz="650" u="none" cap="none" strike="noStrike">
              <a:solidFill>
                <a:schemeClr val="dk1"/>
              </a:solidFill>
              <a:latin typeface="Calibri"/>
              <a:ea typeface="Calibri"/>
              <a:cs typeface="Calibri"/>
              <a:sym typeface="Calibri"/>
            </a:endParaRPr>
          </a:p>
        </p:txBody>
      </p:sp>
      <p:sp>
        <p:nvSpPr>
          <p:cNvPr id="92" name="Google Shape;92;p3"/>
          <p:cNvSpPr/>
          <p:nvPr/>
        </p:nvSpPr>
        <p:spPr>
          <a:xfrm>
            <a:off x="8167390" y="256989"/>
            <a:ext cx="519112"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5C5752"/>
              </a:buClr>
              <a:buSzPts val="650"/>
              <a:buFont typeface="Inter"/>
              <a:buNone/>
            </a:pPr>
            <a:r>
              <a:rPr b="0" i="0" lang="en-US" sz="650" u="none" cap="none" strike="noStrike">
                <a:solidFill>
                  <a:srgbClr val="5C5752"/>
                </a:solidFill>
                <a:latin typeface="Inter"/>
                <a:ea typeface="Inter"/>
                <a:cs typeface="Inter"/>
                <a:sym typeface="Inter"/>
              </a:rPr>
              <a:t>03 — 10</a:t>
            </a:r>
            <a:endParaRPr b="0" i="0" sz="650" u="none" cap="none" strike="noStrike">
              <a:solidFill>
                <a:schemeClr val="dk1"/>
              </a:solidFill>
              <a:latin typeface="Calibri"/>
              <a:ea typeface="Calibri"/>
              <a:cs typeface="Calibri"/>
              <a:sym typeface="Calibri"/>
            </a:endParaRPr>
          </a:p>
        </p:txBody>
      </p:sp>
      <p:sp>
        <p:nvSpPr>
          <p:cNvPr id="93" name="Google Shape;93;p3"/>
          <p:cNvSpPr/>
          <p:nvPr/>
        </p:nvSpPr>
        <p:spPr>
          <a:xfrm>
            <a:off x="456158" y="4824412"/>
            <a:ext cx="419100"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ORIGIN</a:t>
            </a:r>
            <a:endParaRPr b="0" i="0" sz="590" u="none" cap="none" strike="noStrike">
              <a:solidFill>
                <a:schemeClr val="dk1"/>
              </a:solidFill>
              <a:latin typeface="Calibri"/>
              <a:ea typeface="Calibri"/>
              <a:cs typeface="Calibri"/>
              <a:sym typeface="Calibri"/>
            </a:endParaRPr>
          </a:p>
        </p:txBody>
      </p:sp>
      <p:sp>
        <p:nvSpPr>
          <p:cNvPr id="94" name="Google Shape;94;p3"/>
          <p:cNvSpPr/>
          <p:nvPr/>
        </p:nvSpPr>
        <p:spPr>
          <a:xfrm>
            <a:off x="7386489" y="4824412"/>
            <a:ext cx="1300163"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03 — THE ULTIMATUM</a:t>
            </a:r>
            <a:endParaRPr b="0" i="0" sz="59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4"/>
          <p:cNvSpPr/>
          <p:nvPr/>
        </p:nvSpPr>
        <p:spPr>
          <a:xfrm>
            <a:off x="0" y="0"/>
            <a:ext cx="9144000" cy="5143500"/>
          </a:xfrm>
          <a:prstGeom prst="rect">
            <a:avLst/>
          </a:prstGeom>
          <a:solidFill>
            <a:srgbClr val="FAF8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a:off x="457014" y="668424"/>
            <a:ext cx="4157663"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5C5752"/>
              </a:buClr>
              <a:buSzPts val="650"/>
              <a:buFont typeface="Inter"/>
              <a:buNone/>
            </a:pPr>
            <a:r>
              <a:rPr b="0" i="0" lang="en-US" sz="850" u="none" cap="none" strike="noStrike">
                <a:solidFill>
                  <a:srgbClr val="5C5752"/>
                </a:solidFill>
                <a:latin typeface="Inter"/>
                <a:ea typeface="Inter"/>
                <a:cs typeface="Inter"/>
                <a:sym typeface="Inter"/>
              </a:rPr>
              <a:t>ANTHROPIC — PUBLIC USAGE POLICY</a:t>
            </a:r>
            <a:endParaRPr b="0" i="0" sz="850" u="none" cap="none" strike="noStrike">
              <a:solidFill>
                <a:schemeClr val="dk1"/>
              </a:solidFill>
              <a:latin typeface="Calibri"/>
              <a:ea typeface="Calibri"/>
              <a:cs typeface="Calibri"/>
              <a:sym typeface="Calibri"/>
            </a:endParaRPr>
          </a:p>
        </p:txBody>
      </p:sp>
      <p:sp>
        <p:nvSpPr>
          <p:cNvPr id="102" name="Google Shape;102;p4"/>
          <p:cNvSpPr/>
          <p:nvPr/>
        </p:nvSpPr>
        <p:spPr>
          <a:xfrm>
            <a:off x="457014" y="895424"/>
            <a:ext cx="4157663" cy="9667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1A1A1A"/>
              </a:buClr>
              <a:buSzPts val="3890"/>
              <a:buFont typeface="Cormorant Garamond"/>
              <a:buNone/>
            </a:pPr>
            <a:r>
              <a:rPr b="0" i="1" lang="en-US" sz="3890" u="none" cap="none" strike="noStrike">
                <a:solidFill>
                  <a:srgbClr val="1A1A1A"/>
                </a:solidFill>
                <a:latin typeface="Cormorant Garamond"/>
                <a:ea typeface="Cormorant Garamond"/>
                <a:cs typeface="Cormorant Garamond"/>
                <a:sym typeface="Cormorant Garamond"/>
              </a:rPr>
              <a:t>The Hard</a:t>
            </a:r>
            <a:endParaRPr b="0" i="0" sz="3890" u="none" cap="none" strike="noStrike">
              <a:solidFill>
                <a:schemeClr val="dk1"/>
              </a:solidFill>
              <a:latin typeface="Calibri"/>
              <a:ea typeface="Calibri"/>
              <a:cs typeface="Calibri"/>
              <a:sym typeface="Calibri"/>
            </a:endParaRPr>
          </a:p>
          <a:p>
            <a:pPr indent="0" lvl="0" marL="0" marR="0" rtl="0" algn="l">
              <a:lnSpc>
                <a:spcPct val="97943"/>
              </a:lnSpc>
              <a:spcBef>
                <a:spcPts val="0"/>
              </a:spcBef>
              <a:spcAft>
                <a:spcPts val="0"/>
              </a:spcAft>
              <a:buClr>
                <a:srgbClr val="1A1A1A"/>
              </a:buClr>
              <a:buSzPts val="3890"/>
              <a:buFont typeface="Cormorant Garamond"/>
              <a:buNone/>
            </a:pPr>
            <a:r>
              <a:rPr b="0" i="1" lang="en-US" sz="3890" u="none" cap="none" strike="noStrike">
                <a:solidFill>
                  <a:srgbClr val="1A1A1A"/>
                </a:solidFill>
                <a:latin typeface="Cormorant Garamond"/>
                <a:ea typeface="Cormorant Garamond"/>
                <a:cs typeface="Cormorant Garamond"/>
                <a:sym typeface="Cormorant Garamond"/>
              </a:rPr>
              <a:t>Limits.</a:t>
            </a:r>
            <a:endParaRPr b="0" i="0" sz="3890" u="none" cap="none" strike="noStrike">
              <a:solidFill>
                <a:schemeClr val="dk1"/>
              </a:solidFill>
              <a:latin typeface="Calibri"/>
              <a:ea typeface="Calibri"/>
              <a:cs typeface="Calibri"/>
              <a:sym typeface="Calibri"/>
            </a:endParaRPr>
          </a:p>
        </p:txBody>
      </p:sp>
      <p:sp>
        <p:nvSpPr>
          <p:cNvPr id="103" name="Google Shape;103;p4"/>
          <p:cNvSpPr/>
          <p:nvPr/>
        </p:nvSpPr>
        <p:spPr>
          <a:xfrm>
            <a:off x="456233" y="2068413"/>
            <a:ext cx="276225" cy="4763"/>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457014" y="2278149"/>
            <a:ext cx="4157663" cy="9763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456233" y="2406737"/>
            <a:ext cx="276300" cy="714300"/>
          </a:xfrm>
          <a:prstGeom prst="rect">
            <a:avLst/>
          </a:prstGeom>
          <a:noFill/>
          <a:ln>
            <a:noFill/>
          </a:ln>
        </p:spPr>
        <p:txBody>
          <a:bodyPr anchorCtr="0" anchor="t" bIns="0" lIns="0" spcFirstLastPara="1" rIns="0" wrap="square" tIns="0">
            <a:spAutoFit/>
          </a:bodyPr>
          <a:lstStyle/>
          <a:p>
            <a:pPr indent="0" lvl="0" marL="0" marR="0" rtl="0" algn="l">
              <a:lnSpc>
                <a:spcPct val="150260"/>
              </a:lnSpc>
              <a:spcBef>
                <a:spcPts val="0"/>
              </a:spcBef>
              <a:spcAft>
                <a:spcPts val="0"/>
              </a:spcAft>
              <a:buClr>
                <a:srgbClr val="8A5A3B"/>
              </a:buClr>
              <a:buSzPts val="1150"/>
              <a:buFont typeface="Cormorant Garamond"/>
              <a:buNone/>
            </a:pPr>
            <a:r>
              <a:rPr b="0" i="1" lang="en-US" sz="1150" u="none" cap="none" strike="noStrike">
                <a:solidFill>
                  <a:srgbClr val="8A5A3B"/>
                </a:solidFill>
                <a:latin typeface="Cormorant Garamond"/>
                <a:ea typeface="Cormorant Garamond"/>
                <a:cs typeface="Cormorant Garamond"/>
                <a:sym typeface="Cormorant Garamond"/>
              </a:rPr>
              <a:t>I.</a:t>
            </a:r>
            <a:endParaRPr b="0" i="0" sz="1150" u="none" cap="none" strike="noStrike">
              <a:solidFill>
                <a:schemeClr val="dk1"/>
              </a:solidFill>
              <a:latin typeface="Calibri"/>
              <a:ea typeface="Calibri"/>
              <a:cs typeface="Calibri"/>
              <a:sym typeface="Calibri"/>
            </a:endParaRPr>
          </a:p>
        </p:txBody>
      </p:sp>
      <p:sp>
        <p:nvSpPr>
          <p:cNvPr id="106" name="Google Shape;106;p4"/>
          <p:cNvSpPr/>
          <p:nvPr/>
        </p:nvSpPr>
        <p:spPr>
          <a:xfrm>
            <a:off x="867519" y="2407332"/>
            <a:ext cx="3748200" cy="233400"/>
          </a:xfrm>
          <a:prstGeom prst="rect">
            <a:avLst/>
          </a:prstGeom>
          <a:noFill/>
          <a:ln>
            <a:noFill/>
          </a:ln>
        </p:spPr>
        <p:txBody>
          <a:bodyPr anchorCtr="0" anchor="t" bIns="0" lIns="0" spcFirstLastPara="1" rIns="0" wrap="square" tIns="0">
            <a:spAutoFit/>
          </a:bodyPr>
          <a:lstStyle/>
          <a:p>
            <a:pPr indent="0" lvl="0" marL="0" marR="0" rtl="0" algn="l">
              <a:lnSpc>
                <a:spcPct val="150491"/>
              </a:lnSpc>
              <a:spcBef>
                <a:spcPts val="0"/>
              </a:spcBef>
              <a:spcAft>
                <a:spcPts val="0"/>
              </a:spcAft>
              <a:buClr>
                <a:srgbClr val="1A1A1A"/>
              </a:buClr>
              <a:buSzPts val="1220"/>
              <a:buFont typeface="Cormorant Garamond"/>
              <a:buNone/>
            </a:pPr>
            <a:r>
              <a:rPr b="0" i="1" lang="en-US" sz="1220" u="none" cap="none" strike="noStrike">
                <a:solidFill>
                  <a:srgbClr val="1A1A1A"/>
                </a:solidFill>
                <a:latin typeface="Cormorant Garamond"/>
                <a:ea typeface="Cormorant Garamond"/>
                <a:cs typeface="Cormorant Garamond"/>
                <a:sym typeface="Cormorant Garamond"/>
              </a:rPr>
              <a:t>No Autonomous Weapons</a:t>
            </a:r>
            <a:endParaRPr b="0" i="0" sz="1220" u="none" cap="none" strike="noStrike">
              <a:solidFill>
                <a:schemeClr val="dk1"/>
              </a:solidFill>
              <a:latin typeface="Calibri"/>
              <a:ea typeface="Calibri"/>
              <a:cs typeface="Calibri"/>
              <a:sym typeface="Calibri"/>
            </a:endParaRPr>
          </a:p>
        </p:txBody>
      </p:sp>
      <p:sp>
        <p:nvSpPr>
          <p:cNvPr id="107" name="Google Shape;107;p4"/>
          <p:cNvSpPr/>
          <p:nvPr/>
        </p:nvSpPr>
        <p:spPr>
          <a:xfrm>
            <a:off x="867519" y="2681957"/>
            <a:ext cx="3748200" cy="438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2E2C28"/>
              </a:buClr>
              <a:buSzPts val="1080"/>
              <a:buFont typeface="Inter"/>
              <a:buNone/>
            </a:pPr>
            <a:r>
              <a:rPr b="0" i="0" lang="en-US" sz="1080" u="none" cap="none" strike="noStrike">
                <a:solidFill>
                  <a:srgbClr val="2E2C28"/>
                </a:solidFill>
                <a:latin typeface="Inter"/>
                <a:ea typeface="Inter"/>
                <a:cs typeface="Inter"/>
                <a:sym typeface="Inter"/>
              </a:rPr>
              <a:t>Claude cannot be deployed for fully autonomous lethal decisions. Human-in-the-loop, always.</a:t>
            </a:r>
            <a:endParaRPr b="0" i="0" sz="1080" u="none" cap="none" strike="noStrike">
              <a:solidFill>
                <a:schemeClr val="dk1"/>
              </a:solidFill>
              <a:latin typeface="Calibri"/>
              <a:ea typeface="Calibri"/>
              <a:cs typeface="Calibri"/>
              <a:sym typeface="Calibri"/>
            </a:endParaRPr>
          </a:p>
        </p:txBody>
      </p:sp>
      <p:sp>
        <p:nvSpPr>
          <p:cNvPr id="108" name="Google Shape;108;p4"/>
          <p:cNvSpPr/>
          <p:nvPr/>
        </p:nvSpPr>
        <p:spPr>
          <a:xfrm>
            <a:off x="457014" y="3253197"/>
            <a:ext cx="4157663" cy="119538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456233" y="3381784"/>
            <a:ext cx="276225" cy="933450"/>
          </a:xfrm>
          <a:prstGeom prst="rect">
            <a:avLst/>
          </a:prstGeom>
          <a:noFill/>
          <a:ln>
            <a:noFill/>
          </a:ln>
        </p:spPr>
        <p:txBody>
          <a:bodyPr anchorCtr="0" anchor="t" bIns="0" lIns="0" spcFirstLastPara="1" rIns="0" wrap="square" tIns="0">
            <a:spAutoFit/>
          </a:bodyPr>
          <a:lstStyle/>
          <a:p>
            <a:pPr indent="0" lvl="0" marL="0" marR="0" rtl="0" algn="l">
              <a:lnSpc>
                <a:spcPct val="150260"/>
              </a:lnSpc>
              <a:spcBef>
                <a:spcPts val="0"/>
              </a:spcBef>
              <a:spcAft>
                <a:spcPts val="0"/>
              </a:spcAft>
              <a:buClr>
                <a:srgbClr val="8A5A3B"/>
              </a:buClr>
              <a:buSzPts val="1150"/>
              <a:buFont typeface="Cormorant Garamond"/>
              <a:buNone/>
            </a:pPr>
            <a:r>
              <a:rPr b="0" i="1" lang="en-US" sz="1150" u="none" cap="none" strike="noStrike">
                <a:solidFill>
                  <a:srgbClr val="8A5A3B"/>
                </a:solidFill>
                <a:latin typeface="Cormorant Garamond"/>
                <a:ea typeface="Cormorant Garamond"/>
                <a:cs typeface="Cormorant Garamond"/>
                <a:sym typeface="Cormorant Garamond"/>
              </a:rPr>
              <a:t>II.</a:t>
            </a:r>
            <a:endParaRPr b="0" i="0" sz="1150" u="none" cap="none" strike="noStrike">
              <a:solidFill>
                <a:schemeClr val="dk1"/>
              </a:solidFill>
              <a:latin typeface="Calibri"/>
              <a:ea typeface="Calibri"/>
              <a:cs typeface="Calibri"/>
              <a:sym typeface="Calibri"/>
            </a:endParaRPr>
          </a:p>
        </p:txBody>
      </p:sp>
      <p:sp>
        <p:nvSpPr>
          <p:cNvPr id="110" name="Google Shape;110;p4"/>
          <p:cNvSpPr/>
          <p:nvPr/>
        </p:nvSpPr>
        <p:spPr>
          <a:xfrm>
            <a:off x="867519" y="3382231"/>
            <a:ext cx="3748087" cy="233362"/>
          </a:xfrm>
          <a:prstGeom prst="rect">
            <a:avLst/>
          </a:prstGeom>
          <a:noFill/>
          <a:ln>
            <a:noFill/>
          </a:ln>
        </p:spPr>
        <p:txBody>
          <a:bodyPr anchorCtr="0" anchor="t" bIns="0" lIns="0" spcFirstLastPara="1" rIns="0" wrap="square" tIns="0">
            <a:spAutoFit/>
          </a:bodyPr>
          <a:lstStyle/>
          <a:p>
            <a:pPr indent="0" lvl="0" marL="0" marR="0" rtl="0" algn="l">
              <a:lnSpc>
                <a:spcPct val="150491"/>
              </a:lnSpc>
              <a:spcBef>
                <a:spcPts val="0"/>
              </a:spcBef>
              <a:spcAft>
                <a:spcPts val="0"/>
              </a:spcAft>
              <a:buClr>
                <a:srgbClr val="1A1A1A"/>
              </a:buClr>
              <a:buSzPts val="1220"/>
              <a:buFont typeface="Cormorant Garamond"/>
              <a:buNone/>
            </a:pPr>
            <a:r>
              <a:rPr b="0" i="1" lang="en-US" sz="1220" u="none" cap="none" strike="noStrike">
                <a:solidFill>
                  <a:srgbClr val="1A1A1A"/>
                </a:solidFill>
                <a:latin typeface="Cormorant Garamond"/>
                <a:ea typeface="Cormorant Garamond"/>
                <a:cs typeface="Cormorant Garamond"/>
                <a:sym typeface="Cormorant Garamond"/>
              </a:rPr>
              <a:t>No Mass Surveillance</a:t>
            </a:r>
            <a:endParaRPr b="0" i="0" sz="1220" u="none" cap="none" strike="noStrike">
              <a:solidFill>
                <a:schemeClr val="dk1"/>
              </a:solidFill>
              <a:latin typeface="Calibri"/>
              <a:ea typeface="Calibri"/>
              <a:cs typeface="Calibri"/>
              <a:sym typeface="Calibri"/>
            </a:endParaRPr>
          </a:p>
        </p:txBody>
      </p:sp>
      <p:sp>
        <p:nvSpPr>
          <p:cNvPr id="111" name="Google Shape;111;p4"/>
          <p:cNvSpPr/>
          <p:nvPr/>
        </p:nvSpPr>
        <p:spPr>
          <a:xfrm>
            <a:off x="867519" y="3657005"/>
            <a:ext cx="3748087" cy="657225"/>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2E2C28"/>
              </a:buClr>
              <a:buSzPts val="1080"/>
              <a:buFont typeface="Inter"/>
              <a:buNone/>
            </a:pPr>
            <a:r>
              <a:rPr b="0" i="0" lang="en-US" sz="1080" u="none" cap="none" strike="noStrike">
                <a:solidFill>
                  <a:srgbClr val="2E2C28"/>
                </a:solidFill>
                <a:latin typeface="Inter"/>
                <a:ea typeface="Inter"/>
                <a:cs typeface="Inter"/>
                <a:sym typeface="Inter"/>
              </a:rPr>
              <a:t>Claude will not be turned on the population. No untargeted, large-scale surveillance — foreign or domestic.</a:t>
            </a:r>
            <a:endParaRPr b="0" i="0" sz="1080" u="none" cap="none" strike="noStrike">
              <a:solidFill>
                <a:schemeClr val="dk1"/>
              </a:solidFill>
              <a:latin typeface="Calibri"/>
              <a:ea typeface="Calibri"/>
              <a:cs typeface="Calibri"/>
              <a:sym typeface="Calibri"/>
            </a:endParaRPr>
          </a:p>
        </p:txBody>
      </p:sp>
      <p:pic>
        <p:nvPicPr>
          <p:cNvPr descr="preencoded.png" id="112" name="Google Shape;112;p4"/>
          <p:cNvPicPr preferRelativeResize="0"/>
          <p:nvPr/>
        </p:nvPicPr>
        <p:blipFill rotWithShape="1">
          <a:blip r:embed="rId3">
            <a:alphaModFix/>
          </a:blip>
          <a:srcRect b="0" l="0" r="0" t="0"/>
          <a:stretch/>
        </p:blipFill>
        <p:spPr>
          <a:xfrm>
            <a:off x="456224" y="4522620"/>
            <a:ext cx="488425" cy="488450"/>
          </a:xfrm>
          <a:prstGeom prst="rect">
            <a:avLst/>
          </a:prstGeom>
          <a:noFill/>
          <a:ln>
            <a:noFill/>
          </a:ln>
        </p:spPr>
      </p:pic>
      <p:sp>
        <p:nvSpPr>
          <p:cNvPr id="113" name="Google Shape;113;p4"/>
          <p:cNvSpPr/>
          <p:nvPr/>
        </p:nvSpPr>
        <p:spPr>
          <a:xfrm>
            <a:off x="1038245" y="4512161"/>
            <a:ext cx="3038400"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i="0" lang="en-US" sz="750" u="none" cap="none" strike="noStrike">
                <a:solidFill>
                  <a:srgbClr val="5C5752"/>
                </a:solidFill>
                <a:latin typeface="Inter"/>
                <a:ea typeface="Inter"/>
                <a:cs typeface="Inter"/>
                <a:sym typeface="Inter"/>
              </a:rPr>
              <a:t>CBS NEWS, EXCLUSIVE</a:t>
            </a:r>
            <a:endParaRPr i="0" sz="750" u="none" cap="none" strike="noStrike">
              <a:solidFill>
                <a:schemeClr val="dk1"/>
              </a:solidFill>
              <a:latin typeface="Calibri"/>
              <a:ea typeface="Calibri"/>
              <a:cs typeface="Calibri"/>
              <a:sym typeface="Calibri"/>
            </a:endParaRPr>
          </a:p>
        </p:txBody>
      </p:sp>
      <p:sp>
        <p:nvSpPr>
          <p:cNvPr id="114" name="Google Shape;114;p4"/>
          <p:cNvSpPr/>
          <p:nvPr/>
        </p:nvSpPr>
        <p:spPr>
          <a:xfrm>
            <a:off x="1038250" y="4638704"/>
            <a:ext cx="3038400" cy="185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1A1A1A"/>
              </a:buClr>
              <a:buSzPts val="1010"/>
              <a:buFont typeface="Cormorant Garamond"/>
              <a:buNone/>
            </a:pPr>
            <a:r>
              <a:rPr b="0" i="1" lang="en-US" sz="1100" u="none" cap="none" strike="noStrike">
                <a:solidFill>
                  <a:srgbClr val="1A1A1A"/>
                </a:solidFill>
                <a:latin typeface="Cormorant Garamond"/>
                <a:ea typeface="Cormorant Garamond"/>
                <a:cs typeface="Cormorant Garamond"/>
                <a:sym typeface="Cormorant Garamond"/>
              </a:rPr>
              <a:t>“We cannot, in good conscience, comply.”</a:t>
            </a:r>
            <a:r>
              <a:rPr b="0" i="0" lang="en-US" sz="1100" u="none" cap="none" strike="noStrike">
                <a:solidFill>
                  <a:srgbClr val="5C5752"/>
                </a:solidFill>
                <a:latin typeface="Inter"/>
                <a:ea typeface="Inter"/>
                <a:cs typeface="Inter"/>
                <a:sym typeface="Inter"/>
              </a:rPr>
              <a:t>— </a:t>
            </a:r>
            <a:r>
              <a:rPr i="0" lang="en-US" sz="1100" u="none" cap="none" strike="noStrike">
                <a:solidFill>
                  <a:srgbClr val="5C5752"/>
                </a:solidFill>
                <a:latin typeface="Lexend"/>
                <a:ea typeface="Lexend"/>
                <a:cs typeface="Lexend"/>
                <a:sym typeface="Lexend"/>
              </a:rPr>
              <a:t>D. AMODEI</a:t>
            </a:r>
            <a:endParaRPr i="0" sz="1100" u="none" cap="none" strike="noStrike">
              <a:solidFill>
                <a:schemeClr val="dk1"/>
              </a:solidFill>
              <a:latin typeface="Lexend"/>
              <a:ea typeface="Lexend"/>
              <a:cs typeface="Lexend"/>
              <a:sym typeface="Lexend"/>
            </a:endParaRPr>
          </a:p>
        </p:txBody>
      </p:sp>
      <p:sp>
        <p:nvSpPr>
          <p:cNvPr id="115" name="Google Shape;115;p4"/>
          <p:cNvSpPr/>
          <p:nvPr/>
        </p:nvSpPr>
        <p:spPr>
          <a:xfrm>
            <a:off x="5071876" y="668424"/>
            <a:ext cx="3614738"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1A1A1A"/>
              </a:buClr>
              <a:buSzPts val="650"/>
              <a:buFont typeface="Inter"/>
              <a:buNone/>
            </a:pPr>
            <a:r>
              <a:rPr b="0" i="0" lang="en-US" sz="850" u="none" cap="none" strike="noStrike">
                <a:solidFill>
                  <a:srgbClr val="1A1A1A"/>
                </a:solidFill>
                <a:latin typeface="Inter"/>
                <a:ea typeface="Inter"/>
                <a:cs typeface="Inter"/>
                <a:sym typeface="Inter"/>
              </a:rPr>
              <a:t>REFERENCES</a:t>
            </a:r>
            <a:endParaRPr b="0" i="0" sz="850" u="none" cap="none" strike="noStrike">
              <a:solidFill>
                <a:schemeClr val="dk1"/>
              </a:solidFill>
              <a:latin typeface="Calibri"/>
              <a:ea typeface="Calibri"/>
              <a:cs typeface="Calibri"/>
              <a:sym typeface="Calibri"/>
            </a:endParaRPr>
          </a:p>
        </p:txBody>
      </p:sp>
      <p:sp>
        <p:nvSpPr>
          <p:cNvPr id="116" name="Google Shape;116;p4"/>
          <p:cNvSpPr/>
          <p:nvPr/>
        </p:nvSpPr>
        <p:spPr>
          <a:xfrm>
            <a:off x="5071876" y="895036"/>
            <a:ext cx="3614700" cy="328500"/>
          </a:xfrm>
          <a:prstGeom prst="rect">
            <a:avLst/>
          </a:prstGeom>
          <a:noFill/>
          <a:ln>
            <a:noFill/>
          </a:ln>
        </p:spPr>
        <p:txBody>
          <a:bodyPr anchorCtr="0" anchor="t" bIns="0" lIns="0" spcFirstLastPara="1" rIns="0" wrap="square" tIns="0">
            <a:spAutoFit/>
          </a:bodyPr>
          <a:lstStyle/>
          <a:p>
            <a:pPr indent="0" lvl="0" marL="0" marR="0" rtl="0" algn="l">
              <a:lnSpc>
                <a:spcPct val="149913"/>
              </a:lnSpc>
              <a:spcBef>
                <a:spcPts val="0"/>
              </a:spcBef>
              <a:spcAft>
                <a:spcPts val="0"/>
              </a:spcAft>
              <a:buClr>
                <a:srgbClr val="1A1A1A"/>
              </a:buClr>
              <a:buSzPts val="1729"/>
              <a:buFont typeface="Cormorant Garamond"/>
              <a:buNone/>
            </a:pPr>
            <a:r>
              <a:rPr b="0" i="1" lang="en-US" sz="1730" u="none" cap="none" strike="noStrike">
                <a:solidFill>
                  <a:srgbClr val="1A1A1A"/>
                </a:solidFill>
                <a:latin typeface="Cormorant Garamond"/>
                <a:ea typeface="Cormorant Garamond"/>
                <a:cs typeface="Cormorant Garamond"/>
                <a:sym typeface="Cormorant Garamond"/>
              </a:rPr>
              <a:t>Sources.</a:t>
            </a:r>
            <a:endParaRPr b="0" i="0" sz="1730" u="none" cap="none" strike="noStrike">
              <a:solidFill>
                <a:schemeClr val="dk1"/>
              </a:solidFill>
              <a:latin typeface="Calibri"/>
              <a:ea typeface="Calibri"/>
              <a:cs typeface="Calibri"/>
              <a:sym typeface="Calibri"/>
            </a:endParaRPr>
          </a:p>
        </p:txBody>
      </p:sp>
      <p:sp>
        <p:nvSpPr>
          <p:cNvPr id="117" name="Google Shape;117;p4"/>
          <p:cNvSpPr/>
          <p:nvPr/>
        </p:nvSpPr>
        <p:spPr>
          <a:xfrm>
            <a:off x="5072621" y="1378372"/>
            <a:ext cx="180975" cy="4763"/>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5071876" y="1434145"/>
            <a:ext cx="3614738" cy="609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p:nvPr/>
        </p:nvSpPr>
        <p:spPr>
          <a:xfrm>
            <a:off x="5070723" y="1537841"/>
            <a:ext cx="276225" cy="204787"/>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5C5752"/>
              </a:buClr>
              <a:buSzPts val="1080"/>
              <a:buFont typeface="Inter"/>
              <a:buNone/>
            </a:pPr>
            <a:r>
              <a:rPr b="0" i="0" lang="en-US" sz="1080" u="none" cap="none" strike="noStrike">
                <a:solidFill>
                  <a:srgbClr val="5C5752"/>
                </a:solidFill>
                <a:latin typeface="Inter"/>
                <a:ea typeface="Inter"/>
                <a:cs typeface="Inter"/>
                <a:sym typeface="Inter"/>
              </a:rPr>
              <a:t>01</a:t>
            </a:r>
            <a:endParaRPr b="0" i="0" sz="1080" u="none" cap="none" strike="noStrike">
              <a:solidFill>
                <a:schemeClr val="dk1"/>
              </a:solidFill>
              <a:latin typeface="Calibri"/>
              <a:ea typeface="Calibri"/>
              <a:cs typeface="Calibri"/>
              <a:sym typeface="Calibri"/>
            </a:endParaRPr>
          </a:p>
        </p:txBody>
      </p:sp>
      <p:sp>
        <p:nvSpPr>
          <p:cNvPr id="120" name="Google Shape;120;p4"/>
          <p:cNvSpPr/>
          <p:nvPr/>
        </p:nvSpPr>
        <p:spPr>
          <a:xfrm>
            <a:off x="5482382" y="1537581"/>
            <a:ext cx="3205162" cy="219075"/>
          </a:xfrm>
          <a:prstGeom prst="rect">
            <a:avLst/>
          </a:prstGeom>
          <a:noFill/>
          <a:ln>
            <a:noFill/>
          </a:ln>
        </p:spPr>
        <p:txBody>
          <a:bodyPr anchorCtr="0" anchor="t" bIns="0" lIns="0" spcFirstLastPara="1" rIns="0" wrap="square" tIns="0">
            <a:spAutoFit/>
          </a:bodyPr>
          <a:lstStyle/>
          <a:p>
            <a:pPr indent="0" lvl="0" marL="0" marR="0" rtl="0" algn="l">
              <a:lnSpc>
                <a:spcPct val="150260"/>
              </a:lnSpc>
              <a:spcBef>
                <a:spcPts val="0"/>
              </a:spcBef>
              <a:spcAft>
                <a:spcPts val="0"/>
              </a:spcAft>
              <a:buClr>
                <a:srgbClr val="1A1A1A"/>
              </a:buClr>
              <a:buSzPts val="1150"/>
              <a:buFont typeface="Cormorant Garamond"/>
              <a:buNone/>
            </a:pPr>
            <a:r>
              <a:rPr b="1" i="1" lang="en-US" sz="1150" u="none" cap="none" strike="noStrike">
                <a:solidFill>
                  <a:srgbClr val="CC0000"/>
                </a:solidFill>
                <a:latin typeface="Cormorant Garamond"/>
                <a:ea typeface="Cormorant Garamond"/>
                <a:cs typeface="Cormorant Garamond"/>
                <a:sym typeface="Cormorant Garamond"/>
              </a:rPr>
              <a:t>CNN</a:t>
            </a:r>
            <a:endParaRPr b="1" i="0" sz="1150" u="none" cap="none" strike="noStrike">
              <a:solidFill>
                <a:srgbClr val="CC0000"/>
              </a:solidFill>
              <a:latin typeface="Calibri"/>
              <a:ea typeface="Calibri"/>
              <a:cs typeface="Calibri"/>
              <a:sym typeface="Calibri"/>
            </a:endParaRPr>
          </a:p>
        </p:txBody>
      </p:sp>
      <p:sp>
        <p:nvSpPr>
          <p:cNvPr id="121" name="Google Shape;121;p4"/>
          <p:cNvSpPr/>
          <p:nvPr/>
        </p:nvSpPr>
        <p:spPr>
          <a:xfrm>
            <a:off x="5482382" y="1787872"/>
            <a:ext cx="3205162" cy="147637"/>
          </a:xfrm>
          <a:prstGeom prst="rect">
            <a:avLst/>
          </a:prstGeom>
          <a:noFill/>
          <a:ln>
            <a:noFill/>
          </a:ln>
        </p:spPr>
        <p:txBody>
          <a:bodyPr anchorCtr="0" anchor="t" bIns="0" lIns="0" spcFirstLastPara="1" rIns="0" wrap="square" tIns="0">
            <a:spAutoFit/>
          </a:bodyPr>
          <a:lstStyle/>
          <a:p>
            <a:pPr indent="0" lvl="0" marL="0" marR="0" rtl="0" algn="l">
              <a:lnSpc>
                <a:spcPct val="149487"/>
              </a:lnSpc>
              <a:spcBef>
                <a:spcPts val="0"/>
              </a:spcBef>
              <a:spcAft>
                <a:spcPts val="0"/>
              </a:spcAft>
              <a:buClr>
                <a:srgbClr val="5C5752"/>
              </a:buClr>
              <a:buSzPts val="780"/>
              <a:buFont typeface="Inter"/>
              <a:buNone/>
            </a:pPr>
            <a:r>
              <a:rPr b="1" i="0" lang="en-US" sz="850" u="none" cap="none" strike="noStrike">
                <a:solidFill>
                  <a:srgbClr val="5C5752"/>
                </a:solidFill>
                <a:latin typeface="Inter"/>
                <a:ea typeface="Inter"/>
                <a:cs typeface="Inter"/>
                <a:sym typeface="Inter"/>
              </a:rPr>
              <a:t>PENTAGON AI / ANTHROPIC, 2026</a:t>
            </a:r>
            <a:endParaRPr b="1" i="0" sz="850" u="none" cap="none" strike="noStrike">
              <a:solidFill>
                <a:schemeClr val="dk1"/>
              </a:solidFill>
              <a:latin typeface="Calibri"/>
              <a:ea typeface="Calibri"/>
              <a:cs typeface="Calibri"/>
              <a:sym typeface="Calibri"/>
            </a:endParaRPr>
          </a:p>
        </p:txBody>
      </p:sp>
      <p:sp>
        <p:nvSpPr>
          <p:cNvPr id="122" name="Google Shape;122;p4"/>
          <p:cNvSpPr/>
          <p:nvPr/>
        </p:nvSpPr>
        <p:spPr>
          <a:xfrm>
            <a:off x="5071876" y="2043150"/>
            <a:ext cx="3614738" cy="75723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5070723" y="2146622"/>
            <a:ext cx="276225" cy="204787"/>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5C5752"/>
              </a:buClr>
              <a:buSzPts val="1080"/>
              <a:buFont typeface="Inter"/>
              <a:buNone/>
            </a:pPr>
            <a:r>
              <a:rPr b="0" i="0" lang="en-US" sz="1080" u="none" cap="none" strike="noStrike">
                <a:solidFill>
                  <a:srgbClr val="5C5752"/>
                </a:solidFill>
                <a:latin typeface="Inter"/>
                <a:ea typeface="Inter"/>
                <a:cs typeface="Inter"/>
                <a:sym typeface="Inter"/>
              </a:rPr>
              <a:t>02</a:t>
            </a:r>
            <a:endParaRPr b="0" i="0" sz="1080" u="none" cap="none" strike="noStrike">
              <a:solidFill>
                <a:schemeClr val="dk1"/>
              </a:solidFill>
              <a:latin typeface="Calibri"/>
              <a:ea typeface="Calibri"/>
              <a:cs typeface="Calibri"/>
              <a:sym typeface="Calibri"/>
            </a:endParaRPr>
          </a:p>
        </p:txBody>
      </p:sp>
      <p:sp>
        <p:nvSpPr>
          <p:cNvPr id="124" name="Google Shape;124;p4"/>
          <p:cNvSpPr/>
          <p:nvPr/>
        </p:nvSpPr>
        <p:spPr>
          <a:xfrm>
            <a:off x="5482382" y="2146362"/>
            <a:ext cx="3205162" cy="219075"/>
          </a:xfrm>
          <a:prstGeom prst="rect">
            <a:avLst/>
          </a:prstGeom>
          <a:noFill/>
          <a:ln>
            <a:noFill/>
          </a:ln>
        </p:spPr>
        <p:txBody>
          <a:bodyPr anchorCtr="0" anchor="t" bIns="0" lIns="0" spcFirstLastPara="1" rIns="0" wrap="square" tIns="0">
            <a:spAutoFit/>
          </a:bodyPr>
          <a:lstStyle/>
          <a:p>
            <a:pPr indent="0" lvl="0" marL="0" marR="0" rtl="0" algn="l">
              <a:lnSpc>
                <a:spcPct val="150260"/>
              </a:lnSpc>
              <a:spcBef>
                <a:spcPts val="0"/>
              </a:spcBef>
              <a:spcAft>
                <a:spcPts val="0"/>
              </a:spcAft>
              <a:buClr>
                <a:srgbClr val="1A1A1A"/>
              </a:buClr>
              <a:buSzPts val="1150"/>
              <a:buFont typeface="Cormorant Garamond"/>
              <a:buNone/>
            </a:pPr>
            <a:r>
              <a:rPr b="1" i="1" lang="en-US" sz="1150" u="none" cap="none" strike="noStrike">
                <a:solidFill>
                  <a:srgbClr val="073763"/>
                </a:solidFill>
                <a:latin typeface="Cormorant Garamond"/>
                <a:ea typeface="Cormorant Garamond"/>
                <a:cs typeface="Cormorant Garamond"/>
                <a:sym typeface="Cormorant Garamond"/>
              </a:rPr>
              <a:t>NPR</a:t>
            </a:r>
            <a:endParaRPr b="1" i="0" sz="1150" u="none" cap="none" strike="noStrike">
              <a:solidFill>
                <a:srgbClr val="073763"/>
              </a:solidFill>
              <a:latin typeface="Calibri"/>
              <a:ea typeface="Calibri"/>
              <a:cs typeface="Calibri"/>
              <a:sym typeface="Calibri"/>
            </a:endParaRPr>
          </a:p>
        </p:txBody>
      </p:sp>
      <p:sp>
        <p:nvSpPr>
          <p:cNvPr id="125" name="Google Shape;125;p4"/>
          <p:cNvSpPr/>
          <p:nvPr/>
        </p:nvSpPr>
        <p:spPr>
          <a:xfrm>
            <a:off x="5482382" y="2396877"/>
            <a:ext cx="3205162" cy="295275"/>
          </a:xfrm>
          <a:prstGeom prst="rect">
            <a:avLst/>
          </a:prstGeom>
          <a:noFill/>
          <a:ln>
            <a:noFill/>
          </a:ln>
        </p:spPr>
        <p:txBody>
          <a:bodyPr anchorCtr="0" anchor="t" bIns="0" lIns="0" spcFirstLastPara="1" rIns="0" wrap="square" tIns="0">
            <a:spAutoFit/>
          </a:bodyPr>
          <a:lstStyle/>
          <a:p>
            <a:pPr indent="0" lvl="0" marL="0" marR="0" rtl="0" algn="l">
              <a:lnSpc>
                <a:spcPct val="149487"/>
              </a:lnSpc>
              <a:spcBef>
                <a:spcPts val="0"/>
              </a:spcBef>
              <a:spcAft>
                <a:spcPts val="0"/>
              </a:spcAft>
              <a:buClr>
                <a:srgbClr val="5C5752"/>
              </a:buClr>
              <a:buSzPts val="780"/>
              <a:buFont typeface="Inter"/>
              <a:buNone/>
            </a:pPr>
            <a:r>
              <a:rPr b="1" i="0" lang="en-US" sz="850" u="none" cap="none" strike="noStrike">
                <a:solidFill>
                  <a:srgbClr val="5C5752"/>
                </a:solidFill>
                <a:latin typeface="Inter"/>
                <a:ea typeface="Inter"/>
                <a:cs typeface="Inter"/>
                <a:sym typeface="Inter"/>
              </a:rPr>
              <a:t>TRUMP, ANTHROPIC, PENTAGON, OPENAI — AI WEAPONS BAN</a:t>
            </a:r>
            <a:endParaRPr b="1" i="0" sz="850" u="none" cap="none" strike="noStrike">
              <a:solidFill>
                <a:schemeClr val="dk1"/>
              </a:solidFill>
              <a:latin typeface="Calibri"/>
              <a:ea typeface="Calibri"/>
              <a:cs typeface="Calibri"/>
              <a:sym typeface="Calibri"/>
            </a:endParaRPr>
          </a:p>
        </p:txBody>
      </p:sp>
      <p:sp>
        <p:nvSpPr>
          <p:cNvPr id="126" name="Google Shape;126;p4"/>
          <p:cNvSpPr/>
          <p:nvPr/>
        </p:nvSpPr>
        <p:spPr>
          <a:xfrm>
            <a:off x="5071876" y="2800015"/>
            <a:ext cx="3614738" cy="75723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5070723" y="2903488"/>
            <a:ext cx="276225" cy="204787"/>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5C5752"/>
              </a:buClr>
              <a:buSzPts val="1080"/>
              <a:buFont typeface="Inter"/>
              <a:buNone/>
            </a:pPr>
            <a:r>
              <a:rPr b="0" i="0" lang="en-US" sz="1080" u="none" cap="none" strike="noStrike">
                <a:solidFill>
                  <a:srgbClr val="5C5752"/>
                </a:solidFill>
                <a:latin typeface="Inter"/>
                <a:ea typeface="Inter"/>
                <a:cs typeface="Inter"/>
                <a:sym typeface="Inter"/>
              </a:rPr>
              <a:t>03</a:t>
            </a:r>
            <a:endParaRPr b="0" i="0" sz="1080" u="none" cap="none" strike="noStrike">
              <a:solidFill>
                <a:schemeClr val="dk1"/>
              </a:solidFill>
              <a:latin typeface="Calibri"/>
              <a:ea typeface="Calibri"/>
              <a:cs typeface="Calibri"/>
              <a:sym typeface="Calibri"/>
            </a:endParaRPr>
          </a:p>
        </p:txBody>
      </p:sp>
      <p:sp>
        <p:nvSpPr>
          <p:cNvPr id="128" name="Google Shape;128;p4"/>
          <p:cNvSpPr/>
          <p:nvPr/>
        </p:nvSpPr>
        <p:spPr>
          <a:xfrm>
            <a:off x="5482382" y="2903227"/>
            <a:ext cx="3205162" cy="219075"/>
          </a:xfrm>
          <a:prstGeom prst="rect">
            <a:avLst/>
          </a:prstGeom>
          <a:noFill/>
          <a:ln>
            <a:noFill/>
          </a:ln>
        </p:spPr>
        <p:txBody>
          <a:bodyPr anchorCtr="0" anchor="t" bIns="0" lIns="0" spcFirstLastPara="1" rIns="0" wrap="square" tIns="0">
            <a:spAutoFit/>
          </a:bodyPr>
          <a:lstStyle/>
          <a:p>
            <a:pPr indent="0" lvl="0" marL="0" marR="0" rtl="0" algn="l">
              <a:lnSpc>
                <a:spcPct val="150260"/>
              </a:lnSpc>
              <a:spcBef>
                <a:spcPts val="0"/>
              </a:spcBef>
              <a:spcAft>
                <a:spcPts val="0"/>
              </a:spcAft>
              <a:buClr>
                <a:srgbClr val="1A1A1A"/>
              </a:buClr>
              <a:buSzPts val="1150"/>
              <a:buFont typeface="Cormorant Garamond"/>
              <a:buNone/>
            </a:pPr>
            <a:r>
              <a:rPr b="1" i="1" lang="en-US" sz="1150" u="none" cap="none" strike="noStrike">
                <a:solidFill>
                  <a:srgbClr val="1A1A1A"/>
                </a:solidFill>
                <a:latin typeface="Cormorant Garamond"/>
                <a:ea typeface="Cormorant Garamond"/>
                <a:cs typeface="Cormorant Garamond"/>
                <a:sym typeface="Cormorant Garamond"/>
              </a:rPr>
              <a:t>Forbes</a:t>
            </a:r>
            <a:endParaRPr b="1" i="0" sz="1150" u="none" cap="none" strike="noStrike">
              <a:solidFill>
                <a:schemeClr val="dk1"/>
              </a:solidFill>
              <a:latin typeface="Calibri"/>
              <a:ea typeface="Calibri"/>
              <a:cs typeface="Calibri"/>
              <a:sym typeface="Calibri"/>
            </a:endParaRPr>
          </a:p>
        </p:txBody>
      </p:sp>
      <p:sp>
        <p:nvSpPr>
          <p:cNvPr id="129" name="Google Shape;129;p4"/>
          <p:cNvSpPr/>
          <p:nvPr/>
        </p:nvSpPr>
        <p:spPr>
          <a:xfrm>
            <a:off x="5482382" y="3153742"/>
            <a:ext cx="3205162" cy="295275"/>
          </a:xfrm>
          <a:prstGeom prst="rect">
            <a:avLst/>
          </a:prstGeom>
          <a:noFill/>
          <a:ln>
            <a:noFill/>
          </a:ln>
        </p:spPr>
        <p:txBody>
          <a:bodyPr anchorCtr="0" anchor="t" bIns="0" lIns="0" spcFirstLastPara="1" rIns="0" wrap="square" tIns="0">
            <a:spAutoFit/>
          </a:bodyPr>
          <a:lstStyle/>
          <a:p>
            <a:pPr indent="0" lvl="0" marL="0" marR="0" rtl="0" algn="l">
              <a:lnSpc>
                <a:spcPct val="149487"/>
              </a:lnSpc>
              <a:spcBef>
                <a:spcPts val="0"/>
              </a:spcBef>
              <a:spcAft>
                <a:spcPts val="0"/>
              </a:spcAft>
              <a:buClr>
                <a:srgbClr val="5C5752"/>
              </a:buClr>
              <a:buSzPts val="780"/>
              <a:buFont typeface="Inter"/>
              <a:buNone/>
            </a:pPr>
            <a:r>
              <a:rPr b="1" i="0" lang="en-US" sz="850" u="none" cap="none" strike="noStrike">
                <a:solidFill>
                  <a:srgbClr val="5C5752"/>
                </a:solidFill>
                <a:latin typeface="Inter"/>
                <a:ea typeface="Inter"/>
                <a:cs typeface="Inter"/>
                <a:sym typeface="Inter"/>
              </a:rPr>
              <a:t>OPENAI, NVIDIA, ALPHABET SIGN PENTAGON AI DEAL</a:t>
            </a:r>
            <a:endParaRPr b="1" i="0" sz="850" u="none" cap="none" strike="noStrike">
              <a:solidFill>
                <a:schemeClr val="dk1"/>
              </a:solidFill>
              <a:latin typeface="Calibri"/>
              <a:ea typeface="Calibri"/>
              <a:cs typeface="Calibri"/>
              <a:sym typeface="Calibri"/>
            </a:endParaRPr>
          </a:p>
        </p:txBody>
      </p:sp>
      <p:sp>
        <p:nvSpPr>
          <p:cNvPr id="130" name="Google Shape;130;p4"/>
          <p:cNvSpPr/>
          <p:nvPr/>
        </p:nvSpPr>
        <p:spPr>
          <a:xfrm>
            <a:off x="5070723" y="3660353"/>
            <a:ext cx="276225" cy="204787"/>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5C5752"/>
              </a:buClr>
              <a:buSzPts val="1080"/>
              <a:buFont typeface="Inter"/>
              <a:buNone/>
            </a:pPr>
            <a:r>
              <a:rPr b="0" i="0" lang="en-US" sz="1080" u="none" cap="none" strike="noStrike">
                <a:solidFill>
                  <a:srgbClr val="5C5752"/>
                </a:solidFill>
                <a:latin typeface="Inter"/>
                <a:ea typeface="Inter"/>
                <a:cs typeface="Inter"/>
                <a:sym typeface="Inter"/>
              </a:rPr>
              <a:t>04</a:t>
            </a:r>
            <a:endParaRPr b="0" i="0" sz="1080" u="none" cap="none" strike="noStrike">
              <a:solidFill>
                <a:schemeClr val="dk1"/>
              </a:solidFill>
              <a:latin typeface="Calibri"/>
              <a:ea typeface="Calibri"/>
              <a:cs typeface="Calibri"/>
              <a:sym typeface="Calibri"/>
            </a:endParaRPr>
          </a:p>
        </p:txBody>
      </p:sp>
      <p:sp>
        <p:nvSpPr>
          <p:cNvPr id="131" name="Google Shape;131;p4"/>
          <p:cNvSpPr/>
          <p:nvPr/>
        </p:nvSpPr>
        <p:spPr>
          <a:xfrm>
            <a:off x="5482382" y="3660093"/>
            <a:ext cx="3205162" cy="219075"/>
          </a:xfrm>
          <a:prstGeom prst="rect">
            <a:avLst/>
          </a:prstGeom>
          <a:noFill/>
          <a:ln>
            <a:noFill/>
          </a:ln>
        </p:spPr>
        <p:txBody>
          <a:bodyPr anchorCtr="0" anchor="t" bIns="0" lIns="0" spcFirstLastPara="1" rIns="0" wrap="square" tIns="0">
            <a:spAutoFit/>
          </a:bodyPr>
          <a:lstStyle/>
          <a:p>
            <a:pPr indent="0" lvl="0" marL="0" marR="0" rtl="0" algn="l">
              <a:lnSpc>
                <a:spcPct val="150260"/>
              </a:lnSpc>
              <a:spcBef>
                <a:spcPts val="0"/>
              </a:spcBef>
              <a:spcAft>
                <a:spcPts val="0"/>
              </a:spcAft>
              <a:buClr>
                <a:srgbClr val="1A1A1A"/>
              </a:buClr>
              <a:buSzPts val="1150"/>
              <a:buFont typeface="Cormorant Garamond"/>
              <a:buNone/>
            </a:pPr>
            <a:r>
              <a:rPr b="1" i="1" lang="en-US" sz="1150" u="none" cap="none" strike="noStrike">
                <a:solidFill>
                  <a:srgbClr val="CC0000"/>
                </a:solidFill>
                <a:latin typeface="Cormorant Garamond"/>
                <a:ea typeface="Cormorant Garamond"/>
                <a:cs typeface="Cormorant Garamond"/>
                <a:sym typeface="Cormorant Garamond"/>
              </a:rPr>
              <a:t>NY</a:t>
            </a:r>
            <a:r>
              <a:rPr b="1" i="1" lang="en-US" sz="1150" u="none" cap="none" strike="noStrike">
                <a:solidFill>
                  <a:srgbClr val="1A1A1A"/>
                </a:solidFill>
                <a:latin typeface="Cormorant Garamond"/>
                <a:ea typeface="Cormorant Garamond"/>
                <a:cs typeface="Cormorant Garamond"/>
                <a:sym typeface="Cormorant Garamond"/>
              </a:rPr>
              <a:t> </a:t>
            </a:r>
            <a:r>
              <a:rPr b="1" i="1" lang="en-US" sz="1150" u="none" cap="none" strike="noStrike">
                <a:solidFill>
                  <a:srgbClr val="073763"/>
                </a:solidFill>
                <a:latin typeface="Cormorant Garamond"/>
                <a:ea typeface="Cormorant Garamond"/>
                <a:cs typeface="Cormorant Garamond"/>
                <a:sym typeface="Cormorant Garamond"/>
              </a:rPr>
              <a:t>Times</a:t>
            </a:r>
            <a:endParaRPr b="1" i="0" sz="1150" u="none" cap="none" strike="noStrike">
              <a:solidFill>
                <a:srgbClr val="073763"/>
              </a:solidFill>
              <a:latin typeface="Calibri"/>
              <a:ea typeface="Calibri"/>
              <a:cs typeface="Calibri"/>
              <a:sym typeface="Calibri"/>
            </a:endParaRPr>
          </a:p>
        </p:txBody>
      </p:sp>
      <p:sp>
        <p:nvSpPr>
          <p:cNvPr id="132" name="Google Shape;132;p4"/>
          <p:cNvSpPr/>
          <p:nvPr/>
        </p:nvSpPr>
        <p:spPr>
          <a:xfrm>
            <a:off x="5482382" y="3910385"/>
            <a:ext cx="3205162" cy="147637"/>
          </a:xfrm>
          <a:prstGeom prst="rect">
            <a:avLst/>
          </a:prstGeom>
          <a:noFill/>
          <a:ln>
            <a:noFill/>
          </a:ln>
        </p:spPr>
        <p:txBody>
          <a:bodyPr anchorCtr="0" anchor="t" bIns="0" lIns="0" spcFirstLastPara="1" rIns="0" wrap="square" tIns="0">
            <a:spAutoFit/>
          </a:bodyPr>
          <a:lstStyle/>
          <a:p>
            <a:pPr indent="0" lvl="0" marL="0" marR="0" rtl="0" algn="l">
              <a:lnSpc>
                <a:spcPct val="149487"/>
              </a:lnSpc>
              <a:spcBef>
                <a:spcPts val="0"/>
              </a:spcBef>
              <a:spcAft>
                <a:spcPts val="0"/>
              </a:spcAft>
              <a:buClr>
                <a:srgbClr val="5C5752"/>
              </a:buClr>
              <a:buSzPts val="780"/>
              <a:buFont typeface="Inter"/>
              <a:buNone/>
            </a:pPr>
            <a:r>
              <a:rPr b="1" i="0" lang="en-US" sz="850" u="none" cap="none" strike="noStrike">
                <a:solidFill>
                  <a:srgbClr val="5C5752"/>
                </a:solidFill>
                <a:latin typeface="Inter"/>
                <a:ea typeface="Inter"/>
                <a:cs typeface="Inter"/>
                <a:sym typeface="Inter"/>
              </a:rPr>
              <a:t>PENTAGON AI COMPANIES DEALS, MAY 2026</a:t>
            </a:r>
            <a:endParaRPr b="1" i="0" sz="850" u="none" cap="none" strike="noStrike">
              <a:solidFill>
                <a:schemeClr val="dk1"/>
              </a:solidFill>
              <a:latin typeface="Calibri"/>
              <a:ea typeface="Calibri"/>
              <a:cs typeface="Calibri"/>
              <a:sym typeface="Calibri"/>
            </a:endParaRPr>
          </a:p>
        </p:txBody>
      </p:sp>
      <p:pic>
        <p:nvPicPr>
          <p:cNvPr descr="preencoded.png" id="133" name="Google Shape;133;p4"/>
          <p:cNvPicPr preferRelativeResize="0"/>
          <p:nvPr/>
        </p:nvPicPr>
        <p:blipFill rotWithShape="1">
          <a:blip r:embed="rId4">
            <a:alphaModFix/>
          </a:blip>
          <a:srcRect b="0" l="0" r="0" t="0"/>
          <a:stretch/>
        </p:blipFill>
        <p:spPr>
          <a:xfrm>
            <a:off x="457014" y="3253197"/>
            <a:ext cx="4157663" cy="1195387"/>
          </a:xfrm>
          <a:prstGeom prst="rect">
            <a:avLst/>
          </a:prstGeom>
          <a:noFill/>
          <a:ln>
            <a:noFill/>
          </a:ln>
        </p:spPr>
      </p:pic>
      <p:sp>
        <p:nvSpPr>
          <p:cNvPr id="134" name="Google Shape;134;p4"/>
          <p:cNvSpPr/>
          <p:nvPr/>
        </p:nvSpPr>
        <p:spPr>
          <a:xfrm>
            <a:off x="457460" y="256989"/>
            <a:ext cx="1928813"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1A1A1A"/>
              </a:buClr>
              <a:buSzPts val="650"/>
              <a:buFont typeface="Inter"/>
              <a:buNone/>
            </a:pPr>
            <a:r>
              <a:rPr b="0" lang="en-US" sz="650" u="none" cap="none" strike="noStrike">
                <a:solidFill>
                  <a:srgbClr val="1A1A1A"/>
                </a:solidFill>
                <a:latin typeface="Inter"/>
                <a:ea typeface="Inter"/>
                <a:cs typeface="Inter"/>
                <a:sym typeface="Inter"/>
              </a:rPr>
              <a:t>REFUSAL — THE HARD LIMITS</a:t>
            </a:r>
            <a:endParaRPr b="0" sz="650" u="none" cap="none" strike="noStrike">
              <a:solidFill>
                <a:schemeClr val="dk1"/>
              </a:solidFill>
              <a:latin typeface="Calibri"/>
              <a:ea typeface="Calibri"/>
              <a:cs typeface="Calibri"/>
              <a:sym typeface="Calibri"/>
            </a:endParaRPr>
          </a:p>
        </p:txBody>
      </p:sp>
      <p:sp>
        <p:nvSpPr>
          <p:cNvPr id="135" name="Google Shape;135;p4"/>
          <p:cNvSpPr/>
          <p:nvPr/>
        </p:nvSpPr>
        <p:spPr>
          <a:xfrm>
            <a:off x="8163818" y="256989"/>
            <a:ext cx="523875"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5C5752"/>
              </a:buClr>
              <a:buSzPts val="650"/>
              <a:buFont typeface="Inter"/>
              <a:buNone/>
            </a:pPr>
            <a:r>
              <a:rPr b="0" i="0" lang="en-US" sz="650" u="none" cap="none" strike="noStrike">
                <a:solidFill>
                  <a:srgbClr val="5C5752"/>
                </a:solidFill>
                <a:latin typeface="Inter"/>
                <a:ea typeface="Inter"/>
                <a:cs typeface="Inter"/>
                <a:sym typeface="Inter"/>
              </a:rPr>
              <a:t>04 — 10</a:t>
            </a:r>
            <a:endParaRPr b="0" i="0" sz="650" u="none" cap="none" strike="noStrike">
              <a:solidFill>
                <a:schemeClr val="dk1"/>
              </a:solidFill>
              <a:latin typeface="Calibri"/>
              <a:ea typeface="Calibri"/>
              <a:cs typeface="Calibri"/>
              <a:sym typeface="Calibri"/>
            </a:endParaRPr>
          </a:p>
        </p:txBody>
      </p:sp>
      <p:sp>
        <p:nvSpPr>
          <p:cNvPr id="136" name="Google Shape;136;p4"/>
          <p:cNvSpPr/>
          <p:nvPr/>
        </p:nvSpPr>
        <p:spPr>
          <a:xfrm>
            <a:off x="7300094" y="4824412"/>
            <a:ext cx="1385888"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04 — THE HARD LIMITS</a:t>
            </a:r>
            <a:endParaRPr b="0" i="0" sz="59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5"/>
          <p:cNvSpPr/>
          <p:nvPr/>
        </p:nvSpPr>
        <p:spPr>
          <a:xfrm>
            <a:off x="0" y="0"/>
            <a:ext cx="9144000" cy="5143500"/>
          </a:xfrm>
          <a:prstGeom prst="rect">
            <a:avLst/>
          </a:prstGeom>
          <a:solidFill>
            <a:srgbClr val="FAF8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p:nvPr/>
        </p:nvSpPr>
        <p:spPr>
          <a:xfrm>
            <a:off x="456828" y="668424"/>
            <a:ext cx="4071938"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5C5752"/>
              </a:buClr>
              <a:buSzPts val="650"/>
              <a:buFont typeface="Inter"/>
              <a:buNone/>
            </a:pPr>
            <a:r>
              <a:rPr b="0" i="0" lang="en-US" sz="650" u="none" cap="none" strike="noStrike">
                <a:solidFill>
                  <a:srgbClr val="5C5752"/>
                </a:solidFill>
                <a:latin typeface="Inter"/>
                <a:ea typeface="Inter"/>
                <a:cs typeface="Inter"/>
                <a:sym typeface="Inter"/>
              </a:rPr>
              <a:t>LAWSUIT, CASE TRACKING</a:t>
            </a:r>
            <a:endParaRPr b="0" i="0" sz="650" u="none" cap="none" strike="noStrike">
              <a:solidFill>
                <a:schemeClr val="dk1"/>
              </a:solidFill>
              <a:latin typeface="Calibri"/>
              <a:ea typeface="Calibri"/>
              <a:cs typeface="Calibri"/>
              <a:sym typeface="Calibri"/>
            </a:endParaRPr>
          </a:p>
        </p:txBody>
      </p:sp>
      <p:sp>
        <p:nvSpPr>
          <p:cNvPr id="144" name="Google Shape;144;p5"/>
          <p:cNvSpPr/>
          <p:nvPr/>
        </p:nvSpPr>
        <p:spPr>
          <a:xfrm>
            <a:off x="456828" y="894234"/>
            <a:ext cx="4071938" cy="1004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1A1A1A"/>
              </a:buClr>
              <a:buSzPts val="4030"/>
              <a:buFont typeface="Cormorant Garamond"/>
              <a:buNone/>
            </a:pPr>
            <a:r>
              <a:rPr b="0" i="1" lang="en-US" sz="4030" u="none" cap="none" strike="noStrike">
                <a:solidFill>
                  <a:srgbClr val="1A1A1A"/>
                </a:solidFill>
                <a:latin typeface="Cormorant Garamond"/>
                <a:ea typeface="Cormorant Garamond"/>
                <a:cs typeface="Cormorant Garamond"/>
                <a:sym typeface="Cormorant Garamond"/>
              </a:rPr>
              <a:t>The</a:t>
            </a:r>
            <a:endParaRPr b="0" i="0" sz="4030" u="none" cap="none" strike="noStrike">
              <a:solidFill>
                <a:schemeClr val="dk1"/>
              </a:solidFill>
              <a:latin typeface="Calibri"/>
              <a:ea typeface="Calibri"/>
              <a:cs typeface="Calibri"/>
              <a:sym typeface="Calibri"/>
            </a:endParaRPr>
          </a:p>
          <a:p>
            <a:pPr indent="0" lvl="0" marL="0" marR="0" rtl="0" algn="l">
              <a:lnSpc>
                <a:spcPct val="98039"/>
              </a:lnSpc>
              <a:spcBef>
                <a:spcPts val="0"/>
              </a:spcBef>
              <a:spcAft>
                <a:spcPts val="0"/>
              </a:spcAft>
              <a:buClr>
                <a:srgbClr val="1A1A1A"/>
              </a:buClr>
              <a:buSzPts val="4030"/>
              <a:buFont typeface="Cormorant Garamond"/>
              <a:buNone/>
            </a:pPr>
            <a:r>
              <a:rPr b="0" i="1" lang="en-US" sz="4030" u="none" cap="none" strike="noStrike">
                <a:solidFill>
                  <a:srgbClr val="1A1A1A"/>
                </a:solidFill>
                <a:latin typeface="Cormorant Garamond"/>
                <a:ea typeface="Cormorant Garamond"/>
                <a:cs typeface="Cormorant Garamond"/>
                <a:sym typeface="Cormorant Garamond"/>
              </a:rPr>
              <a:t>Blacklist.</a:t>
            </a:r>
            <a:endParaRPr b="0" i="0" sz="4030" u="none" cap="none" strike="noStrike">
              <a:solidFill>
                <a:schemeClr val="dk1"/>
              </a:solidFill>
              <a:latin typeface="Calibri"/>
              <a:ea typeface="Calibri"/>
              <a:cs typeface="Calibri"/>
              <a:sym typeface="Calibri"/>
            </a:endParaRPr>
          </a:p>
        </p:txBody>
      </p:sp>
      <p:sp>
        <p:nvSpPr>
          <p:cNvPr id="145" name="Google Shape;145;p5"/>
          <p:cNvSpPr/>
          <p:nvPr/>
        </p:nvSpPr>
        <p:spPr>
          <a:xfrm>
            <a:off x="456233" y="2104132"/>
            <a:ext cx="276225" cy="4763"/>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p:nvPr/>
        </p:nvSpPr>
        <p:spPr>
          <a:xfrm>
            <a:off x="457200" y="2315319"/>
            <a:ext cx="2743200" cy="395287"/>
          </a:xfrm>
          <a:prstGeom prst="rect">
            <a:avLst/>
          </a:prstGeom>
          <a:noFill/>
          <a:ln>
            <a:noFill/>
          </a:ln>
        </p:spPr>
        <p:txBody>
          <a:bodyPr anchorCtr="0" anchor="t" bIns="0" lIns="0" spcFirstLastPara="1" rIns="0" wrap="square" tIns="0">
            <a:spAutoFit/>
          </a:bodyPr>
          <a:lstStyle/>
          <a:p>
            <a:pPr indent="0" lvl="0" marL="0" marR="0" rtl="0" algn="l">
              <a:lnSpc>
                <a:spcPct val="154653"/>
              </a:lnSpc>
              <a:spcBef>
                <a:spcPts val="0"/>
              </a:spcBef>
              <a:spcAft>
                <a:spcPts val="0"/>
              </a:spcAft>
              <a:buClr>
                <a:srgbClr val="1A1A1A"/>
              </a:buClr>
              <a:buSzPts val="1010"/>
              <a:buFont typeface="Cormorant Garamond"/>
              <a:buNone/>
            </a:pPr>
            <a:r>
              <a:rPr b="0" i="1" lang="en-US" sz="1010" u="none" cap="none" strike="noStrike">
                <a:solidFill>
                  <a:srgbClr val="1A1A1A"/>
                </a:solidFill>
                <a:latin typeface="Cormorant Garamond"/>
                <a:ea typeface="Cormorant Garamond"/>
                <a:cs typeface="Cormorant Garamond"/>
                <a:sym typeface="Cormorant Garamond"/>
              </a:rPr>
              <a:t>A federal designation: Supply Chain Risk. The court paused it. The underlying question remains live.</a:t>
            </a:r>
            <a:endParaRPr b="0" i="0" sz="1010" u="none" cap="none" strike="noStrike">
              <a:solidFill>
                <a:schemeClr val="dk1"/>
              </a:solidFill>
              <a:latin typeface="Calibri"/>
              <a:ea typeface="Calibri"/>
              <a:cs typeface="Calibri"/>
              <a:sym typeface="Calibri"/>
            </a:endParaRPr>
          </a:p>
        </p:txBody>
      </p:sp>
      <p:sp>
        <p:nvSpPr>
          <p:cNvPr id="147" name="Google Shape;147;p5"/>
          <p:cNvSpPr/>
          <p:nvPr/>
        </p:nvSpPr>
        <p:spPr>
          <a:xfrm>
            <a:off x="456828" y="3149687"/>
            <a:ext cx="4071938" cy="142875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
          <p:cNvSpPr/>
          <p:nvPr/>
        </p:nvSpPr>
        <p:spPr>
          <a:xfrm>
            <a:off x="457721" y="3308524"/>
            <a:ext cx="1943100"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CASE NO.</a:t>
            </a:r>
            <a:endParaRPr b="0" i="0" sz="590" u="none" cap="none" strike="noStrike">
              <a:solidFill>
                <a:schemeClr val="dk1"/>
              </a:solidFill>
              <a:latin typeface="Calibri"/>
              <a:ea typeface="Calibri"/>
              <a:cs typeface="Calibri"/>
              <a:sym typeface="Calibri"/>
            </a:endParaRPr>
          </a:p>
        </p:txBody>
      </p:sp>
      <p:sp>
        <p:nvSpPr>
          <p:cNvPr id="149" name="Google Shape;149;p5"/>
          <p:cNvSpPr/>
          <p:nvPr/>
        </p:nvSpPr>
        <p:spPr>
          <a:xfrm>
            <a:off x="457721" y="3457315"/>
            <a:ext cx="1943100" cy="200025"/>
          </a:xfrm>
          <a:prstGeom prst="rect">
            <a:avLst/>
          </a:prstGeom>
          <a:noFill/>
          <a:ln>
            <a:noFill/>
          </a:ln>
        </p:spPr>
        <p:txBody>
          <a:bodyPr anchorCtr="0" anchor="t" bIns="0" lIns="0" spcFirstLastPara="1" rIns="0" wrap="square" tIns="0">
            <a:spAutoFit/>
          </a:bodyPr>
          <a:lstStyle/>
          <a:p>
            <a:pPr indent="0" lvl="0" marL="0" marR="0" rtl="0" algn="l">
              <a:lnSpc>
                <a:spcPct val="150576"/>
              </a:lnSpc>
              <a:spcBef>
                <a:spcPts val="0"/>
              </a:spcBef>
              <a:spcAft>
                <a:spcPts val="0"/>
              </a:spcAft>
              <a:buClr>
                <a:srgbClr val="1A1A1A"/>
              </a:buClr>
              <a:buSzPts val="1040"/>
              <a:buFont typeface="Cormorant Garamond"/>
              <a:buNone/>
            </a:pPr>
            <a:r>
              <a:rPr b="0" i="1" lang="en-US" sz="1040" u="none" cap="none" strike="noStrike">
                <a:solidFill>
                  <a:srgbClr val="1A1A1A"/>
                </a:solidFill>
                <a:latin typeface="Cormorant Garamond"/>
                <a:ea typeface="Cormorant Garamond"/>
                <a:cs typeface="Cormorant Garamond"/>
                <a:sym typeface="Cormorant Garamond"/>
              </a:rPr>
              <a:t>ND-Cal-2026-0317</a:t>
            </a:r>
            <a:endParaRPr b="0" i="0" sz="1040" u="none" cap="none" strike="noStrike">
              <a:solidFill>
                <a:schemeClr val="dk1"/>
              </a:solidFill>
              <a:latin typeface="Calibri"/>
              <a:ea typeface="Calibri"/>
              <a:cs typeface="Calibri"/>
              <a:sym typeface="Calibri"/>
            </a:endParaRPr>
          </a:p>
        </p:txBody>
      </p:sp>
      <p:sp>
        <p:nvSpPr>
          <p:cNvPr id="150" name="Google Shape;150;p5"/>
          <p:cNvSpPr/>
          <p:nvPr/>
        </p:nvSpPr>
        <p:spPr>
          <a:xfrm>
            <a:off x="2584735" y="3308524"/>
            <a:ext cx="1943100"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VENUE</a:t>
            </a:r>
            <a:endParaRPr b="0" i="0" sz="590" u="none" cap="none" strike="noStrike">
              <a:solidFill>
                <a:schemeClr val="dk1"/>
              </a:solidFill>
              <a:latin typeface="Calibri"/>
              <a:ea typeface="Calibri"/>
              <a:cs typeface="Calibri"/>
              <a:sym typeface="Calibri"/>
            </a:endParaRPr>
          </a:p>
        </p:txBody>
      </p:sp>
      <p:sp>
        <p:nvSpPr>
          <p:cNvPr id="151" name="Google Shape;151;p5"/>
          <p:cNvSpPr/>
          <p:nvPr/>
        </p:nvSpPr>
        <p:spPr>
          <a:xfrm>
            <a:off x="2584735" y="3457315"/>
            <a:ext cx="1943100" cy="200025"/>
          </a:xfrm>
          <a:prstGeom prst="rect">
            <a:avLst/>
          </a:prstGeom>
          <a:noFill/>
          <a:ln>
            <a:noFill/>
          </a:ln>
        </p:spPr>
        <p:txBody>
          <a:bodyPr anchorCtr="0" anchor="t" bIns="0" lIns="0" spcFirstLastPara="1" rIns="0" wrap="square" tIns="0">
            <a:spAutoFit/>
          </a:bodyPr>
          <a:lstStyle/>
          <a:p>
            <a:pPr indent="0" lvl="0" marL="0" marR="0" rtl="0" algn="l">
              <a:lnSpc>
                <a:spcPct val="150576"/>
              </a:lnSpc>
              <a:spcBef>
                <a:spcPts val="0"/>
              </a:spcBef>
              <a:spcAft>
                <a:spcPts val="0"/>
              </a:spcAft>
              <a:buClr>
                <a:srgbClr val="1A1A1A"/>
              </a:buClr>
              <a:buSzPts val="1040"/>
              <a:buFont typeface="Cormorant Garamond"/>
              <a:buNone/>
            </a:pPr>
            <a:r>
              <a:rPr b="0" i="1" lang="en-US" sz="1040" u="none" cap="none" strike="noStrike">
                <a:solidFill>
                  <a:srgbClr val="1A1A1A"/>
                </a:solidFill>
                <a:latin typeface="Cormorant Garamond"/>
                <a:ea typeface="Cormorant Garamond"/>
                <a:cs typeface="Cormorant Garamond"/>
                <a:sym typeface="Cormorant Garamond"/>
              </a:rPr>
              <a:t>U.S.D.C. N.D. Cal</a:t>
            </a:r>
            <a:endParaRPr b="0" i="0" sz="1040" u="none" cap="none" strike="noStrike">
              <a:solidFill>
                <a:schemeClr val="dk1"/>
              </a:solidFill>
              <a:latin typeface="Calibri"/>
              <a:ea typeface="Calibri"/>
              <a:cs typeface="Calibri"/>
              <a:sym typeface="Calibri"/>
            </a:endParaRPr>
          </a:p>
        </p:txBody>
      </p:sp>
      <p:sp>
        <p:nvSpPr>
          <p:cNvPr id="152" name="Google Shape;152;p5"/>
          <p:cNvSpPr/>
          <p:nvPr/>
        </p:nvSpPr>
        <p:spPr>
          <a:xfrm>
            <a:off x="457721" y="3768998"/>
            <a:ext cx="1943100"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FILED</a:t>
            </a:r>
            <a:endParaRPr b="0" i="0" sz="590" u="none" cap="none" strike="noStrike">
              <a:solidFill>
                <a:schemeClr val="dk1"/>
              </a:solidFill>
              <a:latin typeface="Calibri"/>
              <a:ea typeface="Calibri"/>
              <a:cs typeface="Calibri"/>
              <a:sym typeface="Calibri"/>
            </a:endParaRPr>
          </a:p>
        </p:txBody>
      </p:sp>
      <p:sp>
        <p:nvSpPr>
          <p:cNvPr id="153" name="Google Shape;153;p5"/>
          <p:cNvSpPr/>
          <p:nvPr/>
        </p:nvSpPr>
        <p:spPr>
          <a:xfrm>
            <a:off x="457721" y="3917789"/>
            <a:ext cx="1943100" cy="200025"/>
          </a:xfrm>
          <a:prstGeom prst="rect">
            <a:avLst/>
          </a:prstGeom>
          <a:noFill/>
          <a:ln>
            <a:noFill/>
          </a:ln>
        </p:spPr>
        <p:txBody>
          <a:bodyPr anchorCtr="0" anchor="t" bIns="0" lIns="0" spcFirstLastPara="1" rIns="0" wrap="square" tIns="0">
            <a:spAutoFit/>
          </a:bodyPr>
          <a:lstStyle/>
          <a:p>
            <a:pPr indent="0" lvl="0" marL="0" marR="0" rtl="0" algn="l">
              <a:lnSpc>
                <a:spcPct val="150576"/>
              </a:lnSpc>
              <a:spcBef>
                <a:spcPts val="0"/>
              </a:spcBef>
              <a:spcAft>
                <a:spcPts val="0"/>
              </a:spcAft>
              <a:buClr>
                <a:srgbClr val="1A1A1A"/>
              </a:buClr>
              <a:buSzPts val="1040"/>
              <a:buFont typeface="Cormorant Garamond"/>
              <a:buNone/>
            </a:pPr>
            <a:r>
              <a:rPr b="0" i="1" lang="en-US" sz="1040" u="none" cap="none" strike="noStrike">
                <a:solidFill>
                  <a:srgbClr val="1A1A1A"/>
                </a:solidFill>
                <a:latin typeface="Cormorant Garamond"/>
                <a:ea typeface="Cormorant Garamond"/>
                <a:cs typeface="Cormorant Garamond"/>
                <a:sym typeface="Cormorant Garamond"/>
              </a:rPr>
              <a:t>March 2026</a:t>
            </a:r>
            <a:endParaRPr b="0" i="0" sz="1040" u="none" cap="none" strike="noStrike">
              <a:solidFill>
                <a:schemeClr val="dk1"/>
              </a:solidFill>
              <a:latin typeface="Calibri"/>
              <a:ea typeface="Calibri"/>
              <a:cs typeface="Calibri"/>
              <a:sym typeface="Calibri"/>
            </a:endParaRPr>
          </a:p>
        </p:txBody>
      </p:sp>
      <p:sp>
        <p:nvSpPr>
          <p:cNvPr id="154" name="Google Shape;154;p5"/>
          <p:cNvSpPr/>
          <p:nvPr/>
        </p:nvSpPr>
        <p:spPr>
          <a:xfrm>
            <a:off x="2584735" y="3768998"/>
            <a:ext cx="1943100"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RELIEF</a:t>
            </a:r>
            <a:endParaRPr b="0" i="0" sz="590" u="none" cap="none" strike="noStrike">
              <a:solidFill>
                <a:schemeClr val="dk1"/>
              </a:solidFill>
              <a:latin typeface="Calibri"/>
              <a:ea typeface="Calibri"/>
              <a:cs typeface="Calibri"/>
              <a:sym typeface="Calibri"/>
            </a:endParaRPr>
          </a:p>
        </p:txBody>
      </p:sp>
      <p:sp>
        <p:nvSpPr>
          <p:cNvPr id="155" name="Google Shape;155;p5"/>
          <p:cNvSpPr/>
          <p:nvPr/>
        </p:nvSpPr>
        <p:spPr>
          <a:xfrm>
            <a:off x="2584735" y="3917789"/>
            <a:ext cx="1943100" cy="200025"/>
          </a:xfrm>
          <a:prstGeom prst="rect">
            <a:avLst/>
          </a:prstGeom>
          <a:noFill/>
          <a:ln>
            <a:noFill/>
          </a:ln>
        </p:spPr>
        <p:txBody>
          <a:bodyPr anchorCtr="0" anchor="t" bIns="0" lIns="0" spcFirstLastPara="1" rIns="0" wrap="square" tIns="0">
            <a:spAutoFit/>
          </a:bodyPr>
          <a:lstStyle/>
          <a:p>
            <a:pPr indent="0" lvl="0" marL="0" marR="0" rtl="0" algn="l">
              <a:lnSpc>
                <a:spcPct val="150576"/>
              </a:lnSpc>
              <a:spcBef>
                <a:spcPts val="0"/>
              </a:spcBef>
              <a:spcAft>
                <a:spcPts val="0"/>
              </a:spcAft>
              <a:buClr>
                <a:srgbClr val="1A1A1A"/>
              </a:buClr>
              <a:buSzPts val="1040"/>
              <a:buFont typeface="Cormorant Garamond"/>
              <a:buNone/>
            </a:pPr>
            <a:r>
              <a:rPr b="0" i="1" lang="en-US" sz="1040" u="none" cap="none" strike="noStrike">
                <a:solidFill>
                  <a:srgbClr val="1A1A1A"/>
                </a:solidFill>
                <a:latin typeface="Cormorant Garamond"/>
                <a:ea typeface="Cormorant Garamond"/>
                <a:cs typeface="Cormorant Garamond"/>
                <a:sym typeface="Cormorant Garamond"/>
              </a:rPr>
              <a:t>Prelim. Injunction</a:t>
            </a:r>
            <a:endParaRPr b="0" i="0" sz="1040" u="none" cap="none" strike="noStrike">
              <a:solidFill>
                <a:schemeClr val="dk1"/>
              </a:solidFill>
              <a:latin typeface="Calibri"/>
              <a:ea typeface="Calibri"/>
              <a:cs typeface="Calibri"/>
              <a:sym typeface="Calibri"/>
            </a:endParaRPr>
          </a:p>
        </p:txBody>
      </p:sp>
      <p:sp>
        <p:nvSpPr>
          <p:cNvPr id="156" name="Google Shape;156;p5"/>
          <p:cNvSpPr/>
          <p:nvPr/>
        </p:nvSpPr>
        <p:spPr>
          <a:xfrm>
            <a:off x="457721" y="4229472"/>
            <a:ext cx="1943100"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STATUS</a:t>
            </a:r>
            <a:endParaRPr b="0" i="0" sz="590" u="none" cap="none" strike="noStrike">
              <a:solidFill>
                <a:schemeClr val="dk1"/>
              </a:solidFill>
              <a:latin typeface="Calibri"/>
              <a:ea typeface="Calibri"/>
              <a:cs typeface="Calibri"/>
              <a:sym typeface="Calibri"/>
            </a:endParaRPr>
          </a:p>
        </p:txBody>
      </p:sp>
      <p:sp>
        <p:nvSpPr>
          <p:cNvPr id="157" name="Google Shape;157;p5"/>
          <p:cNvSpPr/>
          <p:nvPr/>
        </p:nvSpPr>
        <p:spPr>
          <a:xfrm>
            <a:off x="457721" y="4378263"/>
            <a:ext cx="1943100" cy="200025"/>
          </a:xfrm>
          <a:prstGeom prst="rect">
            <a:avLst/>
          </a:prstGeom>
          <a:noFill/>
          <a:ln>
            <a:noFill/>
          </a:ln>
        </p:spPr>
        <p:txBody>
          <a:bodyPr anchorCtr="0" anchor="t" bIns="0" lIns="0" spcFirstLastPara="1" rIns="0" wrap="square" tIns="0">
            <a:spAutoFit/>
          </a:bodyPr>
          <a:lstStyle/>
          <a:p>
            <a:pPr indent="0" lvl="0" marL="0" marR="0" rtl="0" algn="l">
              <a:lnSpc>
                <a:spcPct val="150576"/>
              </a:lnSpc>
              <a:spcBef>
                <a:spcPts val="0"/>
              </a:spcBef>
              <a:spcAft>
                <a:spcPts val="0"/>
              </a:spcAft>
              <a:buClr>
                <a:srgbClr val="1A1A1A"/>
              </a:buClr>
              <a:buSzPts val="1040"/>
              <a:buFont typeface="Cormorant Garamond"/>
              <a:buNone/>
            </a:pPr>
            <a:r>
              <a:rPr b="0" i="1" lang="en-US" sz="1040" u="none" cap="none" strike="noStrike">
                <a:solidFill>
                  <a:srgbClr val="1A1A1A"/>
                </a:solidFill>
                <a:latin typeface="Cormorant Garamond"/>
                <a:ea typeface="Cormorant Garamond"/>
                <a:cs typeface="Cormorant Garamond"/>
                <a:sym typeface="Cormorant Garamond"/>
              </a:rPr>
              <a:t>Blacklist Paused</a:t>
            </a:r>
            <a:endParaRPr b="0" i="0" sz="1040" u="none" cap="none" strike="noStrike">
              <a:solidFill>
                <a:schemeClr val="dk1"/>
              </a:solidFill>
              <a:latin typeface="Calibri"/>
              <a:ea typeface="Calibri"/>
              <a:cs typeface="Calibri"/>
              <a:sym typeface="Calibri"/>
            </a:endParaRPr>
          </a:p>
        </p:txBody>
      </p:sp>
      <p:sp>
        <p:nvSpPr>
          <p:cNvPr id="158" name="Google Shape;158;p5"/>
          <p:cNvSpPr/>
          <p:nvPr/>
        </p:nvSpPr>
        <p:spPr>
          <a:xfrm>
            <a:off x="2584735" y="4229472"/>
            <a:ext cx="1943100"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JURISDICTION</a:t>
            </a:r>
            <a:endParaRPr b="0" i="0" sz="590" u="none" cap="none" strike="noStrike">
              <a:solidFill>
                <a:schemeClr val="dk1"/>
              </a:solidFill>
              <a:latin typeface="Calibri"/>
              <a:ea typeface="Calibri"/>
              <a:cs typeface="Calibri"/>
              <a:sym typeface="Calibri"/>
            </a:endParaRPr>
          </a:p>
        </p:txBody>
      </p:sp>
      <p:sp>
        <p:nvSpPr>
          <p:cNvPr id="159" name="Google Shape;159;p5"/>
          <p:cNvSpPr/>
          <p:nvPr/>
        </p:nvSpPr>
        <p:spPr>
          <a:xfrm>
            <a:off x="2584735" y="4378263"/>
            <a:ext cx="1943100" cy="200025"/>
          </a:xfrm>
          <a:prstGeom prst="rect">
            <a:avLst/>
          </a:prstGeom>
          <a:noFill/>
          <a:ln>
            <a:noFill/>
          </a:ln>
        </p:spPr>
        <p:txBody>
          <a:bodyPr anchorCtr="0" anchor="t" bIns="0" lIns="0" spcFirstLastPara="1" rIns="0" wrap="square" tIns="0">
            <a:spAutoFit/>
          </a:bodyPr>
          <a:lstStyle/>
          <a:p>
            <a:pPr indent="0" lvl="0" marL="0" marR="0" rtl="0" algn="l">
              <a:lnSpc>
                <a:spcPct val="150576"/>
              </a:lnSpc>
              <a:spcBef>
                <a:spcPts val="0"/>
              </a:spcBef>
              <a:spcAft>
                <a:spcPts val="0"/>
              </a:spcAft>
              <a:buClr>
                <a:srgbClr val="1A1A1A"/>
              </a:buClr>
              <a:buSzPts val="1040"/>
              <a:buFont typeface="Cormorant Garamond"/>
              <a:buNone/>
            </a:pPr>
            <a:r>
              <a:rPr b="0" i="1" lang="en-US" sz="1040" u="none" cap="none" strike="noStrike">
                <a:solidFill>
                  <a:srgbClr val="1A1A1A"/>
                </a:solidFill>
                <a:latin typeface="Cormorant Garamond"/>
                <a:ea typeface="Cormorant Garamond"/>
                <a:cs typeface="Cormorant Garamond"/>
                <a:sym typeface="Cormorant Garamond"/>
              </a:rPr>
              <a:t>Federal, Art. III</a:t>
            </a:r>
            <a:endParaRPr b="0" i="0" sz="1040" u="none" cap="none" strike="noStrike">
              <a:solidFill>
                <a:schemeClr val="dk1"/>
              </a:solidFill>
              <a:latin typeface="Calibri"/>
              <a:ea typeface="Calibri"/>
              <a:cs typeface="Calibri"/>
              <a:sym typeface="Calibri"/>
            </a:endParaRPr>
          </a:p>
        </p:txBody>
      </p:sp>
      <p:pic>
        <p:nvPicPr>
          <p:cNvPr descr="preencoded.png" id="160" name="Google Shape;160;p5"/>
          <p:cNvPicPr preferRelativeResize="0"/>
          <p:nvPr/>
        </p:nvPicPr>
        <p:blipFill rotWithShape="1">
          <a:blip r:embed="rId3">
            <a:alphaModFix/>
          </a:blip>
          <a:srcRect b="0" l="0" r="0" t="0"/>
          <a:stretch/>
        </p:blipFill>
        <p:spPr>
          <a:xfrm>
            <a:off x="4985965" y="669503"/>
            <a:ext cx="3700463" cy="3605212"/>
          </a:xfrm>
          <a:prstGeom prst="rect">
            <a:avLst/>
          </a:prstGeom>
          <a:noFill/>
          <a:ln>
            <a:noFill/>
          </a:ln>
        </p:spPr>
      </p:pic>
      <p:sp>
        <p:nvSpPr>
          <p:cNvPr id="161" name="Google Shape;161;p5"/>
          <p:cNvSpPr/>
          <p:nvPr/>
        </p:nvSpPr>
        <p:spPr>
          <a:xfrm>
            <a:off x="4985333" y="4353297"/>
            <a:ext cx="1214438" cy="223838"/>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SUBJECT — ANTHROPIC</a:t>
            </a:r>
            <a:endParaRPr b="0" i="0" sz="590" u="none" cap="none" strike="noStrike">
              <a:solidFill>
                <a:schemeClr val="dk1"/>
              </a:solidFill>
              <a:latin typeface="Calibri"/>
              <a:ea typeface="Calibri"/>
              <a:cs typeface="Calibri"/>
              <a:sym typeface="Calibri"/>
            </a:endParaRPr>
          </a:p>
        </p:txBody>
      </p:sp>
      <p:sp>
        <p:nvSpPr>
          <p:cNvPr id="162" name="Google Shape;162;p5"/>
          <p:cNvSpPr/>
          <p:nvPr/>
        </p:nvSpPr>
        <p:spPr>
          <a:xfrm>
            <a:off x="6200142" y="4353297"/>
            <a:ext cx="2486025" cy="223838"/>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PLATE 05 — BLOCKED FROM FEDERAL PIPELINES</a:t>
            </a:r>
            <a:endParaRPr b="0" i="0" sz="590" u="none" cap="none" strike="noStrike">
              <a:solidFill>
                <a:schemeClr val="dk1"/>
              </a:solidFill>
              <a:latin typeface="Calibri"/>
              <a:ea typeface="Calibri"/>
              <a:cs typeface="Calibri"/>
              <a:sym typeface="Calibri"/>
            </a:endParaRPr>
          </a:p>
        </p:txBody>
      </p:sp>
      <p:pic>
        <p:nvPicPr>
          <p:cNvPr descr="preencoded.png" id="163" name="Google Shape;163;p5"/>
          <p:cNvPicPr preferRelativeResize="0"/>
          <p:nvPr/>
        </p:nvPicPr>
        <p:blipFill rotWithShape="1">
          <a:blip r:embed="rId4">
            <a:alphaModFix/>
          </a:blip>
          <a:srcRect b="0" l="0" r="0" t="0"/>
          <a:stretch/>
        </p:blipFill>
        <p:spPr>
          <a:xfrm>
            <a:off x="456828" y="3149687"/>
            <a:ext cx="4071938" cy="1428750"/>
          </a:xfrm>
          <a:prstGeom prst="rect">
            <a:avLst/>
          </a:prstGeom>
          <a:noFill/>
          <a:ln>
            <a:noFill/>
          </a:ln>
        </p:spPr>
      </p:pic>
      <p:sp>
        <p:nvSpPr>
          <p:cNvPr id="164" name="Google Shape;164;p5"/>
          <p:cNvSpPr/>
          <p:nvPr/>
        </p:nvSpPr>
        <p:spPr>
          <a:xfrm>
            <a:off x="457423" y="256989"/>
            <a:ext cx="2133600"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1A1A1A"/>
              </a:buClr>
              <a:buSzPts val="650"/>
              <a:buFont typeface="Inter"/>
              <a:buNone/>
            </a:pPr>
            <a:r>
              <a:rPr b="0" i="0" lang="en-US" sz="650" u="none" cap="none" strike="noStrike">
                <a:solidFill>
                  <a:srgbClr val="1A1A1A"/>
                </a:solidFill>
                <a:latin typeface="Inter"/>
                <a:ea typeface="Inter"/>
                <a:cs typeface="Inter"/>
                <a:sym typeface="Inter"/>
              </a:rPr>
              <a:t>REPRISAL — SUPPLY CHAIN RISK</a:t>
            </a:r>
            <a:endParaRPr b="0" i="0" sz="650" u="none" cap="none" strike="noStrike">
              <a:solidFill>
                <a:schemeClr val="dk1"/>
              </a:solidFill>
              <a:latin typeface="Calibri"/>
              <a:ea typeface="Calibri"/>
              <a:cs typeface="Calibri"/>
              <a:sym typeface="Calibri"/>
            </a:endParaRPr>
          </a:p>
        </p:txBody>
      </p:sp>
      <p:sp>
        <p:nvSpPr>
          <p:cNvPr id="165" name="Google Shape;165;p5"/>
          <p:cNvSpPr/>
          <p:nvPr/>
        </p:nvSpPr>
        <p:spPr>
          <a:xfrm>
            <a:off x="8168394" y="256989"/>
            <a:ext cx="519112"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5C5752"/>
              </a:buClr>
              <a:buSzPts val="650"/>
              <a:buFont typeface="Inter"/>
              <a:buNone/>
            </a:pPr>
            <a:r>
              <a:rPr b="0" i="0" lang="en-US" sz="650" u="none" cap="none" strike="noStrike">
                <a:solidFill>
                  <a:srgbClr val="5C5752"/>
                </a:solidFill>
                <a:latin typeface="Inter"/>
                <a:ea typeface="Inter"/>
                <a:cs typeface="Inter"/>
                <a:sym typeface="Inter"/>
              </a:rPr>
              <a:t>05 — 10</a:t>
            </a:r>
            <a:endParaRPr b="0" i="0" sz="650" u="none" cap="none" strike="noStrike">
              <a:solidFill>
                <a:schemeClr val="dk1"/>
              </a:solidFill>
              <a:latin typeface="Calibri"/>
              <a:ea typeface="Calibri"/>
              <a:cs typeface="Calibri"/>
              <a:sym typeface="Calibri"/>
            </a:endParaRPr>
          </a:p>
        </p:txBody>
      </p:sp>
      <p:sp>
        <p:nvSpPr>
          <p:cNvPr id="166" name="Google Shape;166;p5"/>
          <p:cNvSpPr/>
          <p:nvPr/>
        </p:nvSpPr>
        <p:spPr>
          <a:xfrm>
            <a:off x="458353" y="4824412"/>
            <a:ext cx="561975"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REPRISAL</a:t>
            </a:r>
            <a:endParaRPr b="0" i="0" sz="590" u="none" cap="none" strike="noStrike">
              <a:solidFill>
                <a:schemeClr val="dk1"/>
              </a:solidFill>
              <a:latin typeface="Calibri"/>
              <a:ea typeface="Calibri"/>
              <a:cs typeface="Calibri"/>
              <a:sym typeface="Calibri"/>
            </a:endParaRPr>
          </a:p>
        </p:txBody>
      </p:sp>
      <p:sp>
        <p:nvSpPr>
          <p:cNvPr id="167" name="Google Shape;167;p5"/>
          <p:cNvSpPr/>
          <p:nvPr/>
        </p:nvSpPr>
        <p:spPr>
          <a:xfrm>
            <a:off x="7428719" y="4824412"/>
            <a:ext cx="1257300"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05 — THE BLACKLIST</a:t>
            </a:r>
            <a:endParaRPr b="0" i="0" sz="59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6"/>
          <p:cNvSpPr/>
          <p:nvPr/>
        </p:nvSpPr>
        <p:spPr>
          <a:xfrm>
            <a:off x="0" y="0"/>
            <a:ext cx="9144000" cy="5143500"/>
          </a:xfrm>
          <a:prstGeom prst="rect">
            <a:avLst/>
          </a:prstGeom>
          <a:solidFill>
            <a:srgbClr val="FAF8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4" name="Google Shape;174;p6"/>
          <p:cNvPicPr preferRelativeResize="0"/>
          <p:nvPr/>
        </p:nvPicPr>
        <p:blipFill rotWithShape="1">
          <a:blip r:embed="rId3">
            <a:alphaModFix/>
          </a:blip>
          <a:srcRect b="50995" l="0" r="0" t="18105"/>
          <a:stretch/>
        </p:blipFill>
        <p:spPr>
          <a:xfrm>
            <a:off x="457200" y="533575"/>
            <a:ext cx="8229600" cy="1695326"/>
          </a:xfrm>
          <a:prstGeom prst="rect">
            <a:avLst/>
          </a:prstGeom>
          <a:noFill/>
          <a:ln>
            <a:noFill/>
          </a:ln>
        </p:spPr>
      </p:pic>
      <p:sp>
        <p:nvSpPr>
          <p:cNvPr id="175" name="Google Shape;175;p6"/>
          <p:cNvSpPr/>
          <p:nvPr/>
        </p:nvSpPr>
        <p:spPr>
          <a:xfrm>
            <a:off x="456977" y="2391966"/>
            <a:ext cx="2538413" cy="328613"/>
          </a:xfrm>
          <a:prstGeom prst="rect">
            <a:avLst/>
          </a:prstGeom>
          <a:noFill/>
          <a:ln>
            <a:noFill/>
          </a:ln>
        </p:spPr>
        <p:txBody>
          <a:bodyPr anchorCtr="0" anchor="t" bIns="0" lIns="0" spcFirstLastPara="1" rIns="0" wrap="square" tIns="0">
            <a:spAutoFit/>
          </a:bodyPr>
          <a:lstStyle/>
          <a:p>
            <a:pPr indent="0" lvl="0" marL="0" marR="0" rtl="0" algn="l">
              <a:lnSpc>
                <a:spcPct val="100077"/>
              </a:lnSpc>
              <a:spcBef>
                <a:spcPts val="0"/>
              </a:spcBef>
              <a:spcAft>
                <a:spcPts val="0"/>
              </a:spcAft>
              <a:buClr>
                <a:srgbClr val="1A1A1A"/>
              </a:buClr>
              <a:buSzPts val="2590"/>
              <a:buFont typeface="Cormorant Garamond"/>
              <a:buNone/>
            </a:pPr>
            <a:r>
              <a:rPr b="0" i="1" lang="en-US" sz="2590" u="none" cap="none" strike="noStrike">
                <a:solidFill>
                  <a:srgbClr val="1A1A1A"/>
                </a:solidFill>
                <a:latin typeface="Cormorant Garamond"/>
                <a:ea typeface="Cormorant Garamond"/>
                <a:cs typeface="Cormorant Garamond"/>
                <a:sym typeface="Cormorant Garamond"/>
              </a:rPr>
              <a:t>The Defense Coalition.</a:t>
            </a:r>
            <a:endParaRPr b="0" i="0" sz="2590" u="none" cap="none" strike="noStrike">
              <a:solidFill>
                <a:schemeClr val="dk1"/>
              </a:solidFill>
              <a:latin typeface="Calibri"/>
              <a:ea typeface="Calibri"/>
              <a:cs typeface="Calibri"/>
              <a:sym typeface="Calibri"/>
            </a:endParaRPr>
          </a:p>
        </p:txBody>
      </p:sp>
      <p:sp>
        <p:nvSpPr>
          <p:cNvPr id="176" name="Google Shape;176;p6"/>
          <p:cNvSpPr/>
          <p:nvPr/>
        </p:nvSpPr>
        <p:spPr>
          <a:xfrm>
            <a:off x="4371355" y="2500214"/>
            <a:ext cx="3986100" cy="204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5C5752"/>
              </a:buClr>
              <a:buSzPts val="1080"/>
              <a:buFont typeface="Inter"/>
              <a:buNone/>
            </a:pPr>
            <a:r>
              <a:rPr b="1" lang="en-US" sz="1250" cap="none">
                <a:solidFill>
                  <a:srgbClr val="5C5752"/>
                </a:solidFill>
                <a:latin typeface="Inter"/>
                <a:ea typeface="Inter"/>
                <a:cs typeface="Inter"/>
                <a:sym typeface="Inter"/>
              </a:rPr>
              <a:t>PENTAGON BRIEFING — 01 MAY 2026</a:t>
            </a:r>
            <a:endParaRPr b="1" sz="1250" cap="none">
              <a:solidFill>
                <a:schemeClr val="dk1"/>
              </a:solidFill>
              <a:latin typeface="Calibri"/>
              <a:ea typeface="Calibri"/>
              <a:cs typeface="Calibri"/>
              <a:sym typeface="Calibri"/>
            </a:endParaRPr>
          </a:p>
        </p:txBody>
      </p:sp>
      <p:sp>
        <p:nvSpPr>
          <p:cNvPr id="177" name="Google Shape;177;p6"/>
          <p:cNvSpPr/>
          <p:nvPr/>
        </p:nvSpPr>
        <p:spPr>
          <a:xfrm>
            <a:off x="457200" y="2930835"/>
            <a:ext cx="8229600" cy="164782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
          <p:cNvSpPr/>
          <p:nvPr/>
        </p:nvSpPr>
        <p:spPr>
          <a:xfrm>
            <a:off x="456233" y="3291148"/>
            <a:ext cx="2562225" cy="238125"/>
          </a:xfrm>
          <a:prstGeom prst="rect">
            <a:avLst/>
          </a:prstGeom>
          <a:noFill/>
          <a:ln>
            <a:noFill/>
          </a:ln>
        </p:spPr>
        <p:txBody>
          <a:bodyPr anchorCtr="0" anchor="t" bIns="0" lIns="0" spcFirstLastPara="1" rIns="0" wrap="square" tIns="0">
            <a:spAutoFit/>
          </a:bodyPr>
          <a:lstStyle/>
          <a:p>
            <a:pPr indent="0" lvl="0" marL="0" marR="0" rtl="0" algn="l">
              <a:lnSpc>
                <a:spcPct val="100106"/>
              </a:lnSpc>
              <a:spcBef>
                <a:spcPts val="0"/>
              </a:spcBef>
              <a:spcAft>
                <a:spcPts val="0"/>
              </a:spcAft>
              <a:buClr>
                <a:srgbClr val="1A1A1A"/>
              </a:buClr>
              <a:buSzPts val="1870"/>
              <a:buFont typeface="Cormorant Garamond"/>
              <a:buNone/>
            </a:pPr>
            <a:r>
              <a:rPr b="0" i="1" lang="en-US" sz="1870" u="none" cap="none" strike="noStrike">
                <a:solidFill>
                  <a:srgbClr val="1A1A1A"/>
                </a:solidFill>
                <a:latin typeface="Cormorant Garamond"/>
                <a:ea typeface="Cormorant Garamond"/>
                <a:cs typeface="Cormorant Garamond"/>
                <a:sym typeface="Cormorant Garamond"/>
              </a:rPr>
              <a:t>OpenAI</a:t>
            </a:r>
            <a:endParaRPr b="0" i="0" sz="1870" u="none" cap="none" strike="noStrike">
              <a:solidFill>
                <a:schemeClr val="dk1"/>
              </a:solidFill>
              <a:latin typeface="Calibri"/>
              <a:ea typeface="Calibri"/>
              <a:cs typeface="Calibri"/>
              <a:sym typeface="Calibri"/>
            </a:endParaRPr>
          </a:p>
        </p:txBody>
      </p:sp>
      <p:sp>
        <p:nvSpPr>
          <p:cNvPr id="179" name="Google Shape;179;p6"/>
          <p:cNvSpPr/>
          <p:nvPr/>
        </p:nvSpPr>
        <p:spPr>
          <a:xfrm>
            <a:off x="458130" y="3631927"/>
            <a:ext cx="180975" cy="4763"/>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p:nvPr/>
        </p:nvSpPr>
        <p:spPr>
          <a:xfrm>
            <a:off x="456233" y="3738600"/>
            <a:ext cx="2562225" cy="600075"/>
          </a:xfrm>
          <a:prstGeom prst="rect">
            <a:avLst/>
          </a:prstGeom>
          <a:noFill/>
          <a:ln>
            <a:noFill/>
          </a:ln>
        </p:spPr>
        <p:txBody>
          <a:bodyPr anchorCtr="0" anchor="t" bIns="0" lIns="0" spcFirstLastPara="1" rIns="0" wrap="square" tIns="0">
            <a:spAutoFit/>
          </a:bodyPr>
          <a:lstStyle/>
          <a:p>
            <a:pPr indent="0" lvl="0" marL="0" marR="0" rtl="0" algn="l">
              <a:lnSpc>
                <a:spcPct val="154487"/>
              </a:lnSpc>
              <a:spcBef>
                <a:spcPts val="0"/>
              </a:spcBef>
              <a:spcAft>
                <a:spcPts val="0"/>
              </a:spcAft>
              <a:buClr>
                <a:srgbClr val="2E2C28"/>
              </a:buClr>
              <a:buSzPts val="780"/>
              <a:buFont typeface="Inter"/>
              <a:buNone/>
            </a:pPr>
            <a:r>
              <a:rPr b="0" i="0" lang="en-US" sz="850" u="none" cap="none" strike="noStrike">
                <a:solidFill>
                  <a:srgbClr val="2E2C28"/>
                </a:solidFill>
                <a:latin typeface="Inter"/>
                <a:ea typeface="Inter"/>
                <a:cs typeface="Inter"/>
                <a:sym typeface="Inter"/>
              </a:rPr>
              <a:t>Frontier model access cleared for classified defense workflows under “all lawful use.”</a:t>
            </a:r>
            <a:endParaRPr b="0" i="0" sz="850" u="none" cap="none" strike="noStrike">
              <a:solidFill>
                <a:schemeClr val="dk1"/>
              </a:solidFill>
              <a:latin typeface="Calibri"/>
              <a:ea typeface="Calibri"/>
              <a:cs typeface="Calibri"/>
              <a:sym typeface="Calibri"/>
            </a:endParaRPr>
          </a:p>
        </p:txBody>
      </p:sp>
      <p:sp>
        <p:nvSpPr>
          <p:cNvPr id="181" name="Google Shape;181;p6"/>
          <p:cNvSpPr/>
          <p:nvPr/>
        </p:nvSpPr>
        <p:spPr>
          <a:xfrm>
            <a:off x="456233" y="4440101"/>
            <a:ext cx="2562225" cy="138113"/>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8A5A3B"/>
              </a:buClr>
              <a:buSzPts val="720"/>
              <a:buFont typeface="Inter"/>
              <a:buNone/>
            </a:pPr>
            <a:r>
              <a:rPr b="0" i="0" lang="en-US" sz="720" u="none" cap="none" strike="noStrike">
                <a:solidFill>
                  <a:srgbClr val="8A5A3B"/>
                </a:solidFill>
                <a:latin typeface="Inter"/>
                <a:ea typeface="Inter"/>
                <a:cs typeface="Inter"/>
                <a:sym typeface="Inter"/>
              </a:rPr>
              <a:t>RESTRICTIONS LIFTED</a:t>
            </a:r>
            <a:endParaRPr b="0" i="0" sz="720" u="none" cap="none" strike="noStrike">
              <a:solidFill>
                <a:schemeClr val="dk1"/>
              </a:solidFill>
              <a:latin typeface="Calibri"/>
              <a:ea typeface="Calibri"/>
              <a:cs typeface="Calibri"/>
              <a:sym typeface="Calibri"/>
            </a:endParaRPr>
          </a:p>
        </p:txBody>
      </p:sp>
      <p:sp>
        <p:nvSpPr>
          <p:cNvPr id="182" name="Google Shape;182;p6"/>
          <p:cNvSpPr/>
          <p:nvPr/>
        </p:nvSpPr>
        <p:spPr>
          <a:xfrm>
            <a:off x="3290850" y="3291148"/>
            <a:ext cx="2562225" cy="238125"/>
          </a:xfrm>
          <a:prstGeom prst="rect">
            <a:avLst/>
          </a:prstGeom>
          <a:noFill/>
          <a:ln>
            <a:noFill/>
          </a:ln>
        </p:spPr>
        <p:txBody>
          <a:bodyPr anchorCtr="0" anchor="t" bIns="0" lIns="0" spcFirstLastPara="1" rIns="0" wrap="square" tIns="0">
            <a:spAutoFit/>
          </a:bodyPr>
          <a:lstStyle/>
          <a:p>
            <a:pPr indent="0" lvl="0" marL="0" marR="0" rtl="0" algn="l">
              <a:lnSpc>
                <a:spcPct val="100106"/>
              </a:lnSpc>
              <a:spcBef>
                <a:spcPts val="0"/>
              </a:spcBef>
              <a:spcAft>
                <a:spcPts val="0"/>
              </a:spcAft>
              <a:buClr>
                <a:srgbClr val="1A1A1A"/>
              </a:buClr>
              <a:buSzPts val="1870"/>
              <a:buFont typeface="Cormorant Garamond"/>
              <a:buNone/>
            </a:pPr>
            <a:r>
              <a:rPr b="0" i="1" lang="en-US" sz="1870" u="none" cap="none" strike="noStrike">
                <a:solidFill>
                  <a:srgbClr val="1A1A1A"/>
                </a:solidFill>
                <a:latin typeface="Cormorant Garamond"/>
                <a:ea typeface="Cormorant Garamond"/>
                <a:cs typeface="Cormorant Garamond"/>
                <a:sym typeface="Cormorant Garamond"/>
              </a:rPr>
              <a:t>Nvidia</a:t>
            </a:r>
            <a:endParaRPr b="0" i="0" sz="1870" u="none" cap="none" strike="noStrike">
              <a:solidFill>
                <a:schemeClr val="dk1"/>
              </a:solidFill>
              <a:latin typeface="Calibri"/>
              <a:ea typeface="Calibri"/>
              <a:cs typeface="Calibri"/>
              <a:sym typeface="Calibri"/>
            </a:endParaRPr>
          </a:p>
        </p:txBody>
      </p:sp>
      <p:sp>
        <p:nvSpPr>
          <p:cNvPr id="183" name="Google Shape;183;p6"/>
          <p:cNvSpPr/>
          <p:nvPr/>
        </p:nvSpPr>
        <p:spPr>
          <a:xfrm>
            <a:off x="3292711" y="3631927"/>
            <a:ext cx="180975" cy="4763"/>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
          <p:cNvSpPr/>
          <p:nvPr/>
        </p:nvSpPr>
        <p:spPr>
          <a:xfrm>
            <a:off x="3290850" y="3738600"/>
            <a:ext cx="2562225" cy="600075"/>
          </a:xfrm>
          <a:prstGeom prst="rect">
            <a:avLst/>
          </a:prstGeom>
          <a:noFill/>
          <a:ln>
            <a:noFill/>
          </a:ln>
        </p:spPr>
        <p:txBody>
          <a:bodyPr anchorCtr="0" anchor="t" bIns="0" lIns="0" spcFirstLastPara="1" rIns="0" wrap="square" tIns="0">
            <a:spAutoFit/>
          </a:bodyPr>
          <a:lstStyle/>
          <a:p>
            <a:pPr indent="0" lvl="0" marL="0" marR="0" rtl="0" algn="l">
              <a:lnSpc>
                <a:spcPct val="154487"/>
              </a:lnSpc>
              <a:spcBef>
                <a:spcPts val="0"/>
              </a:spcBef>
              <a:spcAft>
                <a:spcPts val="0"/>
              </a:spcAft>
              <a:buClr>
                <a:srgbClr val="2E2C28"/>
              </a:buClr>
              <a:buSzPts val="780"/>
              <a:buFont typeface="Inter"/>
              <a:buNone/>
            </a:pPr>
            <a:r>
              <a:rPr b="0" i="0" lang="en-US" sz="850" u="none" cap="none" strike="noStrike">
                <a:solidFill>
                  <a:srgbClr val="2E2C28"/>
                </a:solidFill>
                <a:latin typeface="Inter"/>
                <a:ea typeface="Inter"/>
                <a:cs typeface="Inter"/>
                <a:sym typeface="Inter"/>
              </a:rPr>
              <a:t>Compute substrate. Classified-tier GPUs and inference infrastructure for the new model stack.</a:t>
            </a:r>
            <a:endParaRPr b="0" i="0" sz="850" u="none" cap="none" strike="noStrike">
              <a:solidFill>
                <a:schemeClr val="dk1"/>
              </a:solidFill>
              <a:latin typeface="Calibri"/>
              <a:ea typeface="Calibri"/>
              <a:cs typeface="Calibri"/>
              <a:sym typeface="Calibri"/>
            </a:endParaRPr>
          </a:p>
        </p:txBody>
      </p:sp>
      <p:sp>
        <p:nvSpPr>
          <p:cNvPr id="185" name="Google Shape;185;p6"/>
          <p:cNvSpPr/>
          <p:nvPr/>
        </p:nvSpPr>
        <p:spPr>
          <a:xfrm>
            <a:off x="3290850" y="4440101"/>
            <a:ext cx="2562225" cy="138113"/>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8A5A3B"/>
              </a:buClr>
              <a:buSzPts val="720"/>
              <a:buFont typeface="Inter"/>
              <a:buNone/>
            </a:pPr>
            <a:r>
              <a:rPr b="0" i="0" lang="en-US" sz="720" u="none" cap="none" strike="noStrike">
                <a:solidFill>
                  <a:srgbClr val="8A5A3B"/>
                </a:solidFill>
                <a:latin typeface="Inter"/>
                <a:ea typeface="Inter"/>
                <a:cs typeface="Inter"/>
                <a:sym typeface="Inter"/>
              </a:rPr>
              <a:t>COMPUTE CLEARED</a:t>
            </a:r>
            <a:endParaRPr b="0" i="0" sz="720" u="none" cap="none" strike="noStrike">
              <a:solidFill>
                <a:schemeClr val="dk1"/>
              </a:solidFill>
              <a:latin typeface="Calibri"/>
              <a:ea typeface="Calibri"/>
              <a:cs typeface="Calibri"/>
              <a:sym typeface="Calibri"/>
            </a:endParaRPr>
          </a:p>
        </p:txBody>
      </p:sp>
      <p:sp>
        <p:nvSpPr>
          <p:cNvPr id="186" name="Google Shape;186;p6"/>
          <p:cNvSpPr/>
          <p:nvPr/>
        </p:nvSpPr>
        <p:spPr>
          <a:xfrm>
            <a:off x="6125505" y="3291148"/>
            <a:ext cx="2562225" cy="238125"/>
          </a:xfrm>
          <a:prstGeom prst="rect">
            <a:avLst/>
          </a:prstGeom>
          <a:noFill/>
          <a:ln>
            <a:noFill/>
          </a:ln>
        </p:spPr>
        <p:txBody>
          <a:bodyPr anchorCtr="0" anchor="t" bIns="0" lIns="0" spcFirstLastPara="1" rIns="0" wrap="square" tIns="0">
            <a:spAutoFit/>
          </a:bodyPr>
          <a:lstStyle/>
          <a:p>
            <a:pPr indent="0" lvl="0" marL="0" marR="0" rtl="0" algn="l">
              <a:lnSpc>
                <a:spcPct val="100106"/>
              </a:lnSpc>
              <a:spcBef>
                <a:spcPts val="0"/>
              </a:spcBef>
              <a:spcAft>
                <a:spcPts val="0"/>
              </a:spcAft>
              <a:buClr>
                <a:srgbClr val="1A1A1A"/>
              </a:buClr>
              <a:buSzPts val="1870"/>
              <a:buFont typeface="Cormorant Garamond"/>
              <a:buNone/>
            </a:pPr>
            <a:r>
              <a:rPr b="0" i="1" lang="en-US" sz="1870" u="none" cap="none" strike="noStrike">
                <a:solidFill>
                  <a:srgbClr val="1A1A1A"/>
                </a:solidFill>
                <a:latin typeface="Cormorant Garamond"/>
                <a:ea typeface="Cormorant Garamond"/>
                <a:cs typeface="Cormorant Garamond"/>
                <a:sym typeface="Cormorant Garamond"/>
              </a:rPr>
              <a:t>Alphabet</a:t>
            </a:r>
            <a:endParaRPr b="0" i="0" sz="1870" u="none" cap="none" strike="noStrike">
              <a:solidFill>
                <a:schemeClr val="dk1"/>
              </a:solidFill>
              <a:latin typeface="Calibri"/>
              <a:ea typeface="Calibri"/>
              <a:cs typeface="Calibri"/>
              <a:sym typeface="Calibri"/>
            </a:endParaRPr>
          </a:p>
        </p:txBody>
      </p:sp>
      <p:sp>
        <p:nvSpPr>
          <p:cNvPr id="187" name="Google Shape;187;p6"/>
          <p:cNvSpPr/>
          <p:nvPr/>
        </p:nvSpPr>
        <p:spPr>
          <a:xfrm>
            <a:off x="6127366" y="3631927"/>
            <a:ext cx="180975" cy="4763"/>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6"/>
          <p:cNvSpPr/>
          <p:nvPr/>
        </p:nvSpPr>
        <p:spPr>
          <a:xfrm>
            <a:off x="6125505" y="3738600"/>
            <a:ext cx="2562225" cy="600075"/>
          </a:xfrm>
          <a:prstGeom prst="rect">
            <a:avLst/>
          </a:prstGeom>
          <a:noFill/>
          <a:ln>
            <a:noFill/>
          </a:ln>
        </p:spPr>
        <p:txBody>
          <a:bodyPr anchorCtr="0" anchor="t" bIns="0" lIns="0" spcFirstLastPara="1" rIns="0" wrap="square" tIns="0">
            <a:spAutoFit/>
          </a:bodyPr>
          <a:lstStyle/>
          <a:p>
            <a:pPr indent="0" lvl="0" marL="0" marR="0" rtl="0" algn="l">
              <a:lnSpc>
                <a:spcPct val="154487"/>
              </a:lnSpc>
              <a:spcBef>
                <a:spcPts val="0"/>
              </a:spcBef>
              <a:spcAft>
                <a:spcPts val="0"/>
              </a:spcAft>
              <a:buClr>
                <a:srgbClr val="2E2C28"/>
              </a:buClr>
              <a:buSzPts val="780"/>
              <a:buFont typeface="Inter"/>
              <a:buNone/>
            </a:pPr>
            <a:r>
              <a:rPr b="0" i="0" lang="en-US" sz="850" u="none" cap="none" strike="noStrike">
                <a:solidFill>
                  <a:srgbClr val="2E2C28"/>
                </a:solidFill>
                <a:latin typeface="Inter"/>
                <a:ea typeface="Inter"/>
                <a:cs typeface="Inter"/>
                <a:sym typeface="Inter"/>
              </a:rPr>
              <a:t>Gemini cleared for classified deployments. Quiet retirement of the 2018 Project Maven pledge.</a:t>
            </a:r>
            <a:endParaRPr b="0" i="0" sz="850" u="none" cap="none" strike="noStrike">
              <a:solidFill>
                <a:schemeClr val="dk1"/>
              </a:solidFill>
              <a:latin typeface="Calibri"/>
              <a:ea typeface="Calibri"/>
              <a:cs typeface="Calibri"/>
              <a:sym typeface="Calibri"/>
            </a:endParaRPr>
          </a:p>
        </p:txBody>
      </p:sp>
      <p:sp>
        <p:nvSpPr>
          <p:cNvPr id="189" name="Google Shape;189;p6"/>
          <p:cNvSpPr/>
          <p:nvPr/>
        </p:nvSpPr>
        <p:spPr>
          <a:xfrm>
            <a:off x="6125505" y="4440101"/>
            <a:ext cx="2562225" cy="138113"/>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8A5A3B"/>
              </a:buClr>
              <a:buSzPts val="720"/>
              <a:buFont typeface="Inter"/>
              <a:buNone/>
            </a:pPr>
            <a:r>
              <a:rPr b="0" i="0" lang="en-US" sz="720" u="none" cap="none" strike="noStrike">
                <a:solidFill>
                  <a:srgbClr val="8A5A3B"/>
                </a:solidFill>
                <a:latin typeface="Inter"/>
                <a:ea typeface="Inter"/>
                <a:cs typeface="Inter"/>
                <a:sym typeface="Inter"/>
              </a:rPr>
              <a:t>PLEDGE RETIRED</a:t>
            </a:r>
            <a:endParaRPr b="0" i="0" sz="720" u="none" cap="none" strike="noStrike">
              <a:solidFill>
                <a:schemeClr val="dk1"/>
              </a:solidFill>
              <a:latin typeface="Calibri"/>
              <a:ea typeface="Calibri"/>
              <a:cs typeface="Calibri"/>
              <a:sym typeface="Calibri"/>
            </a:endParaRPr>
          </a:p>
        </p:txBody>
      </p:sp>
      <p:sp>
        <p:nvSpPr>
          <p:cNvPr id="190" name="Google Shape;190;p6"/>
          <p:cNvSpPr/>
          <p:nvPr/>
        </p:nvSpPr>
        <p:spPr>
          <a:xfrm>
            <a:off x="457498" y="256989"/>
            <a:ext cx="1762125"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1A1A1A"/>
              </a:buClr>
              <a:buSzPts val="650"/>
              <a:buFont typeface="Inter"/>
              <a:buNone/>
            </a:pPr>
            <a:r>
              <a:rPr b="0" i="0" lang="en-US" sz="650" u="none" cap="none" strike="noStrike">
                <a:solidFill>
                  <a:srgbClr val="1A1A1A"/>
                </a:solidFill>
                <a:latin typeface="Inter"/>
                <a:ea typeface="Inter"/>
                <a:cs typeface="Inter"/>
                <a:sym typeface="Inter"/>
              </a:rPr>
              <a:t>PIVOT — THE SIGNATORIES</a:t>
            </a:r>
            <a:endParaRPr b="0" i="0" sz="650" u="none" cap="none" strike="noStrike">
              <a:solidFill>
                <a:schemeClr val="dk1"/>
              </a:solidFill>
              <a:latin typeface="Calibri"/>
              <a:ea typeface="Calibri"/>
              <a:cs typeface="Calibri"/>
              <a:sym typeface="Calibri"/>
            </a:endParaRPr>
          </a:p>
        </p:txBody>
      </p:sp>
      <p:sp>
        <p:nvSpPr>
          <p:cNvPr id="191" name="Google Shape;191;p6"/>
          <p:cNvSpPr/>
          <p:nvPr/>
        </p:nvSpPr>
        <p:spPr>
          <a:xfrm>
            <a:off x="8167278" y="256989"/>
            <a:ext cx="519112"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5C5752"/>
              </a:buClr>
              <a:buSzPts val="650"/>
              <a:buFont typeface="Inter"/>
              <a:buNone/>
            </a:pPr>
            <a:r>
              <a:rPr b="0" i="0" lang="en-US" sz="650" u="none" cap="none" strike="noStrike">
                <a:solidFill>
                  <a:srgbClr val="5C5752"/>
                </a:solidFill>
                <a:latin typeface="Inter"/>
                <a:ea typeface="Inter"/>
                <a:cs typeface="Inter"/>
                <a:sym typeface="Inter"/>
              </a:rPr>
              <a:t>06 — 10</a:t>
            </a:r>
            <a:endParaRPr b="0" i="0" sz="650" u="none" cap="none" strike="noStrike">
              <a:solidFill>
                <a:schemeClr val="dk1"/>
              </a:solidFill>
              <a:latin typeface="Calibri"/>
              <a:ea typeface="Calibri"/>
              <a:cs typeface="Calibri"/>
              <a:sym typeface="Calibri"/>
            </a:endParaRPr>
          </a:p>
        </p:txBody>
      </p:sp>
      <p:sp>
        <p:nvSpPr>
          <p:cNvPr id="192" name="Google Shape;192;p6"/>
          <p:cNvSpPr/>
          <p:nvPr/>
        </p:nvSpPr>
        <p:spPr>
          <a:xfrm>
            <a:off x="457535" y="4824412"/>
            <a:ext cx="2195513"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PIVOT — OPENAI, NVIDIA, ALPHABET</a:t>
            </a:r>
            <a:endParaRPr b="0" i="0" sz="590" u="none" cap="none" strike="noStrike">
              <a:solidFill>
                <a:schemeClr val="dk1"/>
              </a:solidFill>
              <a:latin typeface="Calibri"/>
              <a:ea typeface="Calibri"/>
              <a:cs typeface="Calibri"/>
              <a:sym typeface="Calibri"/>
            </a:endParaRPr>
          </a:p>
        </p:txBody>
      </p:sp>
      <p:sp>
        <p:nvSpPr>
          <p:cNvPr id="193" name="Google Shape;193;p6"/>
          <p:cNvSpPr/>
          <p:nvPr/>
        </p:nvSpPr>
        <p:spPr>
          <a:xfrm>
            <a:off x="7424886" y="4824412"/>
            <a:ext cx="1262063"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06 — THE COALITION</a:t>
            </a:r>
            <a:endParaRPr b="0" i="0" sz="59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7"/>
          <p:cNvSpPr/>
          <p:nvPr/>
        </p:nvSpPr>
        <p:spPr>
          <a:xfrm>
            <a:off x="0" y="0"/>
            <a:ext cx="9144000" cy="5143500"/>
          </a:xfrm>
          <a:prstGeom prst="rect">
            <a:avLst/>
          </a:prstGeom>
          <a:solidFill>
            <a:srgbClr val="FAF8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7"/>
          <p:cNvSpPr/>
          <p:nvPr/>
        </p:nvSpPr>
        <p:spPr>
          <a:xfrm>
            <a:off x="456233" y="668424"/>
            <a:ext cx="3933825"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5C5752"/>
              </a:buClr>
              <a:buSzPts val="650"/>
              <a:buFont typeface="Inter"/>
              <a:buNone/>
            </a:pPr>
            <a:r>
              <a:rPr b="0" i="0" lang="en-US" sz="650" u="none" cap="none" strike="noStrike">
                <a:solidFill>
                  <a:srgbClr val="5C5752"/>
                </a:solidFill>
                <a:latin typeface="Inter"/>
                <a:ea typeface="Inter"/>
                <a:cs typeface="Inter"/>
                <a:sym typeface="Inter"/>
              </a:rPr>
              <a:t>TRACK A</a:t>
            </a:r>
            <a:endParaRPr b="0" i="0" sz="650" u="none" cap="none" strike="noStrike">
              <a:solidFill>
                <a:schemeClr val="dk1"/>
              </a:solidFill>
              <a:latin typeface="Calibri"/>
              <a:ea typeface="Calibri"/>
              <a:cs typeface="Calibri"/>
              <a:sym typeface="Calibri"/>
            </a:endParaRPr>
          </a:p>
        </p:txBody>
      </p:sp>
      <p:sp>
        <p:nvSpPr>
          <p:cNvPr id="201" name="Google Shape;201;p7"/>
          <p:cNvSpPr/>
          <p:nvPr/>
        </p:nvSpPr>
        <p:spPr>
          <a:xfrm>
            <a:off x="456233" y="868673"/>
            <a:ext cx="3933825" cy="3667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A1A1A"/>
              </a:buClr>
              <a:buSzPts val="2880"/>
              <a:buFont typeface="Cormorant Garamond"/>
              <a:buNone/>
            </a:pPr>
            <a:r>
              <a:rPr b="0" i="1" lang="en-US" sz="2880" u="none" cap="none" strike="noStrike">
                <a:solidFill>
                  <a:srgbClr val="1A1A1A"/>
                </a:solidFill>
                <a:latin typeface="Cormorant Garamond"/>
                <a:ea typeface="Cormorant Garamond"/>
                <a:cs typeface="Cormorant Garamond"/>
                <a:sym typeface="Cormorant Garamond"/>
              </a:rPr>
              <a:t>Anthropic.</a:t>
            </a:r>
            <a:endParaRPr b="0" i="0" sz="2880" u="none" cap="none" strike="noStrike">
              <a:solidFill>
                <a:schemeClr val="dk1"/>
              </a:solidFill>
              <a:latin typeface="Calibri"/>
              <a:ea typeface="Calibri"/>
              <a:cs typeface="Calibri"/>
              <a:sym typeface="Calibri"/>
            </a:endParaRPr>
          </a:p>
        </p:txBody>
      </p:sp>
      <p:sp>
        <p:nvSpPr>
          <p:cNvPr id="202" name="Google Shape;202;p7"/>
          <p:cNvSpPr/>
          <p:nvPr/>
        </p:nvSpPr>
        <p:spPr>
          <a:xfrm>
            <a:off x="456233" y="1363489"/>
            <a:ext cx="276225" cy="4763"/>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3" name="Google Shape;203;p7"/>
          <p:cNvPicPr preferRelativeResize="0"/>
          <p:nvPr/>
        </p:nvPicPr>
        <p:blipFill rotWithShape="1">
          <a:blip r:embed="rId3">
            <a:alphaModFix/>
          </a:blip>
          <a:srcRect b="0" l="0" r="0" t="0"/>
          <a:stretch/>
        </p:blipFill>
        <p:spPr>
          <a:xfrm>
            <a:off x="456233" y="1496839"/>
            <a:ext cx="3933825" cy="1543050"/>
          </a:xfrm>
          <a:prstGeom prst="rect">
            <a:avLst/>
          </a:prstGeom>
          <a:noFill/>
          <a:ln>
            <a:noFill/>
          </a:ln>
        </p:spPr>
      </p:pic>
      <p:sp>
        <p:nvSpPr>
          <p:cNvPr id="204" name="Google Shape;204;p7"/>
          <p:cNvSpPr/>
          <p:nvPr/>
        </p:nvSpPr>
        <p:spPr>
          <a:xfrm>
            <a:off x="0" y="3168495"/>
            <a:ext cx="3879600" cy="338100"/>
          </a:xfrm>
          <a:prstGeom prst="rect">
            <a:avLst/>
          </a:prstGeom>
          <a:noFill/>
          <a:ln>
            <a:noFill/>
          </a:ln>
        </p:spPr>
        <p:txBody>
          <a:bodyPr anchorCtr="0" anchor="t" bIns="0" lIns="0" spcFirstLastPara="1" rIns="0" wrap="square" tIns="0">
            <a:spAutoFit/>
          </a:bodyPr>
          <a:lstStyle/>
          <a:p>
            <a:pPr indent="0" lvl="0" marL="457200" marR="0" rtl="0" algn="l">
              <a:lnSpc>
                <a:spcPct val="139702"/>
              </a:lnSpc>
              <a:spcBef>
                <a:spcPts val="0"/>
              </a:spcBef>
              <a:spcAft>
                <a:spcPts val="0"/>
              </a:spcAft>
              <a:buNone/>
            </a:pPr>
            <a:r>
              <a:rPr b="0" i="1" lang="en-US" sz="1200" u="none" cap="none" strike="noStrike">
                <a:solidFill>
                  <a:srgbClr val="1A1A1A"/>
                </a:solidFill>
                <a:latin typeface="Cormorant Garamond"/>
                <a:ea typeface="Cormorant Garamond"/>
                <a:cs typeface="Cormorant Garamond"/>
                <a:sym typeface="Cormorant Garamond"/>
              </a:rPr>
              <a:t>Holds the line on autonomous weapons and mass surveillance.</a:t>
            </a:r>
            <a:endParaRPr b="0" i="0" sz="1200" u="none" cap="none" strike="noStrike">
              <a:solidFill>
                <a:schemeClr val="dk1"/>
              </a:solidFill>
              <a:latin typeface="Calibri"/>
              <a:ea typeface="Calibri"/>
              <a:cs typeface="Calibri"/>
              <a:sym typeface="Calibri"/>
            </a:endParaRPr>
          </a:p>
        </p:txBody>
      </p:sp>
      <p:sp>
        <p:nvSpPr>
          <p:cNvPr id="205" name="Google Shape;205;p7"/>
          <p:cNvSpPr/>
          <p:nvPr/>
        </p:nvSpPr>
        <p:spPr>
          <a:xfrm>
            <a:off x="381520" y="3459013"/>
            <a:ext cx="3796200" cy="338100"/>
          </a:xfrm>
          <a:prstGeom prst="rect">
            <a:avLst/>
          </a:prstGeom>
          <a:noFill/>
          <a:ln>
            <a:noFill/>
          </a:ln>
        </p:spPr>
        <p:txBody>
          <a:bodyPr anchorCtr="0" anchor="t" bIns="0" lIns="0" spcFirstLastPara="1" rIns="0" wrap="square" tIns="0">
            <a:spAutoFit/>
          </a:bodyPr>
          <a:lstStyle/>
          <a:p>
            <a:pPr indent="0" lvl="0" marL="0" marR="0" rtl="0" algn="ctr">
              <a:lnSpc>
                <a:spcPct val="139702"/>
              </a:lnSpc>
              <a:spcBef>
                <a:spcPts val="0"/>
              </a:spcBef>
              <a:spcAft>
                <a:spcPts val="0"/>
              </a:spcAft>
              <a:buClr>
                <a:srgbClr val="5C5752"/>
              </a:buClr>
              <a:buSzPts val="590"/>
              <a:buFont typeface="Inter"/>
              <a:buNone/>
            </a:pPr>
            <a:r>
              <a:rPr b="0" i="1" lang="en-US" sz="1200" u="none" cap="none" strike="noStrike">
                <a:solidFill>
                  <a:srgbClr val="1A1A1A"/>
                </a:solidFill>
                <a:latin typeface="Cormorant Garamond"/>
                <a:ea typeface="Cormorant Garamond"/>
                <a:cs typeface="Cormorant Garamond"/>
                <a:sym typeface="Cormorant Garamond"/>
              </a:rPr>
              <a:t>Sues the administration in N.D. Cal — wins preliminary injunction.</a:t>
            </a:r>
            <a:endParaRPr b="0" i="0" sz="1200" u="none" cap="none" strike="noStrike">
              <a:solidFill>
                <a:schemeClr val="dk1"/>
              </a:solidFill>
              <a:latin typeface="Calibri"/>
              <a:ea typeface="Calibri"/>
              <a:cs typeface="Calibri"/>
              <a:sym typeface="Calibri"/>
            </a:endParaRPr>
          </a:p>
        </p:txBody>
      </p:sp>
      <p:sp>
        <p:nvSpPr>
          <p:cNvPr id="206" name="Google Shape;206;p7"/>
          <p:cNvSpPr/>
          <p:nvPr/>
        </p:nvSpPr>
        <p:spPr>
          <a:xfrm>
            <a:off x="-398569" y="3844773"/>
            <a:ext cx="3879600" cy="338100"/>
          </a:xfrm>
          <a:prstGeom prst="rect">
            <a:avLst/>
          </a:prstGeom>
          <a:noFill/>
          <a:ln>
            <a:noFill/>
          </a:ln>
        </p:spPr>
        <p:txBody>
          <a:bodyPr anchorCtr="0" anchor="t" bIns="0" lIns="0" spcFirstLastPara="1" rIns="0" wrap="square" tIns="0">
            <a:spAutoFit/>
          </a:bodyPr>
          <a:lstStyle/>
          <a:p>
            <a:pPr indent="0" lvl="0" marL="0" marR="0" rtl="0" algn="l">
              <a:lnSpc>
                <a:spcPct val="139702"/>
              </a:lnSpc>
              <a:spcBef>
                <a:spcPts val="0"/>
              </a:spcBef>
              <a:spcAft>
                <a:spcPts val="0"/>
              </a:spcAft>
              <a:buClr>
                <a:srgbClr val="5C5752"/>
              </a:buClr>
              <a:buSzPts val="590"/>
              <a:buFont typeface="Inter"/>
              <a:buNone/>
            </a:pPr>
            <a:r>
              <a:rPr lang="en-US" sz="1200">
                <a:solidFill>
                  <a:srgbClr val="5C5752"/>
                </a:solidFill>
                <a:latin typeface="Inter"/>
                <a:ea typeface="Inter"/>
                <a:cs typeface="Inter"/>
                <a:sym typeface="Inter"/>
              </a:rPr>
              <a:t>                   </a:t>
            </a:r>
            <a:r>
              <a:rPr b="0" i="1" lang="en-US" sz="1200" u="none" cap="none" strike="noStrike">
                <a:solidFill>
                  <a:srgbClr val="1A1A1A"/>
                </a:solidFill>
                <a:latin typeface="Cormorant Garamond"/>
                <a:ea typeface="Cormorant Garamond"/>
                <a:cs typeface="Cormorant Garamond"/>
                <a:sym typeface="Cormorant Garamond"/>
              </a:rPr>
              <a:t>Trades the $200M federal pipeline for its safety policy.</a:t>
            </a:r>
            <a:endParaRPr b="0" i="0" sz="1200" u="none" cap="none" strike="noStrike">
              <a:solidFill>
                <a:schemeClr val="dk1"/>
              </a:solidFill>
              <a:latin typeface="Calibri"/>
              <a:ea typeface="Calibri"/>
              <a:cs typeface="Calibri"/>
              <a:sym typeface="Calibri"/>
            </a:endParaRPr>
          </a:p>
        </p:txBody>
      </p:sp>
      <p:sp>
        <p:nvSpPr>
          <p:cNvPr id="207" name="Google Shape;207;p7"/>
          <p:cNvSpPr/>
          <p:nvPr/>
        </p:nvSpPr>
        <p:spPr>
          <a:xfrm>
            <a:off x="456233" y="4310583"/>
            <a:ext cx="3933825"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POSTURE</a:t>
            </a:r>
            <a:endParaRPr b="0" i="0" sz="590" u="none" cap="none" strike="noStrike">
              <a:solidFill>
                <a:schemeClr val="dk1"/>
              </a:solidFill>
              <a:latin typeface="Calibri"/>
              <a:ea typeface="Calibri"/>
              <a:cs typeface="Calibri"/>
              <a:sym typeface="Calibri"/>
            </a:endParaRPr>
          </a:p>
        </p:txBody>
      </p:sp>
      <p:sp>
        <p:nvSpPr>
          <p:cNvPr id="208" name="Google Shape;208;p7"/>
          <p:cNvSpPr/>
          <p:nvPr/>
        </p:nvSpPr>
        <p:spPr>
          <a:xfrm>
            <a:off x="456233" y="4454426"/>
            <a:ext cx="3933825" cy="247650"/>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8A5A3B"/>
              </a:buClr>
              <a:buSzPts val="1300"/>
              <a:buFont typeface="Cormorant Garamond"/>
              <a:buNone/>
            </a:pPr>
            <a:r>
              <a:rPr b="0" i="1" lang="en-US" sz="1300" u="none" cap="none" strike="noStrike">
                <a:solidFill>
                  <a:srgbClr val="B45F06"/>
                </a:solidFill>
                <a:latin typeface="Cormorant Garamond"/>
                <a:ea typeface="Cormorant Garamond"/>
                <a:cs typeface="Cormorant Garamond"/>
                <a:sym typeface="Cormorant Garamond"/>
              </a:rPr>
              <a:t>Constraint</a:t>
            </a:r>
            <a:endParaRPr b="0" i="0" sz="1300" u="none" cap="none" strike="noStrike">
              <a:solidFill>
                <a:srgbClr val="B45F06"/>
              </a:solidFill>
              <a:latin typeface="Calibri"/>
              <a:ea typeface="Calibri"/>
              <a:cs typeface="Calibri"/>
              <a:sym typeface="Calibri"/>
            </a:endParaRPr>
          </a:p>
        </p:txBody>
      </p:sp>
      <p:sp>
        <p:nvSpPr>
          <p:cNvPr id="209" name="Google Shape;209;p7"/>
          <p:cNvSpPr/>
          <p:nvPr/>
        </p:nvSpPr>
        <p:spPr>
          <a:xfrm>
            <a:off x="4753905" y="868673"/>
            <a:ext cx="3933825" cy="3667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A1A1A"/>
              </a:buClr>
              <a:buSzPts val="2880"/>
              <a:buFont typeface="Cormorant Garamond"/>
              <a:buNone/>
            </a:pPr>
            <a:r>
              <a:rPr b="0" i="1" lang="en-US" sz="2880" u="none" cap="none" strike="noStrike">
                <a:solidFill>
                  <a:srgbClr val="1A1A1A"/>
                </a:solidFill>
                <a:latin typeface="Cormorant Garamond"/>
                <a:ea typeface="Cormorant Garamond"/>
                <a:cs typeface="Cormorant Garamond"/>
                <a:sym typeface="Cormorant Garamond"/>
              </a:rPr>
              <a:t>OpenAI.</a:t>
            </a:r>
            <a:endParaRPr b="0" i="0" sz="2880" u="none" cap="none" strike="noStrike">
              <a:solidFill>
                <a:schemeClr val="dk1"/>
              </a:solidFill>
              <a:latin typeface="Calibri"/>
              <a:ea typeface="Calibri"/>
              <a:cs typeface="Calibri"/>
              <a:sym typeface="Calibri"/>
            </a:endParaRPr>
          </a:p>
        </p:txBody>
      </p:sp>
      <p:sp>
        <p:nvSpPr>
          <p:cNvPr id="210" name="Google Shape;210;p7"/>
          <p:cNvSpPr/>
          <p:nvPr/>
        </p:nvSpPr>
        <p:spPr>
          <a:xfrm>
            <a:off x="4753868" y="1363489"/>
            <a:ext cx="276225" cy="4763"/>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1" name="Google Shape;211;p7"/>
          <p:cNvPicPr preferRelativeResize="0"/>
          <p:nvPr/>
        </p:nvPicPr>
        <p:blipFill rotWithShape="1">
          <a:blip r:embed="rId4">
            <a:alphaModFix/>
          </a:blip>
          <a:srcRect b="0" l="0" r="0" t="0"/>
          <a:stretch/>
        </p:blipFill>
        <p:spPr>
          <a:xfrm>
            <a:off x="4753905" y="1496839"/>
            <a:ext cx="3933825" cy="1543050"/>
          </a:xfrm>
          <a:prstGeom prst="rect">
            <a:avLst/>
          </a:prstGeom>
          <a:noFill/>
          <a:ln>
            <a:noFill/>
          </a:ln>
        </p:spPr>
      </p:pic>
      <p:sp>
        <p:nvSpPr>
          <p:cNvPr id="212" name="Google Shape;212;p7"/>
          <p:cNvSpPr/>
          <p:nvPr/>
        </p:nvSpPr>
        <p:spPr>
          <a:xfrm>
            <a:off x="4753905" y="3168476"/>
            <a:ext cx="3933825" cy="338137"/>
          </a:xfrm>
          <a:prstGeom prst="rect">
            <a:avLst/>
          </a:prstGeom>
          <a:noFill/>
          <a:ln>
            <a:noFill/>
          </a:ln>
        </p:spPr>
        <p:txBody>
          <a:bodyPr anchorCtr="0" anchor="t" bIns="0" lIns="0" spcFirstLastPara="1" rIns="0" wrap="square" tIns="0">
            <a:spAutoFit/>
          </a:bodyPr>
          <a:lstStyle/>
          <a:p>
            <a:pPr indent="0" lvl="0" marL="0" marR="0" rtl="0" algn="l">
              <a:lnSpc>
                <a:spcPct val="139702"/>
              </a:lnSpc>
              <a:spcBef>
                <a:spcPts val="0"/>
              </a:spcBef>
              <a:spcAft>
                <a:spcPts val="0"/>
              </a:spcAft>
              <a:buClr>
                <a:srgbClr val="5C5752"/>
              </a:buClr>
              <a:buSzPts val="590"/>
              <a:buFont typeface="Inter"/>
              <a:buNone/>
            </a:pPr>
            <a:r>
              <a:rPr b="0" i="1" lang="en-US" sz="1200" u="none" cap="none" strike="noStrike">
                <a:solidFill>
                  <a:srgbClr val="1A1A1A"/>
                </a:solidFill>
                <a:latin typeface="Cormorant Garamond"/>
                <a:ea typeface="Cormorant Garamond"/>
                <a:cs typeface="Cormorant Garamond"/>
                <a:sym typeface="Cormorant Garamond"/>
              </a:rPr>
              <a:t>Accepts the “all lawful use” clause for classified workflows.</a:t>
            </a:r>
            <a:endParaRPr b="0" i="0" sz="1200" u="none" cap="none" strike="noStrike">
              <a:solidFill>
                <a:schemeClr val="dk1"/>
              </a:solidFill>
              <a:latin typeface="Calibri"/>
              <a:ea typeface="Calibri"/>
              <a:cs typeface="Calibri"/>
              <a:sym typeface="Calibri"/>
            </a:endParaRPr>
          </a:p>
        </p:txBody>
      </p:sp>
      <p:sp>
        <p:nvSpPr>
          <p:cNvPr id="213" name="Google Shape;213;p7"/>
          <p:cNvSpPr/>
          <p:nvPr/>
        </p:nvSpPr>
        <p:spPr>
          <a:xfrm>
            <a:off x="4753905" y="3506614"/>
            <a:ext cx="3933900" cy="338100"/>
          </a:xfrm>
          <a:prstGeom prst="rect">
            <a:avLst/>
          </a:prstGeom>
          <a:noFill/>
          <a:ln>
            <a:noFill/>
          </a:ln>
        </p:spPr>
        <p:txBody>
          <a:bodyPr anchorCtr="0" anchor="t" bIns="0" lIns="0" spcFirstLastPara="1" rIns="0" wrap="square" tIns="0">
            <a:spAutoFit/>
          </a:bodyPr>
          <a:lstStyle/>
          <a:p>
            <a:pPr indent="0" lvl="0" marL="0" marR="0" rtl="0" algn="l">
              <a:lnSpc>
                <a:spcPct val="139703"/>
              </a:lnSpc>
              <a:spcBef>
                <a:spcPts val="0"/>
              </a:spcBef>
              <a:spcAft>
                <a:spcPts val="0"/>
              </a:spcAft>
              <a:buClr>
                <a:srgbClr val="5C5752"/>
              </a:buClr>
              <a:buSzPts val="590"/>
              <a:buFont typeface="Inter"/>
              <a:buNone/>
            </a:pPr>
            <a:r>
              <a:rPr b="0" i="1" lang="en-US" sz="1200" u="none" cap="none" strike="noStrike">
                <a:solidFill>
                  <a:srgbClr val="1A1A1A"/>
                </a:solidFill>
                <a:latin typeface="Cormorant Garamond"/>
                <a:ea typeface="Cormorant Garamond"/>
                <a:cs typeface="Cormorant Garamond"/>
                <a:sym typeface="Cormorant Garamond"/>
              </a:rPr>
              <a:t>Joined by Nvidia (compute) and Alphabet (Gemini).</a:t>
            </a:r>
            <a:endParaRPr b="0" i="0" sz="1200" u="none" cap="none" strike="noStrike">
              <a:solidFill>
                <a:schemeClr val="dk1"/>
              </a:solidFill>
              <a:latin typeface="Calibri"/>
              <a:ea typeface="Calibri"/>
              <a:cs typeface="Calibri"/>
              <a:sym typeface="Calibri"/>
            </a:endParaRPr>
          </a:p>
        </p:txBody>
      </p:sp>
      <p:sp>
        <p:nvSpPr>
          <p:cNvPr id="214" name="Google Shape;214;p7"/>
          <p:cNvSpPr/>
          <p:nvPr/>
        </p:nvSpPr>
        <p:spPr>
          <a:xfrm>
            <a:off x="4753905" y="3844751"/>
            <a:ext cx="3933900" cy="338100"/>
          </a:xfrm>
          <a:prstGeom prst="rect">
            <a:avLst/>
          </a:prstGeom>
          <a:noFill/>
          <a:ln>
            <a:noFill/>
          </a:ln>
        </p:spPr>
        <p:txBody>
          <a:bodyPr anchorCtr="0" anchor="t" bIns="0" lIns="0" spcFirstLastPara="1" rIns="0" wrap="square" tIns="0">
            <a:spAutoFit/>
          </a:bodyPr>
          <a:lstStyle/>
          <a:p>
            <a:pPr indent="0" lvl="0" marL="0" marR="0" rtl="0" algn="l">
              <a:lnSpc>
                <a:spcPct val="139703"/>
              </a:lnSpc>
              <a:spcBef>
                <a:spcPts val="0"/>
              </a:spcBef>
              <a:spcAft>
                <a:spcPts val="0"/>
              </a:spcAft>
              <a:buClr>
                <a:srgbClr val="5C5752"/>
              </a:buClr>
              <a:buSzPts val="590"/>
              <a:buFont typeface="Inter"/>
              <a:buNone/>
            </a:pPr>
            <a:r>
              <a:rPr b="0" i="1" lang="en-US" sz="1200" u="none" cap="none" strike="noStrike">
                <a:solidFill>
                  <a:srgbClr val="1A1A1A"/>
                </a:solidFill>
                <a:latin typeface="Cormorant Garamond"/>
                <a:ea typeface="Cormorant Garamond"/>
                <a:cs typeface="Cormorant Garamond"/>
                <a:sym typeface="Cormorant Garamond"/>
              </a:rPr>
              <a:t>Inherits the federal pipeline Anthropic vacated.</a:t>
            </a:r>
            <a:endParaRPr b="0" i="0" sz="1200" u="none" cap="none" strike="noStrike">
              <a:solidFill>
                <a:schemeClr val="dk1"/>
              </a:solidFill>
              <a:latin typeface="Calibri"/>
              <a:ea typeface="Calibri"/>
              <a:cs typeface="Calibri"/>
              <a:sym typeface="Calibri"/>
            </a:endParaRPr>
          </a:p>
        </p:txBody>
      </p:sp>
      <p:sp>
        <p:nvSpPr>
          <p:cNvPr id="215" name="Google Shape;215;p7"/>
          <p:cNvSpPr/>
          <p:nvPr/>
        </p:nvSpPr>
        <p:spPr>
          <a:xfrm>
            <a:off x="4753905" y="4310583"/>
            <a:ext cx="3933825"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POSTURE</a:t>
            </a:r>
            <a:endParaRPr b="0" i="0" sz="590" u="none" cap="none" strike="noStrike">
              <a:solidFill>
                <a:schemeClr val="dk1"/>
              </a:solidFill>
              <a:latin typeface="Calibri"/>
              <a:ea typeface="Calibri"/>
              <a:cs typeface="Calibri"/>
              <a:sym typeface="Calibri"/>
            </a:endParaRPr>
          </a:p>
        </p:txBody>
      </p:sp>
      <p:sp>
        <p:nvSpPr>
          <p:cNvPr id="216" name="Google Shape;216;p7"/>
          <p:cNvSpPr/>
          <p:nvPr/>
        </p:nvSpPr>
        <p:spPr>
          <a:xfrm>
            <a:off x="4753905" y="4454426"/>
            <a:ext cx="3933825" cy="247650"/>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1A1A1A"/>
              </a:buClr>
              <a:buSzPts val="1300"/>
              <a:buFont typeface="Cormorant Garamond"/>
              <a:buNone/>
            </a:pPr>
            <a:r>
              <a:rPr b="0" i="1" lang="en-US" sz="1300" u="none" cap="none" strike="noStrike">
                <a:solidFill>
                  <a:srgbClr val="1A1A1A"/>
                </a:solidFill>
                <a:latin typeface="Cormorant Garamond"/>
                <a:ea typeface="Cormorant Garamond"/>
                <a:cs typeface="Cormorant Garamond"/>
                <a:sym typeface="Cormorant Garamond"/>
              </a:rPr>
              <a:t>Compliance</a:t>
            </a:r>
            <a:endParaRPr b="0" i="0" sz="1300" u="none" cap="none" strike="noStrike">
              <a:solidFill>
                <a:schemeClr val="dk1"/>
              </a:solidFill>
              <a:latin typeface="Calibri"/>
              <a:ea typeface="Calibri"/>
              <a:cs typeface="Calibri"/>
              <a:sym typeface="Calibri"/>
            </a:endParaRPr>
          </a:p>
        </p:txBody>
      </p:sp>
      <p:sp>
        <p:nvSpPr>
          <p:cNvPr id="217" name="Google Shape;217;p7"/>
          <p:cNvSpPr/>
          <p:nvPr/>
        </p:nvSpPr>
        <p:spPr>
          <a:xfrm>
            <a:off x="457758" y="256989"/>
            <a:ext cx="2166938"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1A1A1A"/>
              </a:buClr>
              <a:buSzPts val="650"/>
              <a:buFont typeface="Inter"/>
              <a:buNone/>
            </a:pPr>
            <a:r>
              <a:rPr b="0" i="0" lang="en-US" sz="650" u="none" cap="none" strike="noStrike">
                <a:solidFill>
                  <a:srgbClr val="1A1A1A"/>
                </a:solidFill>
                <a:latin typeface="Inter"/>
                <a:ea typeface="Inter"/>
                <a:cs typeface="Inter"/>
                <a:sym typeface="Inter"/>
              </a:rPr>
              <a:t>DIVERGENCE — THE TWO TRACKS</a:t>
            </a:r>
            <a:endParaRPr b="0" i="0" sz="650" u="none" cap="none" strike="noStrike">
              <a:solidFill>
                <a:schemeClr val="dk1"/>
              </a:solidFill>
              <a:latin typeface="Calibri"/>
              <a:ea typeface="Calibri"/>
              <a:cs typeface="Calibri"/>
              <a:sym typeface="Calibri"/>
            </a:endParaRPr>
          </a:p>
        </p:txBody>
      </p:sp>
      <p:sp>
        <p:nvSpPr>
          <p:cNvPr id="218" name="Google Shape;218;p7"/>
          <p:cNvSpPr/>
          <p:nvPr/>
        </p:nvSpPr>
        <p:spPr>
          <a:xfrm>
            <a:off x="8172859" y="256989"/>
            <a:ext cx="514350"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5C5752"/>
              </a:buClr>
              <a:buSzPts val="650"/>
              <a:buFont typeface="Inter"/>
              <a:buNone/>
            </a:pPr>
            <a:r>
              <a:rPr b="0" i="0" lang="en-US" sz="650" u="none" cap="none" strike="noStrike">
                <a:solidFill>
                  <a:srgbClr val="5C5752"/>
                </a:solidFill>
                <a:latin typeface="Inter"/>
                <a:ea typeface="Inter"/>
                <a:cs typeface="Inter"/>
                <a:sym typeface="Inter"/>
              </a:rPr>
              <a:t>07 — 10</a:t>
            </a:r>
            <a:endParaRPr b="0" i="0" sz="650" u="none" cap="none" strike="noStrike">
              <a:solidFill>
                <a:schemeClr val="dk1"/>
              </a:solidFill>
              <a:latin typeface="Calibri"/>
              <a:ea typeface="Calibri"/>
              <a:cs typeface="Calibri"/>
              <a:sym typeface="Calibri"/>
            </a:endParaRPr>
          </a:p>
        </p:txBody>
      </p:sp>
      <p:sp>
        <p:nvSpPr>
          <p:cNvPr id="219" name="Google Shape;219;p7"/>
          <p:cNvSpPr/>
          <p:nvPr/>
        </p:nvSpPr>
        <p:spPr>
          <a:xfrm>
            <a:off x="457609" y="4824412"/>
            <a:ext cx="2347912"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DIVERGENCE — ANTHROPIC VS. OPENAI</a:t>
            </a:r>
            <a:endParaRPr b="0" i="0" sz="590" u="none" cap="none" strike="noStrike">
              <a:solidFill>
                <a:schemeClr val="dk1"/>
              </a:solidFill>
              <a:latin typeface="Calibri"/>
              <a:ea typeface="Calibri"/>
              <a:cs typeface="Calibri"/>
              <a:sym typeface="Calibri"/>
            </a:endParaRPr>
          </a:p>
        </p:txBody>
      </p:sp>
      <p:sp>
        <p:nvSpPr>
          <p:cNvPr id="220" name="Google Shape;220;p7"/>
          <p:cNvSpPr/>
          <p:nvPr/>
        </p:nvSpPr>
        <p:spPr>
          <a:xfrm>
            <a:off x="7735491" y="4824412"/>
            <a:ext cx="952500"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07 — THE SPLIT</a:t>
            </a:r>
            <a:endParaRPr b="0" i="0" sz="59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9"/>
          <p:cNvSpPr/>
          <p:nvPr/>
        </p:nvSpPr>
        <p:spPr>
          <a:xfrm>
            <a:off x="0" y="0"/>
            <a:ext cx="9144000" cy="5143500"/>
          </a:xfrm>
          <a:prstGeom prst="rect">
            <a:avLst/>
          </a:prstGeom>
          <a:solidFill>
            <a:srgbClr val="FAF8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9"/>
          <p:cNvSpPr/>
          <p:nvPr/>
        </p:nvSpPr>
        <p:spPr>
          <a:xfrm>
            <a:off x="456502" y="668900"/>
            <a:ext cx="3495900" cy="328500"/>
          </a:xfrm>
          <a:prstGeom prst="rect">
            <a:avLst/>
          </a:prstGeom>
          <a:noFill/>
          <a:ln>
            <a:noFill/>
          </a:ln>
        </p:spPr>
        <p:txBody>
          <a:bodyPr anchorCtr="0" anchor="t" bIns="0" lIns="0" spcFirstLastPara="1" rIns="0" wrap="square" tIns="0">
            <a:spAutoFit/>
          </a:bodyPr>
          <a:lstStyle/>
          <a:p>
            <a:pPr indent="0" lvl="0" marL="0" marR="0" rtl="0" algn="l">
              <a:lnSpc>
                <a:spcPct val="100077"/>
              </a:lnSpc>
              <a:spcBef>
                <a:spcPts val="0"/>
              </a:spcBef>
              <a:spcAft>
                <a:spcPts val="0"/>
              </a:spcAft>
              <a:buClr>
                <a:srgbClr val="1A1A1A"/>
              </a:buClr>
              <a:buSzPts val="2590"/>
              <a:buFont typeface="Cormorant Garamond"/>
              <a:buNone/>
            </a:pPr>
            <a:r>
              <a:rPr b="0" i="1" lang="en-US" sz="2590" u="none" cap="none" strike="noStrike">
                <a:solidFill>
                  <a:srgbClr val="1A1A1A"/>
                </a:solidFill>
                <a:latin typeface="Cormorant Garamond"/>
                <a:ea typeface="Cormorant Garamond"/>
                <a:cs typeface="Cormorant Garamond"/>
                <a:sym typeface="Cormorant Garamond"/>
              </a:rPr>
              <a:t>Citizen vs. Government.</a:t>
            </a:r>
            <a:endParaRPr b="0" i="0" sz="2590" u="none" cap="none" strike="noStrike">
              <a:solidFill>
                <a:schemeClr val="dk1"/>
              </a:solidFill>
              <a:latin typeface="Calibri"/>
              <a:ea typeface="Calibri"/>
              <a:cs typeface="Calibri"/>
              <a:sym typeface="Calibri"/>
            </a:endParaRPr>
          </a:p>
        </p:txBody>
      </p:sp>
      <p:sp>
        <p:nvSpPr>
          <p:cNvPr id="228" name="Google Shape;228;p9"/>
          <p:cNvSpPr/>
          <p:nvPr/>
        </p:nvSpPr>
        <p:spPr>
          <a:xfrm>
            <a:off x="7367364" y="844637"/>
            <a:ext cx="1319213"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5C5752"/>
              </a:buClr>
              <a:buSzPts val="650"/>
              <a:buFont typeface="Inter"/>
              <a:buNone/>
            </a:pPr>
            <a:r>
              <a:rPr b="0" i="0" lang="en-US" sz="650" u="none" cap="none" strike="noStrike">
                <a:solidFill>
                  <a:srgbClr val="5C5752"/>
                </a:solidFill>
                <a:latin typeface="Inter"/>
                <a:ea typeface="Inter"/>
                <a:cs typeface="Inter"/>
                <a:sym typeface="Inter"/>
              </a:rPr>
              <a:t>DIFF — GUARDRAILS</a:t>
            </a:r>
            <a:endParaRPr b="0" i="0" sz="650" u="none" cap="none" strike="noStrike">
              <a:solidFill>
                <a:schemeClr val="dk1"/>
              </a:solidFill>
              <a:latin typeface="Calibri"/>
              <a:ea typeface="Calibri"/>
              <a:cs typeface="Calibri"/>
              <a:sym typeface="Calibri"/>
            </a:endParaRPr>
          </a:p>
        </p:txBody>
      </p:sp>
      <p:sp>
        <p:nvSpPr>
          <p:cNvPr id="229" name="Google Shape;229;p9"/>
          <p:cNvSpPr/>
          <p:nvPr/>
        </p:nvSpPr>
        <p:spPr>
          <a:xfrm>
            <a:off x="457200" y="1130598"/>
            <a:ext cx="8229600" cy="4147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9"/>
          <p:cNvSpPr/>
          <p:nvPr/>
        </p:nvSpPr>
        <p:spPr>
          <a:xfrm>
            <a:off x="456233" y="1290377"/>
            <a:ext cx="3933825"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5C5752"/>
              </a:buClr>
              <a:buSzPts val="650"/>
              <a:buFont typeface="Inter"/>
              <a:buNone/>
            </a:pPr>
            <a:r>
              <a:rPr b="0" i="0" lang="en-US" sz="650" u="none" cap="none" strike="noStrike">
                <a:solidFill>
                  <a:srgbClr val="5C5752"/>
                </a:solidFill>
                <a:latin typeface="Inter"/>
                <a:ea typeface="Inter"/>
                <a:cs typeface="Inter"/>
                <a:sym typeface="Inter"/>
              </a:rPr>
              <a:t>CITIZEN</a:t>
            </a:r>
            <a:endParaRPr b="0" i="0" sz="650" u="none" cap="none" strike="noStrike">
              <a:solidFill>
                <a:schemeClr val="dk1"/>
              </a:solidFill>
              <a:latin typeface="Calibri"/>
              <a:ea typeface="Calibri"/>
              <a:cs typeface="Calibri"/>
              <a:sym typeface="Calibri"/>
            </a:endParaRPr>
          </a:p>
        </p:txBody>
      </p:sp>
      <p:pic>
        <p:nvPicPr>
          <p:cNvPr descr="preencoded.png" id="231" name="Google Shape;231;p9"/>
          <p:cNvPicPr preferRelativeResize="0"/>
          <p:nvPr/>
        </p:nvPicPr>
        <p:blipFill rotWithShape="1">
          <a:blip r:embed="rId3">
            <a:alphaModFix/>
          </a:blip>
          <a:srcRect b="0" l="0" r="0" t="0"/>
          <a:stretch/>
        </p:blipFill>
        <p:spPr>
          <a:xfrm>
            <a:off x="456233" y="1490625"/>
            <a:ext cx="3933825" cy="1338262"/>
          </a:xfrm>
          <a:prstGeom prst="rect">
            <a:avLst/>
          </a:prstGeom>
          <a:noFill/>
          <a:ln>
            <a:noFill/>
          </a:ln>
        </p:spPr>
      </p:pic>
      <p:sp>
        <p:nvSpPr>
          <p:cNvPr id="232" name="Google Shape;232;p9"/>
          <p:cNvSpPr/>
          <p:nvPr/>
        </p:nvSpPr>
        <p:spPr>
          <a:xfrm>
            <a:off x="456233" y="2956806"/>
            <a:ext cx="3933825" cy="238125"/>
          </a:xfrm>
          <a:prstGeom prst="rect">
            <a:avLst/>
          </a:prstGeom>
          <a:noFill/>
          <a:ln>
            <a:noFill/>
          </a:ln>
        </p:spPr>
        <p:txBody>
          <a:bodyPr anchorCtr="0" anchor="t" bIns="0" lIns="0" spcFirstLastPara="1" rIns="0" wrap="square" tIns="0">
            <a:spAutoFit/>
          </a:bodyPr>
          <a:lstStyle/>
          <a:p>
            <a:pPr indent="0" lvl="0" marL="0" marR="0" rtl="0" algn="l">
              <a:lnSpc>
                <a:spcPct val="100106"/>
              </a:lnSpc>
              <a:spcBef>
                <a:spcPts val="0"/>
              </a:spcBef>
              <a:spcAft>
                <a:spcPts val="0"/>
              </a:spcAft>
              <a:buClr>
                <a:srgbClr val="1A1A1A"/>
              </a:buClr>
              <a:buSzPts val="1870"/>
              <a:buFont typeface="Cormorant Garamond"/>
              <a:buNone/>
            </a:pPr>
            <a:r>
              <a:rPr b="0" i="1" lang="en-US" sz="1870" u="none" cap="none" strike="noStrike">
                <a:solidFill>
                  <a:srgbClr val="1A1A1A"/>
                </a:solidFill>
                <a:latin typeface="Cormorant Garamond"/>
                <a:ea typeface="Cormorant Garamond"/>
                <a:cs typeface="Cormorant Garamond"/>
                <a:sym typeface="Cormorant Garamond"/>
              </a:rPr>
              <a:t>“Safety &amp; Privacy.”</a:t>
            </a:r>
            <a:endParaRPr b="0" i="0" sz="1870" u="none" cap="none" strike="noStrike">
              <a:solidFill>
                <a:schemeClr val="dk1"/>
              </a:solidFill>
              <a:latin typeface="Calibri"/>
              <a:ea typeface="Calibri"/>
              <a:cs typeface="Calibri"/>
              <a:sym typeface="Calibri"/>
            </a:endParaRPr>
          </a:p>
        </p:txBody>
      </p:sp>
      <p:sp>
        <p:nvSpPr>
          <p:cNvPr id="233" name="Google Shape;233;p9"/>
          <p:cNvSpPr/>
          <p:nvPr/>
        </p:nvSpPr>
        <p:spPr>
          <a:xfrm>
            <a:off x="456233" y="3296580"/>
            <a:ext cx="3933825" cy="342900"/>
          </a:xfrm>
          <a:prstGeom prst="rect">
            <a:avLst/>
          </a:prstGeom>
          <a:noFill/>
          <a:ln>
            <a:noFill/>
          </a:ln>
        </p:spPr>
        <p:txBody>
          <a:bodyPr anchorCtr="0" anchor="t" bIns="0" lIns="0" spcFirstLastPara="1" rIns="0" wrap="square" tIns="0">
            <a:spAutoFit/>
          </a:bodyPr>
          <a:lstStyle/>
          <a:p>
            <a:pPr indent="0" lvl="0" marL="0" marR="0" rtl="0" algn="l">
              <a:lnSpc>
                <a:spcPct val="145576"/>
              </a:lnSpc>
              <a:spcBef>
                <a:spcPts val="0"/>
              </a:spcBef>
              <a:spcAft>
                <a:spcPts val="0"/>
              </a:spcAft>
              <a:buClr>
                <a:srgbClr val="5C5752"/>
              </a:buClr>
              <a:buSzPts val="590"/>
              <a:buFont typeface="Inter"/>
              <a:buNone/>
            </a:pPr>
            <a:r>
              <a:rPr b="0" i="1" lang="en-US" sz="1200" u="none" cap="none" strike="noStrike">
                <a:solidFill>
                  <a:srgbClr val="1A1A1A"/>
                </a:solidFill>
                <a:latin typeface="Cormorant Garamond"/>
                <a:ea typeface="Cormorant Garamond"/>
                <a:cs typeface="Cormorant Garamond"/>
                <a:sym typeface="Cormorant Garamond"/>
              </a:rPr>
              <a:t>Autonomous lethal decisions outpace existing oversight.</a:t>
            </a:r>
            <a:endParaRPr b="0" i="0" sz="1200" u="none" cap="none" strike="noStrike">
              <a:solidFill>
                <a:schemeClr val="dk1"/>
              </a:solidFill>
              <a:latin typeface="Calibri"/>
              <a:ea typeface="Calibri"/>
              <a:cs typeface="Calibri"/>
              <a:sym typeface="Calibri"/>
            </a:endParaRPr>
          </a:p>
        </p:txBody>
      </p:sp>
      <p:sp>
        <p:nvSpPr>
          <p:cNvPr id="234" name="Google Shape;234;p9"/>
          <p:cNvSpPr/>
          <p:nvPr/>
        </p:nvSpPr>
        <p:spPr>
          <a:xfrm>
            <a:off x="456233" y="3637471"/>
            <a:ext cx="3933825" cy="342900"/>
          </a:xfrm>
          <a:prstGeom prst="rect">
            <a:avLst/>
          </a:prstGeom>
          <a:noFill/>
          <a:ln>
            <a:noFill/>
          </a:ln>
        </p:spPr>
        <p:txBody>
          <a:bodyPr anchorCtr="0" anchor="t" bIns="0" lIns="0" spcFirstLastPara="1" rIns="0" wrap="square" tIns="0">
            <a:spAutoFit/>
          </a:bodyPr>
          <a:lstStyle/>
          <a:p>
            <a:pPr indent="0" lvl="0" marL="0" marR="0" rtl="0" algn="l">
              <a:lnSpc>
                <a:spcPct val="145576"/>
              </a:lnSpc>
              <a:spcBef>
                <a:spcPts val="0"/>
              </a:spcBef>
              <a:spcAft>
                <a:spcPts val="0"/>
              </a:spcAft>
              <a:buClr>
                <a:srgbClr val="5C5752"/>
              </a:buClr>
              <a:buSzPts val="590"/>
              <a:buFont typeface="Inter"/>
              <a:buNone/>
            </a:pPr>
            <a:r>
              <a:rPr b="0" i="1" lang="en-US" sz="1200" u="none" cap="none" strike="noStrike">
                <a:solidFill>
                  <a:srgbClr val="1A1A1A"/>
                </a:solidFill>
                <a:latin typeface="Cormorant Garamond"/>
                <a:ea typeface="Cormorant Garamond"/>
                <a:cs typeface="Cormorant Garamond"/>
                <a:sym typeface="Cormorant Garamond"/>
              </a:rPr>
              <a:t>Mass surveillance tooling rarely stays pointed outward.</a:t>
            </a:r>
            <a:endParaRPr b="0" i="0" sz="1200" u="none" cap="none" strike="noStrike">
              <a:solidFill>
                <a:schemeClr val="dk1"/>
              </a:solidFill>
              <a:latin typeface="Calibri"/>
              <a:ea typeface="Calibri"/>
              <a:cs typeface="Calibri"/>
              <a:sym typeface="Calibri"/>
            </a:endParaRPr>
          </a:p>
        </p:txBody>
      </p:sp>
      <p:sp>
        <p:nvSpPr>
          <p:cNvPr id="235" name="Google Shape;235;p9"/>
          <p:cNvSpPr/>
          <p:nvPr/>
        </p:nvSpPr>
        <p:spPr>
          <a:xfrm>
            <a:off x="456233" y="3978362"/>
            <a:ext cx="3933825" cy="342900"/>
          </a:xfrm>
          <a:prstGeom prst="rect">
            <a:avLst/>
          </a:prstGeom>
          <a:noFill/>
          <a:ln>
            <a:noFill/>
          </a:ln>
        </p:spPr>
        <p:txBody>
          <a:bodyPr anchorCtr="0" anchor="t" bIns="0" lIns="0" spcFirstLastPara="1" rIns="0" wrap="square" tIns="0">
            <a:spAutoFit/>
          </a:bodyPr>
          <a:lstStyle/>
          <a:p>
            <a:pPr indent="0" lvl="0" marL="0" marR="0" rtl="0" algn="l">
              <a:lnSpc>
                <a:spcPct val="145576"/>
              </a:lnSpc>
              <a:spcBef>
                <a:spcPts val="0"/>
              </a:spcBef>
              <a:spcAft>
                <a:spcPts val="0"/>
              </a:spcAft>
              <a:buClr>
                <a:srgbClr val="5C5752"/>
              </a:buClr>
              <a:buSzPts val="590"/>
              <a:buFont typeface="Inter"/>
              <a:buNone/>
            </a:pPr>
            <a:r>
              <a:rPr b="0" i="1" lang="en-US" sz="1200" u="none" cap="none" strike="noStrike">
                <a:solidFill>
                  <a:srgbClr val="1A1A1A"/>
                </a:solidFill>
                <a:latin typeface="Cormorant Garamond"/>
                <a:ea typeface="Cormorant Garamond"/>
                <a:cs typeface="Cormorant Garamond"/>
                <a:sym typeface="Cormorant Garamond"/>
              </a:rPr>
              <a:t>Vendor ‘hard limits’ were a check the public never voted on.</a:t>
            </a:r>
            <a:endParaRPr b="0" i="0" sz="1200" u="none" cap="none" strike="noStrike">
              <a:solidFill>
                <a:schemeClr val="dk1"/>
              </a:solidFill>
              <a:latin typeface="Calibri"/>
              <a:ea typeface="Calibri"/>
              <a:cs typeface="Calibri"/>
              <a:sym typeface="Calibri"/>
            </a:endParaRPr>
          </a:p>
        </p:txBody>
      </p:sp>
      <p:sp>
        <p:nvSpPr>
          <p:cNvPr id="236" name="Google Shape;236;p9"/>
          <p:cNvSpPr/>
          <p:nvPr/>
        </p:nvSpPr>
        <p:spPr>
          <a:xfrm>
            <a:off x="457274" y="4500339"/>
            <a:ext cx="390525"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FRAME</a:t>
            </a:r>
            <a:endParaRPr b="0" i="0" sz="590" u="none" cap="none" strike="noStrike">
              <a:solidFill>
                <a:schemeClr val="dk1"/>
              </a:solidFill>
              <a:latin typeface="Calibri"/>
              <a:ea typeface="Calibri"/>
              <a:cs typeface="Calibri"/>
              <a:sym typeface="Calibri"/>
            </a:endParaRPr>
          </a:p>
        </p:txBody>
      </p:sp>
      <p:sp>
        <p:nvSpPr>
          <p:cNvPr id="237" name="Google Shape;237;p9"/>
          <p:cNvSpPr/>
          <p:nvPr/>
        </p:nvSpPr>
        <p:spPr>
          <a:xfrm>
            <a:off x="938342" y="4449592"/>
            <a:ext cx="1469700" cy="50700"/>
          </a:xfrm>
          <a:prstGeom prst="rect">
            <a:avLst/>
          </a:prstGeom>
          <a:noFill/>
          <a:ln>
            <a:noFill/>
          </a:ln>
        </p:spPr>
        <p:txBody>
          <a:bodyPr anchorCtr="0" anchor="t" bIns="0" lIns="0" spcFirstLastPara="1" rIns="0" wrap="square" tIns="0">
            <a:spAutoFit/>
          </a:bodyPr>
          <a:lstStyle/>
          <a:p>
            <a:pPr indent="0" lvl="0" marL="0" marR="0" rtl="0" algn="l">
              <a:lnSpc>
                <a:spcPct val="149702"/>
              </a:lnSpc>
              <a:spcBef>
                <a:spcPts val="0"/>
              </a:spcBef>
              <a:spcAft>
                <a:spcPts val="0"/>
              </a:spcAft>
              <a:buClr>
                <a:srgbClr val="8A5A3B"/>
              </a:buClr>
              <a:buSzPts val="1010"/>
              <a:buFont typeface="Cormorant Garamond"/>
              <a:buNone/>
            </a:pPr>
            <a:r>
              <a:rPr b="0" i="1" lang="en-US" sz="1010" u="none" cap="none" strike="noStrike">
                <a:solidFill>
                  <a:srgbClr val="8A5A3B"/>
                </a:solidFill>
                <a:latin typeface="Cormorant Garamond"/>
                <a:ea typeface="Cormorant Garamond"/>
                <a:cs typeface="Cormorant Garamond"/>
                <a:sym typeface="Cormorant Garamond"/>
              </a:rPr>
              <a:t>Rights &amp; Restraint</a:t>
            </a:r>
            <a:endParaRPr b="0" i="0" sz="1010" u="none" cap="none" strike="noStrike">
              <a:solidFill>
                <a:schemeClr val="dk1"/>
              </a:solidFill>
              <a:latin typeface="Calibri"/>
              <a:ea typeface="Calibri"/>
              <a:cs typeface="Calibri"/>
              <a:sym typeface="Calibri"/>
            </a:endParaRPr>
          </a:p>
        </p:txBody>
      </p:sp>
      <p:sp>
        <p:nvSpPr>
          <p:cNvPr id="238" name="Google Shape;238;p9"/>
          <p:cNvSpPr/>
          <p:nvPr/>
        </p:nvSpPr>
        <p:spPr>
          <a:xfrm>
            <a:off x="4753905" y="1290377"/>
            <a:ext cx="3933825"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5C5752"/>
              </a:buClr>
              <a:buSzPts val="650"/>
              <a:buFont typeface="Inter"/>
              <a:buNone/>
            </a:pPr>
            <a:r>
              <a:rPr b="0" i="0" lang="en-US" sz="650" u="none" cap="none" strike="noStrike">
                <a:solidFill>
                  <a:srgbClr val="5C5752"/>
                </a:solidFill>
                <a:latin typeface="Inter"/>
                <a:ea typeface="Inter"/>
                <a:cs typeface="Inter"/>
                <a:sym typeface="Inter"/>
              </a:rPr>
              <a:t>GOVERNMENT</a:t>
            </a:r>
            <a:endParaRPr b="0" i="0" sz="650" u="none" cap="none" strike="noStrike">
              <a:solidFill>
                <a:schemeClr val="dk1"/>
              </a:solidFill>
              <a:latin typeface="Calibri"/>
              <a:ea typeface="Calibri"/>
              <a:cs typeface="Calibri"/>
              <a:sym typeface="Calibri"/>
            </a:endParaRPr>
          </a:p>
        </p:txBody>
      </p:sp>
      <p:pic>
        <p:nvPicPr>
          <p:cNvPr descr="preencoded.png" id="239" name="Google Shape;239;p9"/>
          <p:cNvPicPr preferRelativeResize="0"/>
          <p:nvPr/>
        </p:nvPicPr>
        <p:blipFill rotWithShape="1">
          <a:blip r:embed="rId4">
            <a:alphaModFix/>
          </a:blip>
          <a:srcRect b="0" l="0" r="0" t="0"/>
          <a:stretch/>
        </p:blipFill>
        <p:spPr>
          <a:xfrm>
            <a:off x="4753905" y="1490625"/>
            <a:ext cx="3933825" cy="1338262"/>
          </a:xfrm>
          <a:prstGeom prst="rect">
            <a:avLst/>
          </a:prstGeom>
          <a:noFill/>
          <a:ln>
            <a:noFill/>
          </a:ln>
        </p:spPr>
      </p:pic>
      <p:sp>
        <p:nvSpPr>
          <p:cNvPr id="240" name="Google Shape;240;p9"/>
          <p:cNvSpPr/>
          <p:nvPr/>
        </p:nvSpPr>
        <p:spPr>
          <a:xfrm>
            <a:off x="4753905" y="2956806"/>
            <a:ext cx="3933825" cy="238125"/>
          </a:xfrm>
          <a:prstGeom prst="rect">
            <a:avLst/>
          </a:prstGeom>
          <a:noFill/>
          <a:ln>
            <a:noFill/>
          </a:ln>
        </p:spPr>
        <p:txBody>
          <a:bodyPr anchorCtr="0" anchor="t" bIns="0" lIns="0" spcFirstLastPara="1" rIns="0" wrap="square" tIns="0">
            <a:spAutoFit/>
          </a:bodyPr>
          <a:lstStyle/>
          <a:p>
            <a:pPr indent="0" lvl="0" marL="0" marR="0" rtl="0" algn="l">
              <a:lnSpc>
                <a:spcPct val="100106"/>
              </a:lnSpc>
              <a:spcBef>
                <a:spcPts val="0"/>
              </a:spcBef>
              <a:spcAft>
                <a:spcPts val="0"/>
              </a:spcAft>
              <a:buClr>
                <a:srgbClr val="1A1A1A"/>
              </a:buClr>
              <a:buSzPts val="1870"/>
              <a:buFont typeface="Cormorant Garamond"/>
              <a:buNone/>
            </a:pPr>
            <a:r>
              <a:rPr b="0" i="1" lang="en-US" sz="1870" u="none" cap="none" strike="noStrike">
                <a:solidFill>
                  <a:srgbClr val="1A1A1A"/>
                </a:solidFill>
                <a:latin typeface="Cormorant Garamond"/>
                <a:ea typeface="Cormorant Garamond"/>
                <a:cs typeface="Cormorant Garamond"/>
                <a:sym typeface="Cormorant Garamond"/>
              </a:rPr>
              <a:t>“All Lawful Use.”</a:t>
            </a:r>
            <a:endParaRPr b="0" i="0" sz="1870" u="none" cap="none" strike="noStrike">
              <a:solidFill>
                <a:schemeClr val="dk1"/>
              </a:solidFill>
              <a:latin typeface="Calibri"/>
              <a:ea typeface="Calibri"/>
              <a:cs typeface="Calibri"/>
              <a:sym typeface="Calibri"/>
            </a:endParaRPr>
          </a:p>
        </p:txBody>
      </p:sp>
      <p:sp>
        <p:nvSpPr>
          <p:cNvPr id="241" name="Google Shape;241;p9"/>
          <p:cNvSpPr/>
          <p:nvPr/>
        </p:nvSpPr>
        <p:spPr>
          <a:xfrm>
            <a:off x="4753905" y="3296580"/>
            <a:ext cx="3933825" cy="342900"/>
          </a:xfrm>
          <a:prstGeom prst="rect">
            <a:avLst/>
          </a:prstGeom>
          <a:noFill/>
          <a:ln>
            <a:noFill/>
          </a:ln>
        </p:spPr>
        <p:txBody>
          <a:bodyPr anchorCtr="0" anchor="t" bIns="0" lIns="0" spcFirstLastPara="1" rIns="0" wrap="square" tIns="0">
            <a:spAutoFit/>
          </a:bodyPr>
          <a:lstStyle/>
          <a:p>
            <a:pPr indent="0" lvl="0" marL="0" marR="0" rtl="0" algn="l">
              <a:lnSpc>
                <a:spcPct val="145576"/>
              </a:lnSpc>
              <a:spcBef>
                <a:spcPts val="0"/>
              </a:spcBef>
              <a:spcAft>
                <a:spcPts val="0"/>
              </a:spcAft>
              <a:buClr>
                <a:srgbClr val="5C5752"/>
              </a:buClr>
              <a:buSzPts val="590"/>
              <a:buFont typeface="Inter"/>
              <a:buNone/>
            </a:pPr>
            <a:r>
              <a:rPr b="0" i="1" lang="en-US" sz="1200" u="none" cap="none" strike="noStrike">
                <a:solidFill>
                  <a:srgbClr val="1A1A1A"/>
                </a:solidFill>
                <a:latin typeface="Cormorant Garamond"/>
                <a:ea typeface="Cormorant Garamond"/>
                <a:cs typeface="Cormorant Garamond"/>
                <a:sym typeface="Cormorant Garamond"/>
              </a:rPr>
              <a:t>National security cannot wait for vendor approval cycles.</a:t>
            </a:r>
            <a:endParaRPr b="0" i="0" sz="1200" u="none" cap="none" strike="noStrike">
              <a:solidFill>
                <a:schemeClr val="dk1"/>
              </a:solidFill>
              <a:latin typeface="Calibri"/>
              <a:ea typeface="Calibri"/>
              <a:cs typeface="Calibri"/>
              <a:sym typeface="Calibri"/>
            </a:endParaRPr>
          </a:p>
        </p:txBody>
      </p:sp>
      <p:sp>
        <p:nvSpPr>
          <p:cNvPr id="242" name="Google Shape;242;p9"/>
          <p:cNvSpPr/>
          <p:nvPr/>
        </p:nvSpPr>
        <p:spPr>
          <a:xfrm>
            <a:off x="4753905" y="3637471"/>
            <a:ext cx="3933825" cy="342900"/>
          </a:xfrm>
          <a:prstGeom prst="rect">
            <a:avLst/>
          </a:prstGeom>
          <a:noFill/>
          <a:ln>
            <a:noFill/>
          </a:ln>
        </p:spPr>
        <p:txBody>
          <a:bodyPr anchorCtr="0" anchor="t" bIns="0" lIns="0" spcFirstLastPara="1" rIns="0" wrap="square" tIns="0">
            <a:spAutoFit/>
          </a:bodyPr>
          <a:lstStyle/>
          <a:p>
            <a:pPr indent="0" lvl="0" marL="0" marR="0" rtl="0" algn="l">
              <a:lnSpc>
                <a:spcPct val="145576"/>
              </a:lnSpc>
              <a:spcBef>
                <a:spcPts val="0"/>
              </a:spcBef>
              <a:spcAft>
                <a:spcPts val="0"/>
              </a:spcAft>
              <a:buClr>
                <a:srgbClr val="5C5752"/>
              </a:buClr>
              <a:buSzPts val="590"/>
              <a:buFont typeface="Inter"/>
              <a:buNone/>
            </a:pPr>
            <a:r>
              <a:rPr b="0" i="1" lang="en-US" sz="1200" u="none" cap="none" strike="noStrike">
                <a:solidFill>
                  <a:srgbClr val="1A1A1A"/>
                </a:solidFill>
                <a:latin typeface="Cormorant Garamond"/>
                <a:ea typeface="Cormorant Garamond"/>
                <a:cs typeface="Cormorant Garamond"/>
                <a:sym typeface="Cormorant Garamond"/>
              </a:rPr>
              <a:t>Military authority — not a model card — defines lawful action.</a:t>
            </a:r>
            <a:endParaRPr b="0" i="0" sz="1200" u="none" cap="none" strike="noStrike">
              <a:solidFill>
                <a:schemeClr val="dk1"/>
              </a:solidFill>
              <a:latin typeface="Calibri"/>
              <a:ea typeface="Calibri"/>
              <a:cs typeface="Calibri"/>
              <a:sym typeface="Calibri"/>
            </a:endParaRPr>
          </a:p>
        </p:txBody>
      </p:sp>
      <p:sp>
        <p:nvSpPr>
          <p:cNvPr id="243" name="Google Shape;243;p9"/>
          <p:cNvSpPr/>
          <p:nvPr/>
        </p:nvSpPr>
        <p:spPr>
          <a:xfrm>
            <a:off x="4753905" y="3978362"/>
            <a:ext cx="3933825" cy="342900"/>
          </a:xfrm>
          <a:prstGeom prst="rect">
            <a:avLst/>
          </a:prstGeom>
          <a:noFill/>
          <a:ln>
            <a:noFill/>
          </a:ln>
        </p:spPr>
        <p:txBody>
          <a:bodyPr anchorCtr="0" anchor="t" bIns="0" lIns="0" spcFirstLastPara="1" rIns="0" wrap="square" tIns="0">
            <a:spAutoFit/>
          </a:bodyPr>
          <a:lstStyle/>
          <a:p>
            <a:pPr indent="0" lvl="0" marL="0" marR="0" rtl="0" algn="l">
              <a:lnSpc>
                <a:spcPct val="145576"/>
              </a:lnSpc>
              <a:spcBef>
                <a:spcPts val="0"/>
              </a:spcBef>
              <a:spcAft>
                <a:spcPts val="0"/>
              </a:spcAft>
              <a:buClr>
                <a:srgbClr val="5C5752"/>
              </a:buClr>
              <a:buSzPts val="590"/>
              <a:buFont typeface="Inter"/>
              <a:buNone/>
            </a:pPr>
            <a:r>
              <a:rPr b="0" i="1" lang="en-US" sz="1200" u="none" cap="none" strike="noStrike">
                <a:solidFill>
                  <a:srgbClr val="1A1A1A"/>
                </a:solidFill>
                <a:latin typeface="Cormorant Garamond"/>
                <a:ea typeface="Cormorant Garamond"/>
                <a:cs typeface="Cormorant Garamond"/>
                <a:sym typeface="Cormorant Garamond"/>
              </a:rPr>
              <a:t>Strategic parity with adversaries demands unrestricted tooling.</a:t>
            </a:r>
            <a:endParaRPr b="0" i="0" sz="1200" u="none" cap="none" strike="noStrike">
              <a:solidFill>
                <a:schemeClr val="dk1"/>
              </a:solidFill>
              <a:latin typeface="Calibri"/>
              <a:ea typeface="Calibri"/>
              <a:cs typeface="Calibri"/>
              <a:sym typeface="Calibri"/>
            </a:endParaRPr>
          </a:p>
        </p:txBody>
      </p:sp>
      <p:sp>
        <p:nvSpPr>
          <p:cNvPr id="244" name="Google Shape;244;p9"/>
          <p:cNvSpPr/>
          <p:nvPr/>
        </p:nvSpPr>
        <p:spPr>
          <a:xfrm>
            <a:off x="4754910" y="4500339"/>
            <a:ext cx="390525"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FRAME</a:t>
            </a:r>
            <a:endParaRPr b="0" i="0" sz="590" u="none" cap="none" strike="noStrike">
              <a:solidFill>
                <a:schemeClr val="dk1"/>
              </a:solidFill>
              <a:latin typeface="Calibri"/>
              <a:ea typeface="Calibri"/>
              <a:cs typeface="Calibri"/>
              <a:sym typeface="Calibri"/>
            </a:endParaRPr>
          </a:p>
        </p:txBody>
      </p:sp>
      <p:sp>
        <p:nvSpPr>
          <p:cNvPr id="245" name="Google Shape;245;p9"/>
          <p:cNvSpPr/>
          <p:nvPr/>
        </p:nvSpPr>
        <p:spPr>
          <a:xfrm>
            <a:off x="5236228" y="4449592"/>
            <a:ext cx="1408500" cy="50700"/>
          </a:xfrm>
          <a:prstGeom prst="rect">
            <a:avLst/>
          </a:prstGeom>
          <a:noFill/>
          <a:ln>
            <a:noFill/>
          </a:ln>
        </p:spPr>
        <p:txBody>
          <a:bodyPr anchorCtr="0" anchor="t" bIns="0" lIns="0" spcFirstLastPara="1" rIns="0" wrap="square" tIns="0">
            <a:spAutoFit/>
          </a:bodyPr>
          <a:lstStyle/>
          <a:p>
            <a:pPr indent="0" lvl="0" marL="0" marR="0" rtl="0" algn="l">
              <a:lnSpc>
                <a:spcPct val="149702"/>
              </a:lnSpc>
              <a:spcBef>
                <a:spcPts val="0"/>
              </a:spcBef>
              <a:spcAft>
                <a:spcPts val="0"/>
              </a:spcAft>
              <a:buClr>
                <a:srgbClr val="1A1A1A"/>
              </a:buClr>
              <a:buSzPts val="1010"/>
              <a:buFont typeface="Cormorant Garamond"/>
              <a:buNone/>
            </a:pPr>
            <a:r>
              <a:rPr b="0" i="1" lang="en-US" sz="1010" u="none" cap="none" strike="noStrike">
                <a:solidFill>
                  <a:srgbClr val="1A1A1A"/>
                </a:solidFill>
                <a:latin typeface="Cormorant Garamond"/>
                <a:ea typeface="Cormorant Garamond"/>
                <a:cs typeface="Cormorant Garamond"/>
                <a:sym typeface="Cormorant Garamond"/>
              </a:rPr>
              <a:t>Sovereignty &amp; Speed</a:t>
            </a:r>
            <a:endParaRPr b="0" i="0" sz="1010" u="none" cap="none" strike="noStrike">
              <a:solidFill>
                <a:schemeClr val="dk1"/>
              </a:solidFill>
              <a:latin typeface="Calibri"/>
              <a:ea typeface="Calibri"/>
              <a:cs typeface="Calibri"/>
              <a:sym typeface="Calibri"/>
            </a:endParaRPr>
          </a:p>
        </p:txBody>
      </p:sp>
      <p:pic>
        <p:nvPicPr>
          <p:cNvPr descr="preencoded.png" id="246" name="Google Shape;246;p9"/>
          <p:cNvPicPr preferRelativeResize="0"/>
          <p:nvPr/>
        </p:nvPicPr>
        <p:blipFill rotWithShape="1">
          <a:blip r:embed="rId5">
            <a:alphaModFix/>
          </a:blip>
          <a:srcRect b="0" l="0" r="0" t="0"/>
          <a:stretch/>
        </p:blipFill>
        <p:spPr>
          <a:xfrm>
            <a:off x="457188" y="1126901"/>
            <a:ext cx="8229600" cy="2951413"/>
          </a:xfrm>
          <a:prstGeom prst="rect">
            <a:avLst/>
          </a:prstGeom>
          <a:noFill/>
          <a:ln>
            <a:noFill/>
          </a:ln>
        </p:spPr>
      </p:pic>
      <p:sp>
        <p:nvSpPr>
          <p:cNvPr id="247" name="Google Shape;247;p9"/>
          <p:cNvSpPr/>
          <p:nvPr/>
        </p:nvSpPr>
        <p:spPr>
          <a:xfrm>
            <a:off x="456121" y="256989"/>
            <a:ext cx="1628775"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1A1A1A"/>
              </a:buClr>
              <a:buSzPts val="650"/>
              <a:buFont typeface="Inter"/>
              <a:buNone/>
            </a:pPr>
            <a:r>
              <a:rPr b="0" i="0" lang="en-US" sz="650" u="none" cap="none" strike="noStrike">
                <a:solidFill>
                  <a:srgbClr val="1A1A1A"/>
                </a:solidFill>
                <a:latin typeface="Inter"/>
                <a:ea typeface="Inter"/>
                <a:cs typeface="Inter"/>
                <a:sym typeface="Inter"/>
              </a:rPr>
              <a:t>TENSION — TWO FRAMES</a:t>
            </a:r>
            <a:endParaRPr b="0" i="0" sz="650" u="none" cap="none" strike="noStrike">
              <a:solidFill>
                <a:schemeClr val="dk1"/>
              </a:solidFill>
              <a:latin typeface="Calibri"/>
              <a:ea typeface="Calibri"/>
              <a:cs typeface="Calibri"/>
              <a:sym typeface="Calibri"/>
            </a:endParaRPr>
          </a:p>
        </p:txBody>
      </p:sp>
      <p:sp>
        <p:nvSpPr>
          <p:cNvPr id="248" name="Google Shape;248;p9"/>
          <p:cNvSpPr/>
          <p:nvPr/>
        </p:nvSpPr>
        <p:spPr>
          <a:xfrm>
            <a:off x="8167278" y="256989"/>
            <a:ext cx="519112"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5C5752"/>
              </a:buClr>
              <a:buSzPts val="650"/>
              <a:buFont typeface="Inter"/>
              <a:buNone/>
            </a:pPr>
            <a:r>
              <a:rPr b="0" i="0" lang="en-US" sz="650" u="none" cap="none" strike="noStrike">
                <a:solidFill>
                  <a:srgbClr val="5C5752"/>
                </a:solidFill>
                <a:latin typeface="Inter"/>
                <a:ea typeface="Inter"/>
                <a:cs typeface="Inter"/>
                <a:sym typeface="Inter"/>
              </a:rPr>
              <a:t>09 — 10</a:t>
            </a:r>
            <a:endParaRPr b="0" i="0" sz="650" u="none" cap="none" strike="noStrike">
              <a:solidFill>
                <a:schemeClr val="dk1"/>
              </a:solidFill>
              <a:latin typeface="Calibri"/>
              <a:ea typeface="Calibri"/>
              <a:cs typeface="Calibri"/>
              <a:sym typeface="Calibri"/>
            </a:endParaRPr>
          </a:p>
        </p:txBody>
      </p:sp>
      <p:sp>
        <p:nvSpPr>
          <p:cNvPr id="249" name="Google Shape;249;p9"/>
          <p:cNvSpPr/>
          <p:nvPr/>
        </p:nvSpPr>
        <p:spPr>
          <a:xfrm>
            <a:off x="457126" y="4824412"/>
            <a:ext cx="1743075"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TENSION — END OF BRIEFING</a:t>
            </a:r>
            <a:endParaRPr b="0" i="0" sz="590" u="none" cap="none" strike="noStrike">
              <a:solidFill>
                <a:schemeClr val="dk1"/>
              </a:solidFill>
              <a:latin typeface="Calibri"/>
              <a:ea typeface="Calibri"/>
              <a:cs typeface="Calibri"/>
              <a:sym typeface="Calibri"/>
            </a:endParaRPr>
          </a:p>
        </p:txBody>
      </p:sp>
      <p:sp>
        <p:nvSpPr>
          <p:cNvPr id="250" name="Google Shape;250;p9"/>
          <p:cNvSpPr/>
          <p:nvPr/>
        </p:nvSpPr>
        <p:spPr>
          <a:xfrm>
            <a:off x="6776628" y="4824412"/>
            <a:ext cx="1909762"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09 — CITIZEN VS. GOVERNMENT</a:t>
            </a:r>
            <a:endParaRPr b="0" i="0" sz="59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8"/>
          <p:cNvSpPr/>
          <p:nvPr/>
        </p:nvSpPr>
        <p:spPr>
          <a:xfrm>
            <a:off x="0" y="0"/>
            <a:ext cx="9144000" cy="5143500"/>
          </a:xfrm>
          <a:prstGeom prst="rect">
            <a:avLst/>
          </a:prstGeom>
          <a:solidFill>
            <a:srgbClr val="FAF8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7" name="Google Shape;257;p8"/>
          <p:cNvPicPr preferRelativeResize="0"/>
          <p:nvPr/>
        </p:nvPicPr>
        <p:blipFill rotWithShape="1">
          <a:blip r:embed="rId3">
            <a:alphaModFix/>
          </a:blip>
          <a:srcRect b="0" l="0" r="0" t="0"/>
          <a:stretch/>
        </p:blipFill>
        <p:spPr>
          <a:xfrm>
            <a:off x="457200" y="668164"/>
            <a:ext cx="3657600" cy="3910012"/>
          </a:xfrm>
          <a:prstGeom prst="rect">
            <a:avLst/>
          </a:prstGeom>
          <a:noFill/>
          <a:ln>
            <a:noFill/>
          </a:ln>
        </p:spPr>
      </p:pic>
      <p:sp>
        <p:nvSpPr>
          <p:cNvPr id="258" name="Google Shape;258;p8"/>
          <p:cNvSpPr/>
          <p:nvPr/>
        </p:nvSpPr>
        <p:spPr>
          <a:xfrm>
            <a:off x="4572000" y="668424"/>
            <a:ext cx="4114800"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5C5752"/>
              </a:buClr>
              <a:buSzPts val="650"/>
              <a:buFont typeface="Inter"/>
              <a:buNone/>
            </a:pPr>
            <a:r>
              <a:rPr b="0" i="0" lang="en-US" sz="650" u="none" cap="none" strike="noStrike">
                <a:solidFill>
                  <a:srgbClr val="5C5752"/>
                </a:solidFill>
                <a:latin typeface="Inter"/>
                <a:ea typeface="Inter"/>
                <a:cs typeface="Inter"/>
                <a:sym typeface="Inter"/>
              </a:rPr>
              <a:t>CHAPTER 05 — DOCTRINE</a:t>
            </a:r>
            <a:endParaRPr b="0" i="0" sz="650" u="none" cap="none" strike="noStrike">
              <a:solidFill>
                <a:schemeClr val="dk1"/>
              </a:solidFill>
              <a:latin typeface="Calibri"/>
              <a:ea typeface="Calibri"/>
              <a:cs typeface="Calibri"/>
              <a:sym typeface="Calibri"/>
            </a:endParaRPr>
          </a:p>
        </p:txBody>
      </p:sp>
      <p:sp>
        <p:nvSpPr>
          <p:cNvPr id="259" name="Google Shape;259;p8"/>
          <p:cNvSpPr/>
          <p:nvPr/>
        </p:nvSpPr>
        <p:spPr>
          <a:xfrm>
            <a:off x="4572000" y="895052"/>
            <a:ext cx="4114800" cy="82391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1A1A1A"/>
              </a:buClr>
              <a:buSzPts val="3309"/>
              <a:buFont typeface="Cormorant Garamond"/>
              <a:buNone/>
            </a:pPr>
            <a:r>
              <a:rPr b="0" i="1" lang="en-US" sz="3310" u="none" cap="none" strike="noStrike">
                <a:solidFill>
                  <a:srgbClr val="1A1A1A"/>
                </a:solidFill>
                <a:latin typeface="Cormorant Garamond"/>
                <a:ea typeface="Cormorant Garamond"/>
                <a:cs typeface="Cormorant Garamond"/>
                <a:sym typeface="Cormorant Garamond"/>
              </a:rPr>
              <a:t>The Hegseth</a:t>
            </a:r>
            <a:endParaRPr b="0" i="0" sz="3310" u="none" cap="none" strike="noStrike">
              <a:solidFill>
                <a:schemeClr val="dk1"/>
              </a:solidFill>
              <a:latin typeface="Calibri"/>
              <a:ea typeface="Calibri"/>
              <a:cs typeface="Calibri"/>
              <a:sym typeface="Calibri"/>
            </a:endParaRPr>
          </a:p>
          <a:p>
            <a:pPr indent="0" lvl="0" marL="0" marR="0" rtl="0" algn="l">
              <a:lnSpc>
                <a:spcPct val="98096"/>
              </a:lnSpc>
              <a:spcBef>
                <a:spcPts val="0"/>
              </a:spcBef>
              <a:spcAft>
                <a:spcPts val="0"/>
              </a:spcAft>
              <a:buClr>
                <a:srgbClr val="1A1A1A"/>
              </a:buClr>
              <a:buSzPts val="3309"/>
              <a:buFont typeface="Cormorant Garamond"/>
              <a:buNone/>
            </a:pPr>
            <a:r>
              <a:rPr b="0" i="1" lang="en-US" sz="3310" u="none" cap="none" strike="noStrike">
                <a:solidFill>
                  <a:srgbClr val="1A1A1A"/>
                </a:solidFill>
                <a:latin typeface="Cormorant Garamond"/>
                <a:ea typeface="Cormorant Garamond"/>
                <a:cs typeface="Cormorant Garamond"/>
                <a:sym typeface="Cormorant Garamond"/>
              </a:rPr>
              <a:t>Doctrine.</a:t>
            </a:r>
            <a:endParaRPr b="0" i="0" sz="3310" u="none" cap="none" strike="noStrike">
              <a:solidFill>
                <a:schemeClr val="dk1"/>
              </a:solidFill>
              <a:latin typeface="Calibri"/>
              <a:ea typeface="Calibri"/>
              <a:cs typeface="Calibri"/>
              <a:sym typeface="Calibri"/>
            </a:endParaRPr>
          </a:p>
        </p:txBody>
      </p:sp>
      <p:sp>
        <p:nvSpPr>
          <p:cNvPr id="260" name="Google Shape;260;p8"/>
          <p:cNvSpPr/>
          <p:nvPr/>
        </p:nvSpPr>
        <p:spPr>
          <a:xfrm>
            <a:off x="4571033" y="1899121"/>
            <a:ext cx="276225" cy="4763"/>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8"/>
          <p:cNvSpPr/>
          <p:nvPr/>
        </p:nvSpPr>
        <p:spPr>
          <a:xfrm>
            <a:off x="4572000" y="2083036"/>
            <a:ext cx="4114800" cy="43815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
          <p:cNvSpPr/>
          <p:nvPr/>
        </p:nvSpPr>
        <p:spPr>
          <a:xfrm>
            <a:off x="4714391" y="2083073"/>
            <a:ext cx="3971925" cy="223838"/>
          </a:xfrm>
          <a:prstGeom prst="rect">
            <a:avLst/>
          </a:prstGeom>
          <a:noFill/>
          <a:ln>
            <a:noFill/>
          </a:ln>
        </p:spPr>
        <p:txBody>
          <a:bodyPr anchorCtr="0" anchor="t" bIns="0" lIns="0" spcFirstLastPara="1" rIns="0" wrap="square" tIns="0">
            <a:spAutoFit/>
          </a:bodyPr>
          <a:lstStyle/>
          <a:p>
            <a:pPr indent="0" lvl="0" marL="0" marR="0" rtl="0" algn="l">
              <a:lnSpc>
                <a:spcPct val="134615"/>
              </a:lnSpc>
              <a:spcBef>
                <a:spcPts val="0"/>
              </a:spcBef>
              <a:spcAft>
                <a:spcPts val="0"/>
              </a:spcAft>
              <a:buClr>
                <a:srgbClr val="1A1A1A"/>
              </a:buClr>
              <a:buSzPts val="1300"/>
              <a:buFont typeface="Cormorant Garamond"/>
              <a:buNone/>
            </a:pPr>
            <a:r>
              <a:rPr b="0" i="1" lang="en-US" sz="1300" u="none" cap="none" strike="noStrike">
                <a:solidFill>
                  <a:srgbClr val="1A1A1A"/>
                </a:solidFill>
                <a:latin typeface="Cormorant Garamond"/>
                <a:ea typeface="Cormorant Garamond"/>
                <a:cs typeface="Cormorant Garamond"/>
                <a:sym typeface="Cormorant Garamond"/>
              </a:rPr>
              <a:t>“Private companies should not set policy for military operations.”</a:t>
            </a:r>
            <a:endParaRPr b="0" i="0" sz="1300" u="none" cap="none" strike="noStrike">
              <a:solidFill>
                <a:schemeClr val="dk1"/>
              </a:solidFill>
              <a:latin typeface="Calibri"/>
              <a:ea typeface="Calibri"/>
              <a:cs typeface="Calibri"/>
              <a:sym typeface="Calibri"/>
            </a:endParaRPr>
          </a:p>
        </p:txBody>
      </p:sp>
      <p:sp>
        <p:nvSpPr>
          <p:cNvPr id="263" name="Google Shape;263;p8"/>
          <p:cNvSpPr/>
          <p:nvPr/>
        </p:nvSpPr>
        <p:spPr>
          <a:xfrm>
            <a:off x="4714391" y="2382701"/>
            <a:ext cx="3971925" cy="138113"/>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5C5752"/>
              </a:buClr>
              <a:buSzPts val="720"/>
              <a:buFont typeface="Inter"/>
              <a:buNone/>
            </a:pPr>
            <a:r>
              <a:rPr b="0" i="0" lang="en-US" sz="720" u="none" cap="none" strike="noStrike">
                <a:solidFill>
                  <a:srgbClr val="5C5752"/>
                </a:solidFill>
                <a:latin typeface="Inter"/>
                <a:ea typeface="Inter"/>
                <a:cs typeface="Inter"/>
                <a:sym typeface="Inter"/>
              </a:rPr>
              <a:t>— PETE HEGSETH, SEC. OF DEFENSE</a:t>
            </a:r>
            <a:endParaRPr b="0" i="0" sz="720" u="none" cap="none" strike="noStrike">
              <a:solidFill>
                <a:schemeClr val="dk1"/>
              </a:solidFill>
              <a:latin typeface="Calibri"/>
              <a:ea typeface="Calibri"/>
              <a:cs typeface="Calibri"/>
              <a:sym typeface="Calibri"/>
            </a:endParaRPr>
          </a:p>
        </p:txBody>
      </p:sp>
      <p:sp>
        <p:nvSpPr>
          <p:cNvPr id="264" name="Google Shape;264;p8"/>
          <p:cNvSpPr/>
          <p:nvPr/>
        </p:nvSpPr>
        <p:spPr>
          <a:xfrm>
            <a:off x="4572000" y="2861183"/>
            <a:ext cx="4114800" cy="571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8"/>
          <p:cNvSpPr/>
          <p:nvPr/>
        </p:nvSpPr>
        <p:spPr>
          <a:xfrm>
            <a:off x="4571033" y="2953531"/>
            <a:ext cx="276225" cy="219075"/>
          </a:xfrm>
          <a:prstGeom prst="rect">
            <a:avLst/>
          </a:prstGeom>
          <a:noFill/>
          <a:ln>
            <a:noFill/>
          </a:ln>
        </p:spPr>
        <p:txBody>
          <a:bodyPr anchorCtr="0" anchor="t" bIns="0" lIns="0" spcFirstLastPara="1" rIns="0" wrap="square" tIns="0">
            <a:spAutoFit/>
          </a:bodyPr>
          <a:lstStyle/>
          <a:p>
            <a:pPr indent="0" lvl="0" marL="0" marR="0" rtl="0" algn="l">
              <a:lnSpc>
                <a:spcPct val="150260"/>
              </a:lnSpc>
              <a:spcBef>
                <a:spcPts val="0"/>
              </a:spcBef>
              <a:spcAft>
                <a:spcPts val="0"/>
              </a:spcAft>
              <a:buClr>
                <a:srgbClr val="8A5A3B"/>
              </a:buClr>
              <a:buSzPts val="1150"/>
              <a:buFont typeface="Cormorant Garamond"/>
              <a:buNone/>
            </a:pPr>
            <a:r>
              <a:rPr b="0" i="1" lang="en-US" sz="1150" u="none" cap="none" strike="noStrike">
                <a:solidFill>
                  <a:srgbClr val="8A5A3B"/>
                </a:solidFill>
                <a:latin typeface="Cormorant Garamond"/>
                <a:ea typeface="Cormorant Garamond"/>
                <a:cs typeface="Cormorant Garamond"/>
                <a:sym typeface="Cormorant Garamond"/>
              </a:rPr>
              <a:t>I.</a:t>
            </a:r>
            <a:endParaRPr b="0" i="0" sz="1150" u="none" cap="none" strike="noStrike">
              <a:solidFill>
                <a:schemeClr val="dk1"/>
              </a:solidFill>
              <a:latin typeface="Calibri"/>
              <a:ea typeface="Calibri"/>
              <a:cs typeface="Calibri"/>
              <a:sym typeface="Calibri"/>
            </a:endParaRPr>
          </a:p>
        </p:txBody>
      </p:sp>
      <p:sp>
        <p:nvSpPr>
          <p:cNvPr id="266" name="Google Shape;266;p8"/>
          <p:cNvSpPr/>
          <p:nvPr/>
        </p:nvSpPr>
        <p:spPr>
          <a:xfrm>
            <a:off x="4982505" y="2958554"/>
            <a:ext cx="3705225" cy="204787"/>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1A1A1A"/>
              </a:buClr>
              <a:buSzPts val="1080"/>
              <a:buFont typeface="Cormorant Garamond"/>
              <a:buNone/>
            </a:pPr>
            <a:r>
              <a:rPr b="0" i="1" lang="en-US" sz="1080" u="none" cap="none" strike="noStrike">
                <a:solidFill>
                  <a:srgbClr val="1A1A1A"/>
                </a:solidFill>
                <a:latin typeface="Cormorant Garamond"/>
                <a:ea typeface="Cormorant Garamond"/>
                <a:cs typeface="Cormorant Garamond"/>
                <a:sym typeface="Cormorant Garamond"/>
              </a:rPr>
              <a:t>Sovereignty</a:t>
            </a:r>
            <a:endParaRPr b="0" i="0" sz="1080" u="none" cap="none" strike="noStrike">
              <a:solidFill>
                <a:schemeClr val="dk1"/>
              </a:solidFill>
              <a:latin typeface="Calibri"/>
              <a:ea typeface="Calibri"/>
              <a:cs typeface="Calibri"/>
              <a:sym typeface="Calibri"/>
            </a:endParaRPr>
          </a:p>
        </p:txBody>
      </p:sp>
      <p:sp>
        <p:nvSpPr>
          <p:cNvPr id="267" name="Google Shape;267;p8"/>
          <p:cNvSpPr/>
          <p:nvPr/>
        </p:nvSpPr>
        <p:spPr>
          <a:xfrm>
            <a:off x="4982505" y="3188791"/>
            <a:ext cx="3705225" cy="147637"/>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2E2C28"/>
              </a:buClr>
              <a:buSzPts val="720"/>
              <a:buFont typeface="Inter"/>
              <a:buNone/>
            </a:pPr>
            <a:r>
              <a:rPr b="0" i="0" lang="en-US" sz="720" u="none" cap="none" strike="noStrike">
                <a:solidFill>
                  <a:srgbClr val="2E2C28"/>
                </a:solidFill>
                <a:latin typeface="Inter"/>
                <a:ea typeface="Inter"/>
                <a:cs typeface="Inter"/>
                <a:sym typeface="Inter"/>
              </a:rPr>
              <a:t>Lethal-use boundaries set by elected government, not vendor terms of service.</a:t>
            </a:r>
            <a:endParaRPr b="0" i="0" sz="720" u="none" cap="none" strike="noStrike">
              <a:solidFill>
                <a:schemeClr val="dk1"/>
              </a:solidFill>
              <a:latin typeface="Calibri"/>
              <a:ea typeface="Calibri"/>
              <a:cs typeface="Calibri"/>
              <a:sym typeface="Calibri"/>
            </a:endParaRPr>
          </a:p>
        </p:txBody>
      </p:sp>
      <p:sp>
        <p:nvSpPr>
          <p:cNvPr id="268" name="Google Shape;268;p8"/>
          <p:cNvSpPr/>
          <p:nvPr/>
        </p:nvSpPr>
        <p:spPr>
          <a:xfrm>
            <a:off x="4572000" y="3433502"/>
            <a:ext cx="4114800" cy="571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8"/>
          <p:cNvSpPr/>
          <p:nvPr/>
        </p:nvSpPr>
        <p:spPr>
          <a:xfrm>
            <a:off x="4571033" y="3525850"/>
            <a:ext cx="276225" cy="219075"/>
          </a:xfrm>
          <a:prstGeom prst="rect">
            <a:avLst/>
          </a:prstGeom>
          <a:noFill/>
          <a:ln>
            <a:noFill/>
          </a:ln>
        </p:spPr>
        <p:txBody>
          <a:bodyPr anchorCtr="0" anchor="t" bIns="0" lIns="0" spcFirstLastPara="1" rIns="0" wrap="square" tIns="0">
            <a:spAutoFit/>
          </a:bodyPr>
          <a:lstStyle/>
          <a:p>
            <a:pPr indent="0" lvl="0" marL="0" marR="0" rtl="0" algn="l">
              <a:lnSpc>
                <a:spcPct val="150260"/>
              </a:lnSpc>
              <a:spcBef>
                <a:spcPts val="0"/>
              </a:spcBef>
              <a:spcAft>
                <a:spcPts val="0"/>
              </a:spcAft>
              <a:buClr>
                <a:srgbClr val="8A5A3B"/>
              </a:buClr>
              <a:buSzPts val="1150"/>
              <a:buFont typeface="Cormorant Garamond"/>
              <a:buNone/>
            </a:pPr>
            <a:r>
              <a:rPr b="0" i="1" lang="en-US" sz="1150" u="none" cap="none" strike="noStrike">
                <a:solidFill>
                  <a:srgbClr val="8A5A3B"/>
                </a:solidFill>
                <a:latin typeface="Cormorant Garamond"/>
                <a:ea typeface="Cormorant Garamond"/>
                <a:cs typeface="Cormorant Garamond"/>
                <a:sym typeface="Cormorant Garamond"/>
              </a:rPr>
              <a:t>II.</a:t>
            </a:r>
            <a:endParaRPr b="0" i="0" sz="1150" u="none" cap="none" strike="noStrike">
              <a:solidFill>
                <a:schemeClr val="dk1"/>
              </a:solidFill>
              <a:latin typeface="Calibri"/>
              <a:ea typeface="Calibri"/>
              <a:cs typeface="Calibri"/>
              <a:sym typeface="Calibri"/>
            </a:endParaRPr>
          </a:p>
        </p:txBody>
      </p:sp>
      <p:sp>
        <p:nvSpPr>
          <p:cNvPr id="270" name="Google Shape;270;p8"/>
          <p:cNvSpPr/>
          <p:nvPr/>
        </p:nvSpPr>
        <p:spPr>
          <a:xfrm>
            <a:off x="4982505" y="3530873"/>
            <a:ext cx="3705225" cy="204787"/>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1A1A1A"/>
              </a:buClr>
              <a:buSzPts val="1080"/>
              <a:buFont typeface="Cormorant Garamond"/>
              <a:buNone/>
            </a:pPr>
            <a:r>
              <a:rPr b="0" i="1" lang="en-US" sz="1080" u="none" cap="none" strike="noStrike">
                <a:solidFill>
                  <a:srgbClr val="1A1A1A"/>
                </a:solidFill>
                <a:latin typeface="Cormorant Garamond"/>
                <a:ea typeface="Cormorant Garamond"/>
                <a:cs typeface="Cormorant Garamond"/>
                <a:sym typeface="Cormorant Garamond"/>
              </a:rPr>
              <a:t>All Lawful Use</a:t>
            </a:r>
            <a:endParaRPr b="0" i="0" sz="1080" u="none" cap="none" strike="noStrike">
              <a:solidFill>
                <a:schemeClr val="dk1"/>
              </a:solidFill>
              <a:latin typeface="Calibri"/>
              <a:ea typeface="Calibri"/>
              <a:cs typeface="Calibri"/>
              <a:sym typeface="Calibri"/>
            </a:endParaRPr>
          </a:p>
        </p:txBody>
      </p:sp>
      <p:sp>
        <p:nvSpPr>
          <p:cNvPr id="271" name="Google Shape;271;p8"/>
          <p:cNvSpPr/>
          <p:nvPr/>
        </p:nvSpPr>
        <p:spPr>
          <a:xfrm>
            <a:off x="4982505" y="3761110"/>
            <a:ext cx="3705225" cy="147637"/>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2E2C28"/>
              </a:buClr>
              <a:buSzPts val="720"/>
              <a:buFont typeface="Inter"/>
              <a:buNone/>
            </a:pPr>
            <a:r>
              <a:rPr b="0" i="0" lang="en-US" sz="720" u="none" cap="none" strike="noStrike">
                <a:solidFill>
                  <a:srgbClr val="2E2C28"/>
                </a:solidFill>
                <a:latin typeface="Inter"/>
                <a:ea typeface="Inter"/>
                <a:cs typeface="Inter"/>
                <a:sym typeface="Inter"/>
              </a:rPr>
              <a:t>If legal under U.S. military authority, no model guardrail blocks it.</a:t>
            </a:r>
            <a:endParaRPr b="0" i="0" sz="720" u="none" cap="none" strike="noStrike">
              <a:solidFill>
                <a:schemeClr val="dk1"/>
              </a:solidFill>
              <a:latin typeface="Calibri"/>
              <a:ea typeface="Calibri"/>
              <a:cs typeface="Calibri"/>
              <a:sym typeface="Calibri"/>
            </a:endParaRPr>
          </a:p>
        </p:txBody>
      </p:sp>
      <p:sp>
        <p:nvSpPr>
          <p:cNvPr id="272" name="Google Shape;272;p8"/>
          <p:cNvSpPr/>
          <p:nvPr/>
        </p:nvSpPr>
        <p:spPr>
          <a:xfrm>
            <a:off x="4572000" y="4005821"/>
            <a:ext cx="4114800" cy="571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8"/>
          <p:cNvSpPr/>
          <p:nvPr/>
        </p:nvSpPr>
        <p:spPr>
          <a:xfrm>
            <a:off x="4571033" y="4098168"/>
            <a:ext cx="276225" cy="219075"/>
          </a:xfrm>
          <a:prstGeom prst="rect">
            <a:avLst/>
          </a:prstGeom>
          <a:noFill/>
          <a:ln>
            <a:noFill/>
          </a:ln>
        </p:spPr>
        <p:txBody>
          <a:bodyPr anchorCtr="0" anchor="t" bIns="0" lIns="0" spcFirstLastPara="1" rIns="0" wrap="square" tIns="0">
            <a:spAutoFit/>
          </a:bodyPr>
          <a:lstStyle/>
          <a:p>
            <a:pPr indent="0" lvl="0" marL="0" marR="0" rtl="0" algn="l">
              <a:lnSpc>
                <a:spcPct val="150260"/>
              </a:lnSpc>
              <a:spcBef>
                <a:spcPts val="0"/>
              </a:spcBef>
              <a:spcAft>
                <a:spcPts val="0"/>
              </a:spcAft>
              <a:buClr>
                <a:srgbClr val="8A5A3B"/>
              </a:buClr>
              <a:buSzPts val="1150"/>
              <a:buFont typeface="Cormorant Garamond"/>
              <a:buNone/>
            </a:pPr>
            <a:r>
              <a:rPr b="0" i="1" lang="en-US" sz="1150" u="none" cap="none" strike="noStrike">
                <a:solidFill>
                  <a:srgbClr val="8A5A3B"/>
                </a:solidFill>
                <a:latin typeface="Cormorant Garamond"/>
                <a:ea typeface="Cormorant Garamond"/>
                <a:cs typeface="Cormorant Garamond"/>
                <a:sym typeface="Cormorant Garamond"/>
              </a:rPr>
              <a:t>III.</a:t>
            </a:r>
            <a:endParaRPr b="0" i="0" sz="1150" u="none" cap="none" strike="noStrike">
              <a:solidFill>
                <a:schemeClr val="dk1"/>
              </a:solidFill>
              <a:latin typeface="Calibri"/>
              <a:ea typeface="Calibri"/>
              <a:cs typeface="Calibri"/>
              <a:sym typeface="Calibri"/>
            </a:endParaRPr>
          </a:p>
        </p:txBody>
      </p:sp>
      <p:sp>
        <p:nvSpPr>
          <p:cNvPr id="274" name="Google Shape;274;p8"/>
          <p:cNvSpPr/>
          <p:nvPr/>
        </p:nvSpPr>
        <p:spPr>
          <a:xfrm>
            <a:off x="4982505" y="4103191"/>
            <a:ext cx="3705225" cy="204787"/>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1A1A1A"/>
              </a:buClr>
              <a:buSzPts val="1080"/>
              <a:buFont typeface="Cormorant Garamond"/>
              <a:buNone/>
            </a:pPr>
            <a:r>
              <a:rPr b="0" i="1" lang="en-US" sz="1080" u="none" cap="none" strike="noStrike">
                <a:solidFill>
                  <a:srgbClr val="1A1A1A"/>
                </a:solidFill>
                <a:latin typeface="Cormorant Garamond"/>
                <a:ea typeface="Cormorant Garamond"/>
                <a:cs typeface="Cormorant Garamond"/>
                <a:sym typeface="Cormorant Garamond"/>
              </a:rPr>
              <a:t>Vendor Substitution</a:t>
            </a:r>
            <a:endParaRPr b="0" i="0" sz="1080" u="none" cap="none" strike="noStrike">
              <a:solidFill>
                <a:schemeClr val="dk1"/>
              </a:solidFill>
              <a:latin typeface="Calibri"/>
              <a:ea typeface="Calibri"/>
              <a:cs typeface="Calibri"/>
              <a:sym typeface="Calibri"/>
            </a:endParaRPr>
          </a:p>
        </p:txBody>
      </p:sp>
      <p:sp>
        <p:nvSpPr>
          <p:cNvPr id="275" name="Google Shape;275;p8"/>
          <p:cNvSpPr/>
          <p:nvPr/>
        </p:nvSpPr>
        <p:spPr>
          <a:xfrm>
            <a:off x="4982505" y="4333429"/>
            <a:ext cx="3705225" cy="147637"/>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2E2C28"/>
              </a:buClr>
              <a:buSzPts val="720"/>
              <a:buFont typeface="Inter"/>
              <a:buNone/>
            </a:pPr>
            <a:r>
              <a:rPr b="0" i="0" lang="en-US" sz="720" u="none" cap="none" strike="noStrike">
                <a:solidFill>
                  <a:srgbClr val="2E2C28"/>
                </a:solidFill>
                <a:latin typeface="Inter"/>
                <a:ea typeface="Inter"/>
                <a:cs typeface="Inter"/>
                <a:sym typeface="Inter"/>
              </a:rPr>
              <a:t>Refusing labs are replaced. Strategic AI is fungible.</a:t>
            </a:r>
            <a:endParaRPr b="0" i="0" sz="720" u="none" cap="none" strike="noStrike">
              <a:solidFill>
                <a:schemeClr val="dk1"/>
              </a:solidFill>
              <a:latin typeface="Calibri"/>
              <a:ea typeface="Calibri"/>
              <a:cs typeface="Calibri"/>
              <a:sym typeface="Calibri"/>
            </a:endParaRPr>
          </a:p>
        </p:txBody>
      </p:sp>
      <p:pic>
        <p:nvPicPr>
          <p:cNvPr descr="preencoded.png" id="276" name="Google Shape;276;p8"/>
          <p:cNvPicPr preferRelativeResize="0"/>
          <p:nvPr/>
        </p:nvPicPr>
        <p:blipFill rotWithShape="1">
          <a:blip r:embed="rId4">
            <a:alphaModFix/>
          </a:blip>
          <a:srcRect b="0" l="0" r="0" t="0"/>
          <a:stretch/>
        </p:blipFill>
        <p:spPr>
          <a:xfrm>
            <a:off x="4572000" y="2083036"/>
            <a:ext cx="4114800" cy="438150"/>
          </a:xfrm>
          <a:prstGeom prst="rect">
            <a:avLst/>
          </a:prstGeom>
          <a:noFill/>
          <a:ln>
            <a:noFill/>
          </a:ln>
        </p:spPr>
      </p:pic>
      <p:pic>
        <p:nvPicPr>
          <p:cNvPr descr="preencoded.png" id="277" name="Google Shape;277;p8"/>
          <p:cNvPicPr preferRelativeResize="0"/>
          <p:nvPr/>
        </p:nvPicPr>
        <p:blipFill rotWithShape="1">
          <a:blip r:embed="rId5">
            <a:alphaModFix/>
          </a:blip>
          <a:srcRect b="0" l="0" r="0" t="0"/>
          <a:stretch/>
        </p:blipFill>
        <p:spPr>
          <a:xfrm>
            <a:off x="4572000" y="2861183"/>
            <a:ext cx="4114800" cy="571500"/>
          </a:xfrm>
          <a:prstGeom prst="rect">
            <a:avLst/>
          </a:prstGeom>
          <a:noFill/>
          <a:ln>
            <a:noFill/>
          </a:ln>
        </p:spPr>
      </p:pic>
      <p:pic>
        <p:nvPicPr>
          <p:cNvPr descr="preencoded.png" id="278" name="Google Shape;278;p8"/>
          <p:cNvPicPr preferRelativeResize="0"/>
          <p:nvPr/>
        </p:nvPicPr>
        <p:blipFill rotWithShape="1">
          <a:blip r:embed="rId5">
            <a:alphaModFix/>
          </a:blip>
          <a:srcRect b="0" l="0" r="0" t="0"/>
          <a:stretch/>
        </p:blipFill>
        <p:spPr>
          <a:xfrm>
            <a:off x="4572000" y="3433502"/>
            <a:ext cx="4114800" cy="571500"/>
          </a:xfrm>
          <a:prstGeom prst="rect">
            <a:avLst/>
          </a:prstGeom>
          <a:noFill/>
          <a:ln>
            <a:noFill/>
          </a:ln>
        </p:spPr>
      </p:pic>
      <p:pic>
        <p:nvPicPr>
          <p:cNvPr descr="preencoded.png" id="279" name="Google Shape;279;p8"/>
          <p:cNvPicPr preferRelativeResize="0"/>
          <p:nvPr/>
        </p:nvPicPr>
        <p:blipFill rotWithShape="1">
          <a:blip r:embed="rId5">
            <a:alphaModFix/>
          </a:blip>
          <a:srcRect b="0" l="0" r="0" t="0"/>
          <a:stretch/>
        </p:blipFill>
        <p:spPr>
          <a:xfrm>
            <a:off x="4572000" y="4005821"/>
            <a:ext cx="4114800" cy="571500"/>
          </a:xfrm>
          <a:prstGeom prst="rect">
            <a:avLst/>
          </a:prstGeom>
          <a:noFill/>
          <a:ln>
            <a:noFill/>
          </a:ln>
        </p:spPr>
      </p:pic>
      <p:sp>
        <p:nvSpPr>
          <p:cNvPr id="280" name="Google Shape;280;p8"/>
          <p:cNvSpPr/>
          <p:nvPr/>
        </p:nvSpPr>
        <p:spPr>
          <a:xfrm>
            <a:off x="456493" y="256989"/>
            <a:ext cx="2014538"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1A1A1A"/>
              </a:buClr>
              <a:buSzPts val="650"/>
              <a:buFont typeface="Inter"/>
              <a:buNone/>
            </a:pPr>
            <a:r>
              <a:rPr b="0" i="0" lang="en-US" sz="650" u="none" cap="none" strike="noStrike">
                <a:solidFill>
                  <a:srgbClr val="1A1A1A"/>
                </a:solidFill>
                <a:latin typeface="Inter"/>
                <a:ea typeface="Inter"/>
                <a:cs typeface="Inter"/>
                <a:sym typeface="Inter"/>
              </a:rPr>
              <a:t>DOCTRINE — SEC. OF DEFENSE</a:t>
            </a:r>
            <a:endParaRPr b="0" i="0" sz="650" u="none" cap="none" strike="noStrike">
              <a:solidFill>
                <a:schemeClr val="dk1"/>
              </a:solidFill>
              <a:latin typeface="Calibri"/>
              <a:ea typeface="Calibri"/>
              <a:cs typeface="Calibri"/>
              <a:sym typeface="Calibri"/>
            </a:endParaRPr>
          </a:p>
        </p:txBody>
      </p:sp>
      <p:sp>
        <p:nvSpPr>
          <p:cNvPr id="281" name="Google Shape;281;p8"/>
          <p:cNvSpPr/>
          <p:nvPr/>
        </p:nvSpPr>
        <p:spPr>
          <a:xfrm>
            <a:off x="8167315" y="256989"/>
            <a:ext cx="519112"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5C5752"/>
              </a:buClr>
              <a:buSzPts val="650"/>
              <a:buFont typeface="Inter"/>
              <a:buNone/>
            </a:pPr>
            <a:r>
              <a:rPr b="0" i="0" lang="en-US" sz="650" u="none" cap="none" strike="noStrike">
                <a:solidFill>
                  <a:srgbClr val="5C5752"/>
                </a:solidFill>
                <a:latin typeface="Inter"/>
                <a:ea typeface="Inter"/>
                <a:cs typeface="Inter"/>
                <a:sym typeface="Inter"/>
              </a:rPr>
              <a:t>08 — 10</a:t>
            </a:r>
            <a:endParaRPr b="0" i="0" sz="650" u="none" cap="none" strike="noStrike">
              <a:solidFill>
                <a:schemeClr val="dk1"/>
              </a:solidFill>
              <a:latin typeface="Calibri"/>
              <a:ea typeface="Calibri"/>
              <a:cs typeface="Calibri"/>
              <a:sym typeface="Calibri"/>
            </a:endParaRPr>
          </a:p>
        </p:txBody>
      </p:sp>
      <p:sp>
        <p:nvSpPr>
          <p:cNvPr id="282" name="Google Shape;282;p8"/>
          <p:cNvSpPr/>
          <p:nvPr/>
        </p:nvSpPr>
        <p:spPr>
          <a:xfrm>
            <a:off x="457646" y="4824412"/>
            <a:ext cx="595313"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DOCTRINE</a:t>
            </a:r>
            <a:endParaRPr b="0" i="0" sz="590" u="none" cap="none" strike="noStrike">
              <a:solidFill>
                <a:schemeClr val="dk1"/>
              </a:solidFill>
              <a:latin typeface="Calibri"/>
              <a:ea typeface="Calibri"/>
              <a:cs typeface="Calibri"/>
              <a:sym typeface="Calibri"/>
            </a:endParaRPr>
          </a:p>
        </p:txBody>
      </p:sp>
      <p:sp>
        <p:nvSpPr>
          <p:cNvPr id="283" name="Google Shape;283;p8"/>
          <p:cNvSpPr/>
          <p:nvPr/>
        </p:nvSpPr>
        <p:spPr>
          <a:xfrm>
            <a:off x="6887691" y="4824412"/>
            <a:ext cx="1800225" cy="114300"/>
          </a:xfrm>
          <a:prstGeom prst="rect">
            <a:avLst/>
          </a:prstGeom>
          <a:noFill/>
          <a:ln>
            <a:noFill/>
          </a:ln>
        </p:spPr>
        <p:txBody>
          <a:bodyPr anchorCtr="0" anchor="t" bIns="0" lIns="0" spcFirstLastPara="1" rIns="0" wrap="square" tIns="0">
            <a:sp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08 — THE HEGSETH DOCTRINE</a:t>
            </a:r>
            <a:endParaRPr b="0" i="0" sz="59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23af76b078f194a6_2"/>
          <p:cNvSpPr/>
          <p:nvPr/>
        </p:nvSpPr>
        <p:spPr>
          <a:xfrm>
            <a:off x="0" y="0"/>
            <a:ext cx="9144000" cy="5143500"/>
          </a:xfrm>
          <a:prstGeom prst="rect">
            <a:avLst/>
          </a:prstGeom>
          <a:solidFill>
            <a:srgbClr val="FAF8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g23af76b078f194a6_2"/>
          <p:cNvSpPr/>
          <p:nvPr/>
        </p:nvSpPr>
        <p:spPr>
          <a:xfrm>
            <a:off x="468225" y="380906"/>
            <a:ext cx="2538300" cy="1444500"/>
          </a:xfrm>
          <a:prstGeom prst="rect">
            <a:avLst/>
          </a:prstGeom>
          <a:noFill/>
          <a:ln>
            <a:noFill/>
          </a:ln>
        </p:spPr>
        <p:txBody>
          <a:bodyPr anchorCtr="0" anchor="t" bIns="0" lIns="0" spcFirstLastPara="1" rIns="0" wrap="square" tIns="0">
            <a:noAutofit/>
          </a:bodyPr>
          <a:lstStyle/>
          <a:p>
            <a:pPr indent="0" lvl="0" marL="0" marR="0" rtl="0" algn="l">
              <a:lnSpc>
                <a:spcPct val="100077"/>
              </a:lnSpc>
              <a:spcBef>
                <a:spcPts val="0"/>
              </a:spcBef>
              <a:spcAft>
                <a:spcPts val="0"/>
              </a:spcAft>
              <a:buClr>
                <a:srgbClr val="1A1A1A"/>
              </a:buClr>
              <a:buSzPts val="2590"/>
              <a:buFont typeface="Cormorant Garamond"/>
              <a:buNone/>
            </a:pPr>
            <a:r>
              <a:rPr i="1" lang="en-US" sz="2590">
                <a:solidFill>
                  <a:srgbClr val="1A1A1A"/>
                </a:solidFill>
                <a:latin typeface="Cormorant Garamond"/>
                <a:ea typeface="Cormorant Garamond"/>
                <a:cs typeface="Cormorant Garamond"/>
                <a:sym typeface="Cormorant Garamond"/>
              </a:rPr>
              <a:t>Sources Analysis</a:t>
            </a:r>
            <a:endParaRPr b="0" i="0" sz="2590" u="none" cap="none" strike="noStrike">
              <a:solidFill>
                <a:schemeClr val="dk1"/>
              </a:solidFill>
              <a:latin typeface="Calibri"/>
              <a:ea typeface="Calibri"/>
              <a:cs typeface="Calibri"/>
              <a:sym typeface="Calibri"/>
            </a:endParaRPr>
          </a:p>
        </p:txBody>
      </p:sp>
      <p:sp>
        <p:nvSpPr>
          <p:cNvPr id="291" name="Google Shape;291;g23af76b078f194a6_2"/>
          <p:cNvSpPr/>
          <p:nvPr/>
        </p:nvSpPr>
        <p:spPr>
          <a:xfrm>
            <a:off x="268200" y="1538150"/>
            <a:ext cx="783300" cy="3309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107"/>
              </a:lnSpc>
              <a:spcBef>
                <a:spcPts val="0"/>
              </a:spcBef>
              <a:spcAft>
                <a:spcPts val="0"/>
              </a:spcAft>
              <a:buClr>
                <a:srgbClr val="1A1A1A"/>
              </a:buClr>
              <a:buSzPts val="1870"/>
              <a:buFont typeface="Cormorant Garamond"/>
              <a:buNone/>
            </a:pPr>
            <a:r>
              <a:rPr i="1" lang="en-US" sz="2050">
                <a:solidFill>
                  <a:srgbClr val="990000"/>
                </a:solidFill>
                <a:latin typeface="Cormorant Garamond"/>
                <a:ea typeface="Cormorant Garamond"/>
                <a:cs typeface="Cormorant Garamond"/>
                <a:sym typeface="Cormorant Garamond"/>
              </a:rPr>
              <a:t>CNN</a:t>
            </a:r>
            <a:endParaRPr b="0" i="0" sz="2050" u="none" cap="none" strike="noStrike">
              <a:solidFill>
                <a:srgbClr val="990000"/>
              </a:solidFill>
              <a:latin typeface="Calibri"/>
              <a:ea typeface="Calibri"/>
              <a:cs typeface="Calibri"/>
              <a:sym typeface="Calibri"/>
            </a:endParaRPr>
          </a:p>
        </p:txBody>
      </p:sp>
      <p:sp>
        <p:nvSpPr>
          <p:cNvPr id="292" name="Google Shape;292;g23af76b078f194a6_2"/>
          <p:cNvSpPr/>
          <p:nvPr/>
        </p:nvSpPr>
        <p:spPr>
          <a:xfrm>
            <a:off x="274075" y="1934500"/>
            <a:ext cx="1419300" cy="1356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800"/>
              <a:t>The Trump administration blacklisted Anthropic as a "supply chain risk" after it refused to drop Claude's </a:t>
            </a:r>
            <a:r>
              <a:rPr lang="en-US" sz="800">
                <a:solidFill>
                  <a:srgbClr val="274E13"/>
                </a:solidFill>
              </a:rPr>
              <a:t>safety guardrails</a:t>
            </a:r>
            <a:r>
              <a:rPr lang="en-US" sz="800"/>
              <a:t> for military use. </a:t>
            </a:r>
            <a:r>
              <a:rPr lang="en-US" sz="800">
                <a:solidFill>
                  <a:srgbClr val="783F04"/>
                </a:solidFill>
              </a:rPr>
              <a:t>Anthropic</a:t>
            </a:r>
            <a:r>
              <a:rPr lang="en-US" sz="800"/>
              <a:t> sued and got a temporary pause, but the ban sparked fierce competition among rivals like Microsoft and Google for the defense funding left on the table.</a:t>
            </a:r>
            <a:endParaRPr sz="800"/>
          </a:p>
        </p:txBody>
      </p:sp>
      <p:sp>
        <p:nvSpPr>
          <p:cNvPr id="293" name="Google Shape;293;g23af76b078f194a6_2"/>
          <p:cNvSpPr/>
          <p:nvPr/>
        </p:nvSpPr>
        <p:spPr>
          <a:xfrm rot="-3075314">
            <a:off x="1166378" y="1097143"/>
            <a:ext cx="410800" cy="495275"/>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8A5A3B"/>
              </a:buClr>
              <a:buSzPts val="720"/>
              <a:buFont typeface="Inter"/>
              <a:buNone/>
            </a:pPr>
            <a:r>
              <a:rPr lang="en-US" sz="720">
                <a:solidFill>
                  <a:srgbClr val="8A5A3B"/>
                </a:solidFill>
                <a:latin typeface="Inter"/>
                <a:ea typeface="Inter"/>
                <a:cs typeface="Inter"/>
                <a:sym typeface="Inter"/>
              </a:rPr>
              <a:t>Tony</a:t>
            </a:r>
            <a:endParaRPr b="0" i="0" sz="720" u="none" cap="none" strike="noStrike">
              <a:solidFill>
                <a:schemeClr val="dk1"/>
              </a:solidFill>
              <a:latin typeface="Calibri"/>
              <a:ea typeface="Calibri"/>
              <a:cs typeface="Calibri"/>
              <a:sym typeface="Calibri"/>
            </a:endParaRPr>
          </a:p>
        </p:txBody>
      </p:sp>
      <p:sp>
        <p:nvSpPr>
          <p:cNvPr id="294" name="Google Shape;294;g23af76b078f194a6_2"/>
          <p:cNvSpPr/>
          <p:nvPr/>
        </p:nvSpPr>
        <p:spPr>
          <a:xfrm>
            <a:off x="3551991" y="937690"/>
            <a:ext cx="574200" cy="3309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107"/>
              </a:lnSpc>
              <a:spcBef>
                <a:spcPts val="0"/>
              </a:spcBef>
              <a:spcAft>
                <a:spcPts val="0"/>
              </a:spcAft>
              <a:buClr>
                <a:srgbClr val="1A1A1A"/>
              </a:buClr>
              <a:buSzPts val="1870"/>
              <a:buFont typeface="Cormorant Garamond"/>
              <a:buNone/>
            </a:pPr>
            <a:r>
              <a:rPr b="0" i="1" lang="en-US" sz="1870" u="none" cap="none" strike="noStrike">
                <a:solidFill>
                  <a:srgbClr val="073763"/>
                </a:solidFill>
                <a:latin typeface="Cormorant Garamond"/>
                <a:ea typeface="Cormorant Garamond"/>
                <a:cs typeface="Cormorant Garamond"/>
                <a:sym typeface="Cormorant Garamond"/>
              </a:rPr>
              <a:t>N</a:t>
            </a:r>
            <a:r>
              <a:rPr i="1" lang="en-US" sz="1870">
                <a:solidFill>
                  <a:srgbClr val="073763"/>
                </a:solidFill>
                <a:latin typeface="Cormorant Garamond"/>
                <a:ea typeface="Cormorant Garamond"/>
                <a:cs typeface="Cormorant Garamond"/>
                <a:sym typeface="Cormorant Garamond"/>
              </a:rPr>
              <a:t>PR</a:t>
            </a:r>
            <a:endParaRPr b="0" i="0" sz="1870" u="none" cap="none" strike="noStrike">
              <a:solidFill>
                <a:srgbClr val="073763"/>
              </a:solidFill>
              <a:latin typeface="Calibri"/>
              <a:ea typeface="Calibri"/>
              <a:cs typeface="Calibri"/>
              <a:sym typeface="Calibri"/>
            </a:endParaRPr>
          </a:p>
        </p:txBody>
      </p:sp>
      <p:sp>
        <p:nvSpPr>
          <p:cNvPr id="295" name="Google Shape;295;g23af76b078f194a6_2"/>
          <p:cNvSpPr/>
          <p:nvPr/>
        </p:nvSpPr>
        <p:spPr>
          <a:xfrm>
            <a:off x="3552025" y="1311696"/>
            <a:ext cx="1676100" cy="1046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800"/>
              <a:t>Defense Secretary Pete Hegseth gave Anthropic a $200 million ultimatum: strip the safety guardrails or face a total ban. </a:t>
            </a:r>
            <a:r>
              <a:rPr lang="en-US" sz="800">
                <a:solidFill>
                  <a:srgbClr val="783F04"/>
                </a:solidFill>
              </a:rPr>
              <a:t>Anthropic's</a:t>
            </a:r>
            <a:r>
              <a:rPr lang="en-US" sz="800"/>
              <a:t> CEO refused, warning that the AI isn't ready for autonomous weaponry and denying the tools' use for </a:t>
            </a:r>
            <a:r>
              <a:rPr lang="en-US" sz="800">
                <a:solidFill>
                  <a:srgbClr val="990000"/>
                </a:solidFill>
              </a:rPr>
              <a:t>mass domestic</a:t>
            </a:r>
            <a:r>
              <a:rPr lang="en-US" sz="800"/>
              <a:t> </a:t>
            </a:r>
            <a:r>
              <a:rPr lang="en-US" sz="800">
                <a:solidFill>
                  <a:srgbClr val="990000"/>
                </a:solidFill>
              </a:rPr>
              <a:t>surveillance</a:t>
            </a:r>
            <a:r>
              <a:rPr lang="en-US" sz="800"/>
              <a:t>.</a:t>
            </a:r>
            <a:endParaRPr sz="800"/>
          </a:p>
        </p:txBody>
      </p:sp>
      <p:sp>
        <p:nvSpPr>
          <p:cNvPr id="296" name="Google Shape;296;g23af76b078f194a6_2"/>
          <p:cNvSpPr/>
          <p:nvPr/>
        </p:nvSpPr>
        <p:spPr>
          <a:xfrm rot="2700000">
            <a:off x="2590284" y="1586677"/>
            <a:ext cx="305894" cy="599909"/>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8A5A3B"/>
              </a:buClr>
              <a:buSzPts val="720"/>
              <a:buFont typeface="Inter"/>
              <a:buNone/>
            </a:pPr>
            <a:r>
              <a:rPr lang="en-US" sz="720">
                <a:solidFill>
                  <a:srgbClr val="8A5A3B"/>
                </a:solidFill>
                <a:latin typeface="Inter"/>
                <a:ea typeface="Inter"/>
                <a:cs typeface="Inter"/>
                <a:sym typeface="Inter"/>
              </a:rPr>
              <a:t>Derek</a:t>
            </a:r>
            <a:endParaRPr b="0" i="0" sz="720" u="none" cap="none" strike="noStrike">
              <a:solidFill>
                <a:schemeClr val="dk1"/>
              </a:solidFill>
              <a:latin typeface="Calibri"/>
              <a:ea typeface="Calibri"/>
              <a:cs typeface="Calibri"/>
              <a:sym typeface="Calibri"/>
            </a:endParaRPr>
          </a:p>
        </p:txBody>
      </p:sp>
      <p:sp>
        <p:nvSpPr>
          <p:cNvPr id="297" name="Google Shape;297;g23af76b078f194a6_2"/>
          <p:cNvSpPr/>
          <p:nvPr/>
        </p:nvSpPr>
        <p:spPr>
          <a:xfrm>
            <a:off x="1934422" y="2903776"/>
            <a:ext cx="827400" cy="3309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107"/>
              </a:lnSpc>
              <a:spcBef>
                <a:spcPts val="0"/>
              </a:spcBef>
              <a:spcAft>
                <a:spcPts val="0"/>
              </a:spcAft>
              <a:buClr>
                <a:srgbClr val="1A1A1A"/>
              </a:buClr>
              <a:buSzPts val="1870"/>
              <a:buFont typeface="Cormorant Garamond"/>
              <a:buNone/>
            </a:pPr>
            <a:r>
              <a:rPr i="1" lang="en-US" sz="1870">
                <a:latin typeface="Cormorant Garamond"/>
                <a:ea typeface="Cormorant Garamond"/>
                <a:cs typeface="Cormorant Garamond"/>
                <a:sym typeface="Cormorant Garamond"/>
              </a:rPr>
              <a:t>Forbes</a:t>
            </a:r>
            <a:endParaRPr b="0" i="0" sz="1870" u="none" cap="none" strike="noStrike">
              <a:latin typeface="Calibri"/>
              <a:ea typeface="Calibri"/>
              <a:cs typeface="Calibri"/>
              <a:sym typeface="Calibri"/>
            </a:endParaRPr>
          </a:p>
        </p:txBody>
      </p:sp>
      <p:sp>
        <p:nvSpPr>
          <p:cNvPr id="298" name="Google Shape;298;g23af76b078f194a6_2"/>
          <p:cNvSpPr/>
          <p:nvPr/>
        </p:nvSpPr>
        <p:spPr>
          <a:xfrm>
            <a:off x="1934425" y="3327850"/>
            <a:ext cx="1478400" cy="1250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800"/>
              <a:t>While Anthropic held its ground, a rift formed in Silicon Valley as OpenAI, Nvidia, Alphabet, SpaceX, and Amazon quickly signed classified Pentagon contracts to boost military data analysis, while federal courts denied Anthropic's bid to block the ban.</a:t>
            </a:r>
            <a:endParaRPr sz="800"/>
          </a:p>
        </p:txBody>
      </p:sp>
      <p:sp>
        <p:nvSpPr>
          <p:cNvPr id="299" name="Google Shape;299;g23af76b078f194a6_2"/>
          <p:cNvSpPr/>
          <p:nvPr/>
        </p:nvSpPr>
        <p:spPr>
          <a:xfrm rot="440140">
            <a:off x="2545848" y="730191"/>
            <a:ext cx="394731" cy="646051"/>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8A5A3B"/>
              </a:buClr>
              <a:buSzPts val="720"/>
              <a:buFont typeface="Inter"/>
              <a:buNone/>
            </a:pPr>
            <a:r>
              <a:rPr lang="en-US" sz="720">
                <a:solidFill>
                  <a:srgbClr val="8A5A3B"/>
                </a:solidFill>
                <a:latin typeface="Inter"/>
                <a:ea typeface="Inter"/>
                <a:cs typeface="Inter"/>
                <a:sym typeface="Inter"/>
              </a:rPr>
              <a:t>Adam</a:t>
            </a:r>
            <a:endParaRPr b="0" i="0" sz="720" u="none" cap="none" strike="noStrike">
              <a:solidFill>
                <a:schemeClr val="dk1"/>
              </a:solidFill>
              <a:latin typeface="Calibri"/>
              <a:ea typeface="Calibri"/>
              <a:cs typeface="Calibri"/>
              <a:sym typeface="Calibri"/>
            </a:endParaRPr>
          </a:p>
        </p:txBody>
      </p:sp>
      <p:sp>
        <p:nvSpPr>
          <p:cNvPr id="300" name="Google Shape;300;g23af76b078f194a6_2"/>
          <p:cNvSpPr/>
          <p:nvPr/>
        </p:nvSpPr>
        <p:spPr>
          <a:xfrm>
            <a:off x="457498" y="256989"/>
            <a:ext cx="1762200" cy="123900"/>
          </a:xfrm>
          <a:prstGeom prst="rect">
            <a:avLst/>
          </a:prstGeom>
          <a:noFill/>
          <a:ln>
            <a:noFill/>
          </a:ln>
        </p:spPr>
        <p:txBody>
          <a:bodyPr anchorCtr="0" anchor="t" bIns="0" lIns="0" spcFirstLastPara="1" rIns="0" wrap="square" tIns="0">
            <a:noAutofit/>
          </a:bodyPr>
          <a:lstStyle/>
          <a:p>
            <a:pPr indent="0" lvl="0" marL="0" marR="0" rtl="0" algn="l">
              <a:lnSpc>
                <a:spcPct val="149538"/>
              </a:lnSpc>
              <a:spcBef>
                <a:spcPts val="0"/>
              </a:spcBef>
              <a:spcAft>
                <a:spcPts val="0"/>
              </a:spcAft>
              <a:buClr>
                <a:srgbClr val="1A1A1A"/>
              </a:buClr>
              <a:buSzPts val="650"/>
              <a:buFont typeface="Inter"/>
              <a:buNone/>
            </a:pPr>
            <a:r>
              <a:rPr b="0" i="0" lang="en-US" sz="650" u="none" cap="none" strike="noStrike">
                <a:solidFill>
                  <a:srgbClr val="1A1A1A"/>
                </a:solidFill>
                <a:latin typeface="Inter"/>
                <a:ea typeface="Inter"/>
                <a:cs typeface="Inter"/>
                <a:sym typeface="Inter"/>
              </a:rPr>
              <a:t>PIVOT — THE </a:t>
            </a:r>
            <a:r>
              <a:rPr lang="en-US" sz="650">
                <a:solidFill>
                  <a:srgbClr val="1A1A1A"/>
                </a:solidFill>
                <a:latin typeface="Inter"/>
                <a:ea typeface="Inter"/>
                <a:cs typeface="Inter"/>
                <a:sym typeface="Inter"/>
              </a:rPr>
              <a:t>DATA</a:t>
            </a:r>
            <a:endParaRPr b="0" i="0" sz="650" u="none" cap="none" strike="noStrike">
              <a:solidFill>
                <a:schemeClr val="dk1"/>
              </a:solidFill>
              <a:latin typeface="Calibri"/>
              <a:ea typeface="Calibri"/>
              <a:cs typeface="Calibri"/>
              <a:sym typeface="Calibri"/>
            </a:endParaRPr>
          </a:p>
        </p:txBody>
      </p:sp>
      <p:sp>
        <p:nvSpPr>
          <p:cNvPr id="301" name="Google Shape;301;g23af76b078f194a6_2"/>
          <p:cNvSpPr/>
          <p:nvPr/>
        </p:nvSpPr>
        <p:spPr>
          <a:xfrm>
            <a:off x="8167278" y="256989"/>
            <a:ext cx="519000" cy="123900"/>
          </a:xfrm>
          <a:prstGeom prst="rect">
            <a:avLst/>
          </a:prstGeom>
          <a:noFill/>
          <a:ln>
            <a:noFill/>
          </a:ln>
        </p:spPr>
        <p:txBody>
          <a:bodyPr anchorCtr="0" anchor="t" bIns="0" lIns="0" spcFirstLastPara="1" rIns="0" wrap="square" tIns="0">
            <a:noAutofit/>
          </a:bodyPr>
          <a:lstStyle/>
          <a:p>
            <a:pPr indent="0" lvl="0" marL="0" marR="0" rtl="0" algn="l">
              <a:lnSpc>
                <a:spcPct val="149538"/>
              </a:lnSpc>
              <a:spcBef>
                <a:spcPts val="0"/>
              </a:spcBef>
              <a:spcAft>
                <a:spcPts val="0"/>
              </a:spcAft>
              <a:buClr>
                <a:srgbClr val="5C5752"/>
              </a:buClr>
              <a:buSzPts val="650"/>
              <a:buFont typeface="Inter"/>
              <a:buNone/>
            </a:pPr>
            <a:r>
              <a:rPr b="0" i="0" lang="en-US" sz="650" u="none" cap="none" strike="noStrike">
                <a:solidFill>
                  <a:srgbClr val="5C5752"/>
                </a:solidFill>
                <a:latin typeface="Inter"/>
                <a:ea typeface="Inter"/>
                <a:cs typeface="Inter"/>
                <a:sym typeface="Inter"/>
              </a:rPr>
              <a:t>06 — 10</a:t>
            </a:r>
            <a:endParaRPr b="0" i="0" sz="650" u="none" cap="none" strike="noStrike">
              <a:solidFill>
                <a:schemeClr val="dk1"/>
              </a:solidFill>
              <a:latin typeface="Calibri"/>
              <a:ea typeface="Calibri"/>
              <a:cs typeface="Calibri"/>
              <a:sym typeface="Calibri"/>
            </a:endParaRPr>
          </a:p>
        </p:txBody>
      </p:sp>
      <p:sp>
        <p:nvSpPr>
          <p:cNvPr id="302" name="Google Shape;302;g23af76b078f194a6_2"/>
          <p:cNvSpPr/>
          <p:nvPr/>
        </p:nvSpPr>
        <p:spPr>
          <a:xfrm>
            <a:off x="457535" y="4824412"/>
            <a:ext cx="2195400" cy="114300"/>
          </a:xfrm>
          <a:prstGeom prst="rect">
            <a:avLst/>
          </a:prstGeom>
          <a:noFill/>
          <a:ln>
            <a:noFill/>
          </a:ln>
        </p:spPr>
        <p:txBody>
          <a:bodyPr anchorCtr="0" anchor="t" bIns="0" lIns="0" spcFirstLastPara="1" rIns="0" wrap="square" tIns="0">
            <a:no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PIVOT — OPENAI, NVIDIA, ALPHABET</a:t>
            </a:r>
            <a:endParaRPr b="0" i="0" sz="590" u="none" cap="none" strike="noStrike">
              <a:solidFill>
                <a:schemeClr val="dk1"/>
              </a:solidFill>
              <a:latin typeface="Calibri"/>
              <a:ea typeface="Calibri"/>
              <a:cs typeface="Calibri"/>
              <a:sym typeface="Calibri"/>
            </a:endParaRPr>
          </a:p>
        </p:txBody>
      </p:sp>
      <p:sp>
        <p:nvSpPr>
          <p:cNvPr id="303" name="Google Shape;303;g23af76b078f194a6_2"/>
          <p:cNvSpPr/>
          <p:nvPr/>
        </p:nvSpPr>
        <p:spPr>
          <a:xfrm>
            <a:off x="7424886" y="4824412"/>
            <a:ext cx="1262100" cy="114300"/>
          </a:xfrm>
          <a:prstGeom prst="rect">
            <a:avLst/>
          </a:prstGeom>
          <a:noFill/>
          <a:ln>
            <a:noFill/>
          </a:ln>
        </p:spPr>
        <p:txBody>
          <a:bodyPr anchorCtr="0" anchor="t" bIns="0" lIns="0" spcFirstLastPara="1" rIns="0" wrap="square" tIns="0">
            <a:noAutofit/>
          </a:bodyPr>
          <a:lstStyle/>
          <a:p>
            <a:pPr indent="0" lvl="0" marL="0" marR="0" rtl="0" algn="l">
              <a:lnSpc>
                <a:spcPct val="150169"/>
              </a:lnSpc>
              <a:spcBef>
                <a:spcPts val="0"/>
              </a:spcBef>
              <a:spcAft>
                <a:spcPts val="0"/>
              </a:spcAft>
              <a:buClr>
                <a:srgbClr val="5C5752"/>
              </a:buClr>
              <a:buSzPts val="590"/>
              <a:buFont typeface="Inter"/>
              <a:buNone/>
            </a:pPr>
            <a:r>
              <a:rPr b="0" i="0" lang="en-US" sz="590" u="none" cap="none" strike="noStrike">
                <a:solidFill>
                  <a:srgbClr val="5C5752"/>
                </a:solidFill>
                <a:latin typeface="Inter"/>
                <a:ea typeface="Inter"/>
                <a:cs typeface="Inter"/>
                <a:sym typeface="Inter"/>
              </a:rPr>
              <a:t>0</a:t>
            </a:r>
            <a:r>
              <a:rPr lang="en-US" sz="590">
                <a:solidFill>
                  <a:srgbClr val="5C5752"/>
                </a:solidFill>
                <a:latin typeface="Inter"/>
                <a:ea typeface="Inter"/>
                <a:cs typeface="Inter"/>
                <a:sym typeface="Inter"/>
              </a:rPr>
              <a:t>7</a:t>
            </a:r>
            <a:r>
              <a:rPr b="0" i="0" lang="en-US" sz="590" u="none" cap="none" strike="noStrike">
                <a:solidFill>
                  <a:srgbClr val="5C5752"/>
                </a:solidFill>
                <a:latin typeface="Inter"/>
                <a:ea typeface="Inter"/>
                <a:cs typeface="Inter"/>
                <a:sym typeface="Inter"/>
              </a:rPr>
              <a:t> — </a:t>
            </a:r>
            <a:r>
              <a:rPr lang="en-US" sz="590">
                <a:solidFill>
                  <a:srgbClr val="5C5752"/>
                </a:solidFill>
                <a:latin typeface="Inter"/>
                <a:ea typeface="Inter"/>
                <a:cs typeface="Inter"/>
                <a:sym typeface="Inter"/>
              </a:rPr>
              <a:t>SOURCES ANALYSIS</a:t>
            </a:r>
            <a:endParaRPr b="0" i="0" sz="590" u="none" cap="none" strike="noStrike">
              <a:solidFill>
                <a:schemeClr val="dk1"/>
              </a:solidFill>
              <a:latin typeface="Calibri"/>
              <a:ea typeface="Calibri"/>
              <a:cs typeface="Calibri"/>
              <a:sym typeface="Calibri"/>
            </a:endParaRPr>
          </a:p>
        </p:txBody>
      </p:sp>
      <p:cxnSp>
        <p:nvCxnSpPr>
          <p:cNvPr id="304" name="Google Shape;304;g23af76b078f194a6_2"/>
          <p:cNvCxnSpPr/>
          <p:nvPr/>
        </p:nvCxnSpPr>
        <p:spPr>
          <a:xfrm flipH="1">
            <a:off x="1051495" y="832260"/>
            <a:ext cx="574200" cy="705900"/>
          </a:xfrm>
          <a:prstGeom prst="straightConnector1">
            <a:avLst/>
          </a:prstGeom>
          <a:noFill/>
          <a:ln cap="flat" cmpd="sng" w="9525">
            <a:solidFill>
              <a:schemeClr val="dk2"/>
            </a:solidFill>
            <a:prstDash val="solid"/>
            <a:round/>
            <a:headEnd len="med" w="med" type="none"/>
            <a:tailEnd len="med" w="med" type="none"/>
          </a:ln>
        </p:spPr>
      </p:cxnSp>
      <p:cxnSp>
        <p:nvCxnSpPr>
          <p:cNvPr id="305" name="Google Shape;305;g23af76b078f194a6_2"/>
          <p:cNvCxnSpPr/>
          <p:nvPr/>
        </p:nvCxnSpPr>
        <p:spPr>
          <a:xfrm>
            <a:off x="2187957" y="776789"/>
            <a:ext cx="1364100" cy="160200"/>
          </a:xfrm>
          <a:prstGeom prst="straightConnector1">
            <a:avLst/>
          </a:prstGeom>
          <a:noFill/>
          <a:ln cap="flat" cmpd="sng" w="9525">
            <a:solidFill>
              <a:schemeClr val="dk2"/>
            </a:solidFill>
            <a:prstDash val="solid"/>
            <a:round/>
            <a:headEnd len="med" w="med" type="none"/>
            <a:tailEnd len="med" w="med" type="none"/>
          </a:ln>
        </p:spPr>
      </p:cxnSp>
      <p:cxnSp>
        <p:nvCxnSpPr>
          <p:cNvPr id="306" name="Google Shape;306;g23af76b078f194a6_2"/>
          <p:cNvCxnSpPr/>
          <p:nvPr/>
        </p:nvCxnSpPr>
        <p:spPr>
          <a:xfrm>
            <a:off x="1730722" y="869476"/>
            <a:ext cx="203700" cy="2034300"/>
          </a:xfrm>
          <a:prstGeom prst="straightConnector1">
            <a:avLst/>
          </a:prstGeom>
          <a:noFill/>
          <a:ln cap="flat" cmpd="sng" w="9525">
            <a:solidFill>
              <a:schemeClr val="dk2"/>
            </a:solidFill>
            <a:prstDash val="solid"/>
            <a:round/>
            <a:headEnd len="med" w="med" type="none"/>
            <a:tailEnd len="med" w="med" type="none"/>
          </a:ln>
        </p:spPr>
      </p:cxnSp>
      <p:cxnSp>
        <p:nvCxnSpPr>
          <p:cNvPr id="307" name="Google Shape;307;g23af76b078f194a6_2"/>
          <p:cNvCxnSpPr/>
          <p:nvPr/>
        </p:nvCxnSpPr>
        <p:spPr>
          <a:xfrm>
            <a:off x="1921629" y="808231"/>
            <a:ext cx="1737600" cy="1794600"/>
          </a:xfrm>
          <a:prstGeom prst="straightConnector1">
            <a:avLst/>
          </a:prstGeom>
          <a:noFill/>
          <a:ln cap="flat" cmpd="sng" w="9525">
            <a:solidFill>
              <a:schemeClr val="dk2"/>
            </a:solidFill>
            <a:prstDash val="solid"/>
            <a:round/>
            <a:headEnd len="med" w="med" type="none"/>
            <a:tailEnd len="med" w="med" type="none"/>
          </a:ln>
        </p:spPr>
      </p:cxnSp>
      <p:sp>
        <p:nvSpPr>
          <p:cNvPr id="308" name="Google Shape;308;g23af76b078f194a6_2"/>
          <p:cNvSpPr/>
          <p:nvPr/>
        </p:nvSpPr>
        <p:spPr>
          <a:xfrm>
            <a:off x="3659216" y="2602815"/>
            <a:ext cx="574200" cy="3309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107"/>
              </a:lnSpc>
              <a:spcBef>
                <a:spcPts val="0"/>
              </a:spcBef>
              <a:spcAft>
                <a:spcPts val="0"/>
              </a:spcAft>
              <a:buClr>
                <a:srgbClr val="1A1A1A"/>
              </a:buClr>
              <a:buSzPts val="1870"/>
              <a:buFont typeface="Cormorant Garamond"/>
              <a:buNone/>
            </a:pPr>
            <a:r>
              <a:rPr i="1" lang="en-US" sz="1870">
                <a:solidFill>
                  <a:srgbClr val="990000"/>
                </a:solidFill>
                <a:latin typeface="Cormorant Garamond"/>
                <a:ea typeface="Cormorant Garamond"/>
                <a:cs typeface="Cormorant Garamond"/>
                <a:sym typeface="Cormorant Garamond"/>
              </a:rPr>
              <a:t>NYT</a:t>
            </a:r>
            <a:endParaRPr b="0" i="0" sz="1870" u="none" cap="none" strike="noStrike">
              <a:solidFill>
                <a:srgbClr val="990000"/>
              </a:solidFill>
              <a:latin typeface="Calibri"/>
              <a:ea typeface="Calibri"/>
              <a:cs typeface="Calibri"/>
              <a:sym typeface="Calibri"/>
            </a:endParaRPr>
          </a:p>
        </p:txBody>
      </p:sp>
      <p:sp>
        <p:nvSpPr>
          <p:cNvPr id="309" name="Google Shape;309;g23af76b078f194a6_2"/>
          <p:cNvSpPr/>
          <p:nvPr/>
        </p:nvSpPr>
        <p:spPr>
          <a:xfrm>
            <a:off x="3659225" y="3104315"/>
            <a:ext cx="1633500" cy="129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800"/>
              <a:t>OpenAI aggressively capitalized on the situation, absorbing the market share Anthropic left behind. This shift highlights a chilling dynamic where the Pentagon uses massive financial leverage to force private tech labs to abandon their ethical safety rules.</a:t>
            </a:r>
            <a:endParaRPr sz="800"/>
          </a:p>
        </p:txBody>
      </p:sp>
      <p:pic>
        <p:nvPicPr>
          <p:cNvPr id="310" name="Google Shape;310;g23af76b078f194a6_2"/>
          <p:cNvPicPr preferRelativeResize="0"/>
          <p:nvPr/>
        </p:nvPicPr>
        <p:blipFill rotWithShape="1">
          <a:blip r:embed="rId3">
            <a:alphaModFix/>
          </a:blip>
          <a:srcRect b="39516" l="0" r="0" t="39897"/>
          <a:stretch/>
        </p:blipFill>
        <p:spPr>
          <a:xfrm rot="9">
            <a:off x="6663919" y="1715094"/>
            <a:ext cx="2221763" cy="343062"/>
          </a:xfrm>
          <a:prstGeom prst="rect">
            <a:avLst/>
          </a:prstGeom>
          <a:noFill/>
          <a:ln>
            <a:noFill/>
          </a:ln>
        </p:spPr>
      </p:pic>
      <p:pic>
        <p:nvPicPr>
          <p:cNvPr id="311" name="Google Shape;311;g23af76b078f194a6_2"/>
          <p:cNvPicPr preferRelativeResize="0"/>
          <p:nvPr/>
        </p:nvPicPr>
        <p:blipFill rotWithShape="1">
          <a:blip r:embed="rId4">
            <a:alphaModFix/>
          </a:blip>
          <a:srcRect b="37126" l="0" r="0" t="36619"/>
          <a:stretch/>
        </p:blipFill>
        <p:spPr>
          <a:xfrm rot="-3">
            <a:off x="5823437" y="1073276"/>
            <a:ext cx="1478400" cy="388154"/>
          </a:xfrm>
          <a:prstGeom prst="rect">
            <a:avLst/>
          </a:prstGeom>
          <a:noFill/>
          <a:ln>
            <a:noFill/>
          </a:ln>
        </p:spPr>
      </p:pic>
      <p:pic>
        <p:nvPicPr>
          <p:cNvPr id="312" name="Google Shape;312;g23af76b078f194a6_2"/>
          <p:cNvPicPr preferRelativeResize="0"/>
          <p:nvPr/>
        </p:nvPicPr>
        <p:blipFill rotWithShape="1">
          <a:blip r:embed="rId5">
            <a:alphaModFix/>
          </a:blip>
          <a:srcRect b="27119" l="0" r="0" t="25405"/>
          <a:stretch/>
        </p:blipFill>
        <p:spPr>
          <a:xfrm rot="-5">
            <a:off x="5584928" y="2380726"/>
            <a:ext cx="1955373" cy="464150"/>
          </a:xfrm>
          <a:prstGeom prst="rect">
            <a:avLst/>
          </a:prstGeom>
          <a:noFill/>
          <a:ln>
            <a:noFill/>
          </a:ln>
        </p:spPr>
      </p:pic>
      <p:pic>
        <p:nvPicPr>
          <p:cNvPr id="313" name="Google Shape;313;g23af76b078f194a6_2"/>
          <p:cNvPicPr preferRelativeResize="0"/>
          <p:nvPr/>
        </p:nvPicPr>
        <p:blipFill>
          <a:blip r:embed="rId6">
            <a:alphaModFix/>
          </a:blip>
          <a:stretch>
            <a:fillRect/>
          </a:stretch>
        </p:blipFill>
        <p:spPr>
          <a:xfrm>
            <a:off x="7140675" y="3168802"/>
            <a:ext cx="1633501" cy="544935"/>
          </a:xfrm>
          <a:prstGeom prst="rect">
            <a:avLst/>
          </a:prstGeom>
          <a:solidFill>
            <a:srgbClr val="FAF8F4"/>
          </a:solid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g3e96ce10bb0_1_1"/>
          <p:cNvSpPr txBox="1"/>
          <p:nvPr/>
        </p:nvSpPr>
        <p:spPr>
          <a:xfrm>
            <a:off x="0" y="879225"/>
            <a:ext cx="9144000" cy="215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300">
                <a:solidFill>
                  <a:schemeClr val="dk1"/>
                </a:solidFill>
              </a:rPr>
              <a:t>Conclusion: Output Effects &amp; Controversy</a:t>
            </a:r>
            <a:endParaRPr b="1" sz="1300">
              <a:solidFill>
                <a:schemeClr val="dk1"/>
              </a:solidFill>
            </a:endParaRPr>
          </a:p>
          <a:p>
            <a:pPr indent="0" lvl="0" marL="0" rtl="0" algn="l">
              <a:lnSpc>
                <a:spcPct val="115000"/>
              </a:lnSpc>
              <a:spcBef>
                <a:spcPts val="400"/>
              </a:spcBef>
              <a:spcAft>
                <a:spcPts val="0"/>
              </a:spcAft>
              <a:buNone/>
            </a:pPr>
            <a:r>
              <a:rPr lang="en-US" sz="1100">
                <a:solidFill>
                  <a:schemeClr val="dk1"/>
                </a:solidFill>
              </a:rPr>
              <a:t>The Pentagon’s aggressive push for unrestricted AI has completely changed the tech landscape. By sidelining Anthropic and teaming up with OpenAI and others, the military successfully bypassed safety guardrails, clearing the way for AI to be used in autonomous warfare and mass surveillance.</a:t>
            </a:r>
            <a:endParaRPr sz="1100">
              <a:solidFill>
                <a:schemeClr val="dk1"/>
              </a:solidFill>
            </a:endParaRPr>
          </a:p>
          <a:p>
            <a:pPr indent="0" lvl="0" marL="0" rtl="0" algn="l">
              <a:lnSpc>
                <a:spcPct val="115000"/>
              </a:lnSpc>
              <a:spcBef>
                <a:spcPts val="1200"/>
              </a:spcBef>
              <a:spcAft>
                <a:spcPts val="1200"/>
              </a:spcAft>
              <a:buNone/>
            </a:pPr>
            <a:r>
              <a:rPr lang="en-US" sz="1100">
                <a:solidFill>
                  <a:schemeClr val="dk1"/>
                </a:solidFill>
              </a:rPr>
              <a:t>This has sparked a massive debate. On one side, the government argues that keeping these models restricted holds America back against foreign adversaries, insisting that private tech companies shouldn't be making national security decisions. On the other side, everyday citizens and human rights groups are deeply worried. They see this as a dangerous overreach, warning that removing these safeguards invites catastrophic automated errors, threatens civilian privacy, and sets a terrifying precedent where the government can pressure private companies into weaponizing their technology.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0"/>
          <p:cNvSpPr/>
          <p:nvPr/>
        </p:nvSpPr>
        <p:spPr>
          <a:xfrm>
            <a:off x="0" y="0"/>
            <a:ext cx="9144000" cy="5143500"/>
          </a:xfrm>
          <a:prstGeom prst="rect">
            <a:avLst/>
          </a:prstGeom>
          <a:solidFill>
            <a:srgbClr val="FAF8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0"/>
          <p:cNvSpPr/>
          <p:nvPr/>
        </p:nvSpPr>
        <p:spPr>
          <a:xfrm>
            <a:off x="456307" y="256989"/>
            <a:ext cx="1814513"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1A1A1A"/>
              </a:buClr>
              <a:buSzPts val="650"/>
              <a:buFont typeface="Inter"/>
              <a:buNone/>
            </a:pPr>
            <a:r>
              <a:rPr b="0" i="0" lang="en-US" sz="650" u="none" cap="none" strike="noStrike">
                <a:solidFill>
                  <a:srgbClr val="1A1A1A"/>
                </a:solidFill>
                <a:latin typeface="Inter"/>
                <a:ea typeface="Inter"/>
                <a:cs typeface="Inter"/>
                <a:sym typeface="Inter"/>
              </a:rPr>
              <a:t>EPILOGUE — TEAM DUCKIEZ</a:t>
            </a:r>
            <a:endParaRPr b="0" i="0" sz="650" u="none" cap="none" strike="noStrike">
              <a:solidFill>
                <a:schemeClr val="dk1"/>
              </a:solidFill>
              <a:latin typeface="Calibri"/>
              <a:ea typeface="Calibri"/>
              <a:cs typeface="Calibri"/>
              <a:sym typeface="Calibri"/>
            </a:endParaRPr>
          </a:p>
        </p:txBody>
      </p:sp>
      <p:sp>
        <p:nvSpPr>
          <p:cNvPr id="327" name="Google Shape;327;p10"/>
          <p:cNvSpPr/>
          <p:nvPr/>
        </p:nvSpPr>
        <p:spPr>
          <a:xfrm>
            <a:off x="8185696" y="256989"/>
            <a:ext cx="500063"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5C5752"/>
              </a:buClr>
              <a:buSzPts val="650"/>
              <a:buFont typeface="Inter"/>
              <a:buNone/>
            </a:pPr>
            <a:r>
              <a:rPr b="0" i="0" lang="en-US" sz="650" u="none" cap="none" strike="noStrike">
                <a:solidFill>
                  <a:srgbClr val="5C5752"/>
                </a:solidFill>
                <a:latin typeface="Inter"/>
                <a:ea typeface="Inter"/>
                <a:cs typeface="Inter"/>
                <a:sym typeface="Inter"/>
              </a:rPr>
              <a:t>10 — 10</a:t>
            </a:r>
            <a:endParaRPr b="0" i="0" sz="650" u="none" cap="none" strike="noStrike">
              <a:solidFill>
                <a:schemeClr val="dk1"/>
              </a:solidFill>
              <a:latin typeface="Calibri"/>
              <a:ea typeface="Calibri"/>
              <a:cs typeface="Calibri"/>
              <a:sym typeface="Calibri"/>
            </a:endParaRPr>
          </a:p>
        </p:txBody>
      </p:sp>
      <p:sp>
        <p:nvSpPr>
          <p:cNvPr id="328" name="Google Shape;328;p10"/>
          <p:cNvSpPr/>
          <p:nvPr/>
        </p:nvSpPr>
        <p:spPr>
          <a:xfrm>
            <a:off x="456121" y="1667805"/>
            <a:ext cx="3576637"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5C5752"/>
              </a:buClr>
              <a:buSzPts val="650"/>
              <a:buFont typeface="Inter"/>
              <a:buNone/>
            </a:pPr>
            <a:r>
              <a:rPr b="0" i="0" lang="en-US" sz="650" u="none" cap="none" strike="noStrike">
                <a:solidFill>
                  <a:srgbClr val="5C5752"/>
                </a:solidFill>
                <a:latin typeface="Inter"/>
                <a:ea typeface="Inter"/>
                <a:cs typeface="Inter"/>
                <a:sym typeface="Inter"/>
              </a:rPr>
              <a:t>A BRIEF SIGN-OFF</a:t>
            </a:r>
            <a:endParaRPr b="0" i="0" sz="650" u="none" cap="none" strike="noStrike">
              <a:solidFill>
                <a:schemeClr val="dk1"/>
              </a:solidFill>
              <a:latin typeface="Calibri"/>
              <a:ea typeface="Calibri"/>
              <a:cs typeface="Calibri"/>
              <a:sym typeface="Calibri"/>
            </a:endParaRPr>
          </a:p>
        </p:txBody>
      </p:sp>
      <p:sp>
        <p:nvSpPr>
          <p:cNvPr id="329" name="Google Shape;329;p10"/>
          <p:cNvSpPr/>
          <p:nvPr/>
        </p:nvSpPr>
        <p:spPr>
          <a:xfrm>
            <a:off x="456121" y="1920887"/>
            <a:ext cx="3576637" cy="500063"/>
          </a:xfrm>
          <a:prstGeom prst="rect">
            <a:avLst/>
          </a:prstGeom>
          <a:noFill/>
          <a:ln>
            <a:noFill/>
          </a:ln>
        </p:spPr>
        <p:txBody>
          <a:bodyPr anchorCtr="0" anchor="t" bIns="0" lIns="0" spcFirstLastPara="1" rIns="0" wrap="square" tIns="0">
            <a:spAutoFit/>
          </a:bodyPr>
          <a:lstStyle/>
          <a:p>
            <a:pPr indent="0" lvl="0" marL="0" marR="0" rtl="0" algn="l">
              <a:lnSpc>
                <a:spcPct val="98039"/>
              </a:lnSpc>
              <a:spcBef>
                <a:spcPts val="0"/>
              </a:spcBef>
              <a:spcAft>
                <a:spcPts val="0"/>
              </a:spcAft>
              <a:buClr>
                <a:srgbClr val="1A1A1A"/>
              </a:buClr>
              <a:buSzPts val="4030"/>
              <a:buFont typeface="Cormorant Garamond"/>
              <a:buNone/>
            </a:pPr>
            <a:r>
              <a:rPr b="0" i="1" lang="en-US" sz="4030" u="none" cap="none" strike="noStrike">
                <a:solidFill>
                  <a:srgbClr val="1A1A1A"/>
                </a:solidFill>
                <a:latin typeface="Cormorant Garamond"/>
                <a:ea typeface="Cormorant Garamond"/>
                <a:cs typeface="Cormorant Garamond"/>
                <a:sym typeface="Cormorant Garamond"/>
              </a:rPr>
              <a:t>Thank you.</a:t>
            </a:r>
            <a:endParaRPr b="0" i="0" sz="4030" u="none" cap="none" strike="noStrike">
              <a:solidFill>
                <a:schemeClr val="dk1"/>
              </a:solidFill>
              <a:latin typeface="Calibri"/>
              <a:ea typeface="Calibri"/>
              <a:cs typeface="Calibri"/>
              <a:sym typeface="Calibri"/>
            </a:endParaRPr>
          </a:p>
        </p:txBody>
      </p:sp>
      <p:sp>
        <p:nvSpPr>
          <p:cNvPr id="330" name="Google Shape;330;p10"/>
          <p:cNvSpPr/>
          <p:nvPr/>
        </p:nvSpPr>
        <p:spPr>
          <a:xfrm>
            <a:off x="456233" y="2601813"/>
            <a:ext cx="276225" cy="4763"/>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0"/>
          <p:cNvSpPr/>
          <p:nvPr/>
        </p:nvSpPr>
        <p:spPr>
          <a:xfrm>
            <a:off x="456233" y="2787328"/>
            <a:ext cx="2562225" cy="409575"/>
          </a:xfrm>
          <a:prstGeom prst="rect">
            <a:avLst/>
          </a:prstGeom>
          <a:noFill/>
          <a:ln>
            <a:noFill/>
          </a:ln>
        </p:spPr>
        <p:txBody>
          <a:bodyPr anchorCtr="0" anchor="t" bIns="0" lIns="0" spcFirstLastPara="1" rIns="0" wrap="square" tIns="0">
            <a:spAutoFit/>
          </a:bodyPr>
          <a:lstStyle/>
          <a:p>
            <a:pPr indent="0" lvl="0" marL="0" marR="0" rtl="0" algn="l">
              <a:lnSpc>
                <a:spcPct val="155576"/>
              </a:lnSpc>
              <a:spcBef>
                <a:spcPts val="0"/>
              </a:spcBef>
              <a:spcAft>
                <a:spcPts val="0"/>
              </a:spcAft>
              <a:buClr>
                <a:srgbClr val="2E2C28"/>
              </a:buClr>
              <a:buSzPts val="1040"/>
              <a:buFont typeface="Cormorant Garamond"/>
              <a:buNone/>
            </a:pPr>
            <a:r>
              <a:rPr b="0" i="1" lang="en-US" sz="1040" u="none" cap="none" strike="noStrike">
                <a:solidFill>
                  <a:srgbClr val="2E2C28"/>
                </a:solidFill>
                <a:latin typeface="Cormorant Garamond"/>
                <a:ea typeface="Cormorant Garamond"/>
                <a:cs typeface="Cormorant Garamond"/>
                <a:sym typeface="Cormorant Garamond"/>
              </a:rPr>
              <a:t>From a quiet field to a fractured doctrine — this was the year the limits were re-drawn.</a:t>
            </a:r>
            <a:endParaRPr b="0" i="0" sz="1040" u="none" cap="none" strike="noStrike">
              <a:solidFill>
                <a:schemeClr val="dk1"/>
              </a:solidFill>
              <a:latin typeface="Calibri"/>
              <a:ea typeface="Calibri"/>
              <a:cs typeface="Calibri"/>
              <a:sym typeface="Calibri"/>
            </a:endParaRPr>
          </a:p>
        </p:txBody>
      </p:sp>
      <p:sp>
        <p:nvSpPr>
          <p:cNvPr id="332" name="Google Shape;332;p10"/>
          <p:cNvSpPr/>
          <p:nvPr/>
        </p:nvSpPr>
        <p:spPr>
          <a:xfrm>
            <a:off x="456121" y="3454636"/>
            <a:ext cx="3576637" cy="123825"/>
          </a:xfrm>
          <a:prstGeom prst="rect">
            <a:avLst/>
          </a:prstGeom>
          <a:noFill/>
          <a:ln>
            <a:noFill/>
          </a:ln>
        </p:spPr>
        <p:txBody>
          <a:bodyPr anchorCtr="0" anchor="t" bIns="0" lIns="0" spcFirstLastPara="1" rIns="0" wrap="square" tIns="0">
            <a:spAutoFit/>
          </a:bodyPr>
          <a:lstStyle/>
          <a:p>
            <a:pPr indent="0" lvl="0" marL="0" marR="0" rtl="0" algn="l">
              <a:lnSpc>
                <a:spcPct val="149538"/>
              </a:lnSpc>
              <a:spcBef>
                <a:spcPts val="0"/>
              </a:spcBef>
              <a:spcAft>
                <a:spcPts val="0"/>
              </a:spcAft>
              <a:buClr>
                <a:srgbClr val="1A1A1A"/>
              </a:buClr>
              <a:buSzPts val="650"/>
              <a:buFont typeface="Inter"/>
              <a:buNone/>
            </a:pPr>
            <a:r>
              <a:rPr b="0" i="0" lang="en-US" sz="650" u="none" cap="none" strike="noStrike">
                <a:solidFill>
                  <a:srgbClr val="1A1A1A"/>
                </a:solidFill>
                <a:latin typeface="Inter"/>
                <a:ea typeface="Inter"/>
                <a:cs typeface="Inter"/>
                <a:sym typeface="Inter"/>
              </a:rPr>
              <a:t>TEAM DUCKIEZ · THE AI SCHISM, 2026</a:t>
            </a:r>
            <a:endParaRPr b="0" i="0" sz="650" u="none" cap="none" strike="noStrike">
              <a:solidFill>
                <a:schemeClr val="dk1"/>
              </a:solidFill>
              <a:latin typeface="Calibri"/>
              <a:ea typeface="Calibri"/>
              <a:cs typeface="Calibri"/>
              <a:sym typeface="Calibri"/>
            </a:endParaRPr>
          </a:p>
        </p:txBody>
      </p:sp>
      <p:pic>
        <p:nvPicPr>
          <p:cNvPr descr="preencoded.png" id="333" name="Google Shape;333;p10"/>
          <p:cNvPicPr preferRelativeResize="0"/>
          <p:nvPr/>
        </p:nvPicPr>
        <p:blipFill rotWithShape="1">
          <a:blip r:embed="rId3">
            <a:alphaModFix/>
          </a:blip>
          <a:srcRect b="0" l="0" r="0" t="0"/>
          <a:stretch/>
        </p:blipFill>
        <p:spPr>
          <a:xfrm>
            <a:off x="4396606" y="668164"/>
            <a:ext cx="4291013" cy="3910012"/>
          </a:xfrm>
          <a:prstGeom prst="rect">
            <a:avLst/>
          </a:prstGeom>
          <a:noFill/>
          <a:ln>
            <a:noFill/>
          </a:ln>
        </p:spPr>
      </p:pic>
      <p:sp>
        <p:nvSpPr>
          <p:cNvPr id="334" name="Google Shape;334;p10"/>
          <p:cNvSpPr/>
          <p:nvPr/>
        </p:nvSpPr>
        <p:spPr>
          <a:xfrm>
            <a:off x="457237" y="4800191"/>
            <a:ext cx="704850" cy="138113"/>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5C5752"/>
              </a:buClr>
              <a:buSzPts val="720"/>
              <a:buFont typeface="Inter"/>
              <a:buNone/>
            </a:pPr>
            <a:r>
              <a:rPr b="0" i="0" lang="en-US" sz="720" u="none" cap="none" strike="noStrike">
                <a:solidFill>
                  <a:srgbClr val="5C5752"/>
                </a:solidFill>
                <a:latin typeface="Inter"/>
                <a:ea typeface="Inter"/>
                <a:cs typeface="Inter"/>
                <a:sym typeface="Inter"/>
              </a:rPr>
              <a:t>EPILOGUE</a:t>
            </a:r>
            <a:endParaRPr b="0" i="0" sz="720" u="none" cap="none" strike="noStrike">
              <a:solidFill>
                <a:schemeClr val="dk1"/>
              </a:solidFill>
              <a:latin typeface="Calibri"/>
              <a:ea typeface="Calibri"/>
              <a:cs typeface="Calibri"/>
              <a:sym typeface="Calibri"/>
            </a:endParaRPr>
          </a:p>
        </p:txBody>
      </p:sp>
      <p:sp>
        <p:nvSpPr>
          <p:cNvPr id="335" name="Google Shape;335;p10"/>
          <p:cNvSpPr/>
          <p:nvPr/>
        </p:nvSpPr>
        <p:spPr>
          <a:xfrm>
            <a:off x="7591871" y="4800191"/>
            <a:ext cx="1095375" cy="138113"/>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5C5752"/>
              </a:buClr>
              <a:buSzPts val="720"/>
              <a:buFont typeface="Inter"/>
              <a:buNone/>
            </a:pPr>
            <a:r>
              <a:rPr b="0" i="0" lang="en-US" sz="720" u="none" cap="none" strike="noStrike">
                <a:solidFill>
                  <a:srgbClr val="5C5752"/>
                </a:solidFill>
                <a:latin typeface="Inter"/>
                <a:ea typeface="Inter"/>
                <a:cs typeface="Inter"/>
                <a:sym typeface="Inter"/>
              </a:rPr>
              <a:t>10 — SIGN-OFF</a:t>
            </a:r>
            <a:endParaRPr b="0" i="0" sz="72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2026-05-18T16:30:25Z</dcterms:created>
  <dc:creator>PptxGenJS</dc:creator>
</cp:coreProperties>
</file>